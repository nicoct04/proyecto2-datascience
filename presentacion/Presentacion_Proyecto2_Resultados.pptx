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Inter Bold" charset="1" panose="02000503000000020004"/>
      <p:regular r:id="rId22"/>
    </p:embeddedFont>
    <p:embeddedFont>
      <p:font typeface="Inter" charset="1" panose="020005030000000200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notesSlides/notesSlide11.xml" Type="http://schemas.openxmlformats.org/officeDocument/2006/relationships/notesSlide"/><Relationship Id="rId34" Target="notesSlides/notesSlide12.xml" Type="http://schemas.openxmlformats.org/officeDocument/2006/relationships/notesSlide"/><Relationship Id="rId35" Target="notesSlides/notesSlide1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FERNANDO RUEDA. Buenos días. Somos el grupo del reto 21 y la pregunta que intentamos responder es si se puede reconocer un pase en un video de fútbol de forma automática.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FERNANDO RUEDA. Hoy los eventos de un partido los anotan personas viendo el video completo, y eso es lento y caro. Nuestro objetivo fue clasificar ventanas de 1.6 segundos en cuatro acciones: pase, disputa, saque de banda o fondo, que es cuando no pasa nada. Para eso entrenamos modelos tabulares y uno temporal, los evaluamos en un partido nuevo e hicimos una aplicación.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FERNANDO RUEDA. Trabajamos con 762 clips etiquetados de 8 partidos y verificamos que todas las etiquetas coincidieran con las de la competencia. Siete partidos son para entrenar y uno completo queda solo para la prueba final.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FERNANDO RUEDA. Esta es la arquitectura. El video pasa por un preprocesamiento, luego extraemos variables con OpenCV, YOLO y ResNet18, los modelos clasifican y todo termina en una aplicación en Streamlit. La decisión más importante fue usar el mismo módulo de preprocesamiento para entrenar y para la app, así un video nuevo se procesa exactamente igual. Elegimos modelos ligeros porque con 400 clips una red de video completa se sobreajustaría. Le paso la palabra a Felipe.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FELIPE AGUILAR. De cada clip tomamos una ventana fija de 16 cuadros, desde 1.5 segundos antes del evento hasta justo después, para que el modelo nunca vea cuánto dura el clip. Medimos 48 variables, sobre todo de movimiento, separando el paneo de la cámara del movimiento de los jugadores. Lo más claro es que el saque de banda es la jugada más quieta, mientras que pase, disputa y fondo se parecen mucho.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FELIPE AGUILAR. Elegimos cuatro algoritmos de familias distintas: regresión logística como línea base, Random Forest, XGBoost y una red recurrente GRU, que es la única que recorre los cuadros en orden. Descartamos las redes 3D porque necesitan GPU y muchos más datos de los que teníamos.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FELIPE AGUILAR. Una decisión clave fue validar por partido. Las ventanas de un mismo partido comparten estadio, uniformes y luz, y si las mezcláramos el modelo reconocería el partido y no la acción. Por eso ajustamos con validación cruzada por partido y la prueba final la hicimos una sola vez. Fernando nos muestra la aplicación.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FERNANDO HERNÁNDEZ. [Demo, máximo 90 segundos.] Primero, la página de exploración, con las variables por clase y por partido. Luego clasificamos un video de ejemplo con los cuatro modelos, y el recorte y la extracción de variables pasan por detrás. Por último, el rendimiento interactivo, que se puede ocultar con este interruptor. [Si algo falla, reproducir demo_app.mp4.]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FERNANDO HERNÁNDEZ. Tres cosas nos costaron más. Los clips escondían lo que pasaba antes del evento, un pase traía solo 0.15 segundos, y lo resolvimos leyendo el video completo. La duración del clip delataba la clase, así que la quitamos aunque el F1 bajara de 0.381 a 0.347. Y la GRU, que en validación parecía buena, se derrumbó en el partido nuevo. Aprendimos a revisar los datos crudos, a desconfiar de lo que funciona demasiado bien y a evaluar como se usará en la realidad. Nicolás les presenta los resultados.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NICOLÁS CONCUÁ. El mejor modelo fue XGBoost, con F1 macro de 0.347 frente a 0.25 del azar, y fue el único que dio casi lo mismo en validación que en la prueba. La GRU cayó a 0.114.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NICOLÁS CONCUÁ. Por clase, XGBoost reconoce el pase y el saque de banda, con F1 cercano a 0.45, pero confunde la disputa con fondo, porque en 1.6 segundos se ven muy parecidas.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NICOLÁS CONCUÁ. En conclusión, cumplimos los cuatro objetivos con resultados modestos pero honestos. El límite no fue entrenar más, sino que los clips terminan justo en el evento, el balón casi no se detecta y solo teníamos 7 partidos. Como trabajo futuro proponemos más partidos, un detector de balón para fútbol y video con contexto después del evento. Muchas gracias.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TODOS. Abrimos preguntas. Las diapositivas 14 a 17 son de respaldo.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png" Type="http://schemas.openxmlformats.org/officeDocument/2006/relationships/image"/><Relationship Id="rId4"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jpe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6.png" Type="http://schemas.openxmlformats.org/officeDocument/2006/relationships/image"/><Relationship Id="rId4" Target="../media/image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CFCFB"/>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ortada.jp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0471" t="0" r="-10472" b="0"/>
              </a:stretch>
            </a:blipFill>
          </p:spPr>
        </p:sp>
      </p:grpSp>
      <p:grpSp>
        <p:nvGrpSpPr>
          <p:cNvPr name="Group 4" id="4"/>
          <p:cNvGrpSpPr/>
          <p:nvPr/>
        </p:nvGrpSpPr>
        <p:grpSpPr>
          <a:xfrm rot="0">
            <a:off x="0" y="0"/>
            <a:ext cx="10157774" cy="10295039"/>
            <a:chOff x="0" y="0"/>
            <a:chExt cx="13543699" cy="13726719"/>
          </a:xfrm>
        </p:grpSpPr>
        <p:sp>
          <p:nvSpPr>
            <p:cNvPr name="Freeform 5" id="5"/>
            <p:cNvSpPr/>
            <p:nvPr/>
          </p:nvSpPr>
          <p:spPr>
            <a:xfrm flipH="false" flipV="false" rot="0">
              <a:off x="0" y="0"/>
              <a:ext cx="13543662" cy="13726668"/>
            </a:xfrm>
            <a:custGeom>
              <a:avLst/>
              <a:gdLst/>
              <a:ahLst/>
              <a:cxnLst/>
              <a:rect r="r" b="b" t="t" l="l"/>
              <a:pathLst>
                <a:path h="13726668" w="13543662">
                  <a:moveTo>
                    <a:pt x="0" y="0"/>
                  </a:moveTo>
                  <a:lnTo>
                    <a:pt x="13543662" y="0"/>
                  </a:lnTo>
                  <a:lnTo>
                    <a:pt x="13543662" y="13726668"/>
                  </a:lnTo>
                  <a:lnTo>
                    <a:pt x="0" y="13726668"/>
                  </a:lnTo>
                  <a:close/>
                </a:path>
              </a:pathLst>
            </a:custGeom>
            <a:solidFill>
              <a:srgbClr val="0D1B2E">
                <a:alpha val="77255"/>
              </a:srgbClr>
            </a:solidFill>
          </p:spPr>
        </p:sp>
      </p:grpSp>
      <p:sp>
        <p:nvSpPr>
          <p:cNvPr name="TextBox 6" id="6"/>
          <p:cNvSpPr txBox="true"/>
          <p:nvPr/>
        </p:nvSpPr>
        <p:spPr>
          <a:xfrm rot="0">
            <a:off x="960872" y="941822"/>
            <a:ext cx="8510568" cy="286872"/>
          </a:xfrm>
          <a:prstGeom prst="rect">
            <a:avLst/>
          </a:prstGeom>
        </p:spPr>
        <p:txBody>
          <a:bodyPr anchor="t" rtlCol="false" tIns="0" lIns="0" bIns="0" rIns="0">
            <a:spAutoFit/>
          </a:bodyPr>
          <a:lstStyle/>
          <a:p>
            <a:pPr algn="l">
              <a:lnSpc>
                <a:spcPts val="2377"/>
              </a:lnSpc>
            </a:pPr>
            <a:r>
              <a:rPr lang="en-US" sz="1801" b="true">
                <a:solidFill>
                  <a:srgbClr val="9EC5F4"/>
                </a:solidFill>
                <a:latin typeface="Inter Bold"/>
                <a:ea typeface="Inter Bold"/>
                <a:cs typeface="Inter Bold"/>
                <a:sym typeface="Inter Bold"/>
              </a:rPr>
              <a:t>CC3084 DATA SCIENCE</a:t>
            </a:r>
          </a:p>
        </p:txBody>
      </p:sp>
      <p:sp>
        <p:nvSpPr>
          <p:cNvPr name="TextBox 7" id="7"/>
          <p:cNvSpPr txBox="true"/>
          <p:nvPr/>
        </p:nvSpPr>
        <p:spPr>
          <a:xfrm rot="0">
            <a:off x="1028700" y="3629553"/>
            <a:ext cx="8647833" cy="1009650"/>
          </a:xfrm>
          <a:prstGeom prst="rect">
            <a:avLst/>
          </a:prstGeom>
        </p:spPr>
        <p:txBody>
          <a:bodyPr anchor="t" rtlCol="false" tIns="0" lIns="0" bIns="0" rIns="0">
            <a:spAutoFit/>
          </a:bodyPr>
          <a:lstStyle/>
          <a:p>
            <a:pPr algn="l">
              <a:lnSpc>
                <a:spcPts val="7926"/>
              </a:lnSpc>
            </a:pPr>
            <a:r>
              <a:rPr lang="en-US" sz="6605" b="true">
                <a:solidFill>
                  <a:srgbClr val="FFFFFF"/>
                </a:solidFill>
                <a:latin typeface="Inter Bold"/>
                <a:ea typeface="Inter Bold"/>
                <a:cs typeface="Inter Bold"/>
                <a:sym typeface="Inter Bold"/>
              </a:rPr>
              <a:t>Proyecto 2</a:t>
            </a:r>
          </a:p>
        </p:txBody>
      </p:sp>
      <p:sp>
        <p:nvSpPr>
          <p:cNvPr name="TextBox 8" id="8"/>
          <p:cNvSpPr txBox="true"/>
          <p:nvPr/>
        </p:nvSpPr>
        <p:spPr>
          <a:xfrm rot="0">
            <a:off x="960872" y="5805278"/>
            <a:ext cx="8510568" cy="1263977"/>
          </a:xfrm>
          <a:prstGeom prst="rect">
            <a:avLst/>
          </a:prstGeom>
        </p:spPr>
        <p:txBody>
          <a:bodyPr anchor="t" rtlCol="false" tIns="0" lIns="0" bIns="0" rIns="0">
            <a:spAutoFit/>
          </a:bodyPr>
          <a:lstStyle/>
          <a:p>
            <a:pPr algn="l">
              <a:lnSpc>
                <a:spcPts val="3170"/>
              </a:lnSpc>
            </a:pPr>
            <a:r>
              <a:rPr lang="en-US" sz="2401">
                <a:solidFill>
                  <a:srgbClr val="D6DDE8"/>
                </a:solidFill>
                <a:latin typeface="Inter"/>
                <a:ea typeface="Inter"/>
                <a:cs typeface="Inter"/>
                <a:sym typeface="Inter"/>
              </a:rPr>
              <a:t>Clasificación de acciones en video de la Bundesliga: pase, disputa, saque de banda o fondo</a:t>
            </a:r>
          </a:p>
        </p:txBody>
      </p:sp>
      <p:sp>
        <p:nvSpPr>
          <p:cNvPr name="TextBox 9" id="9"/>
          <p:cNvSpPr txBox="true"/>
          <p:nvPr/>
        </p:nvSpPr>
        <p:spPr>
          <a:xfrm rot="0">
            <a:off x="960872" y="7414393"/>
            <a:ext cx="8510568" cy="1988420"/>
          </a:xfrm>
          <a:prstGeom prst="rect">
            <a:avLst/>
          </a:prstGeom>
        </p:spPr>
        <p:txBody>
          <a:bodyPr anchor="t" rtlCol="false" tIns="0" lIns="0" bIns="0" rIns="0">
            <a:spAutoFit/>
          </a:bodyPr>
          <a:lstStyle/>
          <a:p>
            <a:pPr algn="l">
              <a:lnSpc>
                <a:spcPts val="3377"/>
              </a:lnSpc>
            </a:pPr>
            <a:r>
              <a:rPr lang="en-US" sz="2251">
                <a:solidFill>
                  <a:srgbClr val="FFFFFF"/>
                </a:solidFill>
                <a:latin typeface="Inter"/>
                <a:ea typeface="Inter"/>
                <a:cs typeface="Inter"/>
                <a:sym typeface="Inter"/>
              </a:rPr>
              <a:t>Nicolás Concuá · Felipe Aguilar</a:t>
            </a:r>
          </a:p>
          <a:p>
            <a:pPr algn="l">
              <a:lnSpc>
                <a:spcPts val="3377"/>
              </a:lnSpc>
            </a:pPr>
            <a:r>
              <a:rPr lang="en-US" sz="2251">
                <a:solidFill>
                  <a:srgbClr val="FFFFFF"/>
                </a:solidFill>
                <a:latin typeface="Inter"/>
                <a:ea typeface="Inter"/>
                <a:cs typeface="Inter"/>
                <a:sym typeface="Inter"/>
              </a:rPr>
              <a:t>Fernando Rueda · Fernando Hernández</a:t>
            </a:r>
          </a:p>
          <a:p>
            <a:pPr algn="l">
              <a:lnSpc>
                <a:spcPts val="2702"/>
              </a:lnSpc>
            </a:pPr>
            <a:r>
              <a:rPr lang="en-US" sz="1801">
                <a:solidFill>
                  <a:srgbClr val="9EC5F4"/>
                </a:solidFill>
                <a:latin typeface="Inter"/>
                <a:ea typeface="Inter"/>
                <a:cs typeface="Inter"/>
                <a:sym typeface="Inter"/>
              </a:rPr>
              <a:t>Universidad del Valle de Guatemala · Octubre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CFCFB"/>
        </a:solidFill>
      </p:bgPr>
    </p:bg>
    <p:spTree>
      <p:nvGrpSpPr>
        <p:cNvPr id="1" name=""/>
        <p:cNvGrpSpPr/>
        <p:nvPr/>
      </p:nvGrpSpPr>
      <p:grpSpPr>
        <a:xfrm>
          <a:off x="0" y="0"/>
          <a:ext cx="0" cy="0"/>
          <a:chOff x="0" y="0"/>
          <a:chExt cx="0" cy="0"/>
        </a:xfrm>
      </p:grpSpPr>
      <p:grpSp>
        <p:nvGrpSpPr>
          <p:cNvPr name="Group 2" id="2"/>
          <p:cNvGrpSpPr/>
          <p:nvPr/>
        </p:nvGrpSpPr>
        <p:grpSpPr>
          <a:xfrm rot="0">
            <a:off x="823608" y="617706"/>
            <a:ext cx="109814" cy="439255"/>
            <a:chOff x="0" y="0"/>
            <a:chExt cx="146418" cy="585673"/>
          </a:xfrm>
        </p:grpSpPr>
        <p:sp>
          <p:nvSpPr>
            <p:cNvPr name="Freeform 3" id="3"/>
            <p:cNvSpPr/>
            <p:nvPr/>
          </p:nvSpPr>
          <p:spPr>
            <a:xfrm flipH="false" flipV="false" rot="0">
              <a:off x="0" y="0"/>
              <a:ext cx="146431" cy="585724"/>
            </a:xfrm>
            <a:custGeom>
              <a:avLst/>
              <a:gdLst/>
              <a:ahLst/>
              <a:cxnLst/>
              <a:rect r="r" b="b" t="t" l="l"/>
              <a:pathLst>
                <a:path h="585724" w="146431">
                  <a:moveTo>
                    <a:pt x="0" y="0"/>
                  </a:moveTo>
                  <a:lnTo>
                    <a:pt x="146431" y="0"/>
                  </a:lnTo>
                  <a:lnTo>
                    <a:pt x="146431" y="585724"/>
                  </a:lnTo>
                  <a:lnTo>
                    <a:pt x="0" y="585724"/>
                  </a:lnTo>
                  <a:close/>
                </a:path>
              </a:pathLst>
            </a:custGeom>
            <a:solidFill>
              <a:srgbClr val="2A78D6"/>
            </a:solidFill>
          </p:spPr>
        </p:sp>
      </p:grpSp>
      <p:sp>
        <p:nvSpPr>
          <p:cNvPr name="TextBox 4" id="4"/>
          <p:cNvSpPr txBox="true"/>
          <p:nvPr/>
        </p:nvSpPr>
        <p:spPr>
          <a:xfrm rot="0">
            <a:off x="1028700" y="672306"/>
            <a:ext cx="12354049" cy="286872"/>
          </a:xfrm>
          <a:prstGeom prst="rect">
            <a:avLst/>
          </a:prstGeom>
        </p:spPr>
        <p:txBody>
          <a:bodyPr anchor="t" rtlCol="false" tIns="0" lIns="0" bIns="0" rIns="0">
            <a:spAutoFit/>
          </a:bodyPr>
          <a:lstStyle/>
          <a:p>
            <a:pPr algn="l">
              <a:lnSpc>
                <a:spcPts val="2377"/>
              </a:lnSpc>
            </a:pPr>
            <a:r>
              <a:rPr lang="en-US" sz="1801" b="true">
                <a:solidFill>
                  <a:srgbClr val="2A78D6"/>
                </a:solidFill>
                <a:latin typeface="Inter Bold"/>
                <a:ea typeface="Inter Bold"/>
                <a:cs typeface="Inter Bold"/>
                <a:sym typeface="Inter Bold"/>
              </a:rPr>
              <a:t>1 · PROBLEMA Y OBJETIVO</a:t>
            </a:r>
          </a:p>
        </p:txBody>
      </p:sp>
      <p:sp>
        <p:nvSpPr>
          <p:cNvPr name="TextBox 5" id="5"/>
          <p:cNvSpPr txBox="true"/>
          <p:nvPr/>
        </p:nvSpPr>
        <p:spPr>
          <a:xfrm rot="0">
            <a:off x="823608" y="1178252"/>
            <a:ext cx="16609333" cy="1493466"/>
          </a:xfrm>
          <a:prstGeom prst="rect">
            <a:avLst/>
          </a:prstGeom>
        </p:spPr>
        <p:txBody>
          <a:bodyPr anchor="t" rtlCol="false" tIns="0" lIns="0" bIns="0" rIns="0">
            <a:spAutoFit/>
          </a:bodyPr>
          <a:lstStyle/>
          <a:p>
            <a:pPr algn="l">
              <a:lnSpc>
                <a:spcPts val="5944"/>
              </a:lnSpc>
            </a:pPr>
            <a:r>
              <a:rPr lang="en-US" sz="4503" b="true">
                <a:solidFill>
                  <a:srgbClr val="1F1F1D"/>
                </a:solidFill>
                <a:latin typeface="Inter Bold"/>
                <a:ea typeface="Inter Bold"/>
                <a:cs typeface="Inter Bold"/>
                <a:sym typeface="Inter Bold"/>
              </a:rPr>
              <a:t>Anota</a:t>
            </a:r>
            <a:r>
              <a:rPr lang="en-US" sz="4503" b="true">
                <a:solidFill>
                  <a:srgbClr val="1F1F1D"/>
                </a:solidFill>
                <a:latin typeface="Inter Bold"/>
                <a:ea typeface="Inter Bold"/>
                <a:cs typeface="Inter Bold"/>
                <a:sym typeface="Inter Bold"/>
              </a:rPr>
              <a:t>r jugadas a mano no escala: ¿puede hacerlo un modelo?</a:t>
            </a:r>
          </a:p>
        </p:txBody>
      </p:sp>
      <p:sp>
        <p:nvSpPr>
          <p:cNvPr name="TextBox 6" id="6"/>
          <p:cNvSpPr txBox="true"/>
          <p:nvPr/>
        </p:nvSpPr>
        <p:spPr>
          <a:xfrm rot="0">
            <a:off x="16746607" y="9580131"/>
            <a:ext cx="823608" cy="440379"/>
          </a:xfrm>
          <a:prstGeom prst="rect">
            <a:avLst/>
          </a:prstGeom>
        </p:spPr>
        <p:txBody>
          <a:bodyPr anchor="t" rtlCol="false" tIns="0" lIns="0" bIns="0" rIns="0">
            <a:spAutoFit/>
          </a:bodyPr>
          <a:lstStyle/>
          <a:p>
            <a:pPr algn="r">
              <a:lnSpc>
                <a:spcPts val="2179"/>
              </a:lnSpc>
            </a:pPr>
            <a:r>
              <a:rPr lang="en-US" sz="1651">
                <a:solidFill>
                  <a:srgbClr val="6B6A66"/>
                </a:solidFill>
                <a:latin typeface="Inter"/>
                <a:ea typeface="Inter"/>
                <a:cs typeface="Inter"/>
                <a:sym typeface="Inter"/>
              </a:rPr>
              <a:t>2</a:t>
            </a:r>
          </a:p>
        </p:txBody>
      </p:sp>
      <p:sp>
        <p:nvSpPr>
          <p:cNvPr name="TextBox 7" id="7"/>
          <p:cNvSpPr txBox="true"/>
          <p:nvPr/>
        </p:nvSpPr>
        <p:spPr>
          <a:xfrm rot="0">
            <a:off x="823608" y="2834983"/>
            <a:ext cx="7686961" cy="549744"/>
          </a:xfrm>
          <a:prstGeom prst="rect">
            <a:avLst/>
          </a:prstGeom>
        </p:spPr>
        <p:txBody>
          <a:bodyPr anchor="t" rtlCol="false" tIns="0" lIns="0" bIns="0" rIns="0">
            <a:spAutoFit/>
          </a:bodyPr>
          <a:lstStyle/>
          <a:p>
            <a:pPr algn="l">
              <a:lnSpc>
                <a:spcPts val="4359"/>
              </a:lnSpc>
            </a:pPr>
            <a:r>
              <a:rPr lang="en-US" sz="3302" b="true">
                <a:solidFill>
                  <a:srgbClr val="1F1F1D"/>
                </a:solidFill>
                <a:latin typeface="Inter Bold"/>
                <a:ea typeface="Inter Bold"/>
                <a:cs typeface="Inter Bold"/>
                <a:sym typeface="Inter Bold"/>
              </a:rPr>
              <a:t>Probl</a:t>
            </a:r>
            <a:r>
              <a:rPr lang="en-US" sz="3302" b="true">
                <a:solidFill>
                  <a:srgbClr val="1F1F1D"/>
                </a:solidFill>
                <a:latin typeface="Inter Bold"/>
                <a:ea typeface="Inter Bold"/>
                <a:cs typeface="Inter Bold"/>
                <a:sym typeface="Inter Bold"/>
              </a:rPr>
              <a:t>emática</a:t>
            </a:r>
          </a:p>
        </p:txBody>
      </p:sp>
      <p:grpSp>
        <p:nvGrpSpPr>
          <p:cNvPr name="Group 8" id="8"/>
          <p:cNvGrpSpPr/>
          <p:nvPr/>
        </p:nvGrpSpPr>
        <p:grpSpPr>
          <a:xfrm rot="0">
            <a:off x="620984" y="7421628"/>
            <a:ext cx="1482490" cy="576520"/>
            <a:chOff x="0" y="0"/>
            <a:chExt cx="1976653" cy="768693"/>
          </a:xfrm>
        </p:grpSpPr>
        <p:sp>
          <p:nvSpPr>
            <p:cNvPr name="Freeform 9" id="9"/>
            <p:cNvSpPr/>
            <p:nvPr/>
          </p:nvSpPr>
          <p:spPr>
            <a:xfrm flipH="false" flipV="false" rot="0">
              <a:off x="0" y="0"/>
              <a:ext cx="1976501" cy="768604"/>
            </a:xfrm>
            <a:custGeom>
              <a:avLst/>
              <a:gdLst/>
              <a:ahLst/>
              <a:cxnLst/>
              <a:rect r="r" b="b" t="t" l="l"/>
              <a:pathLst>
                <a:path h="768604" w="1976501">
                  <a:moveTo>
                    <a:pt x="0" y="384302"/>
                  </a:moveTo>
                  <a:cubicBezTo>
                    <a:pt x="0" y="172085"/>
                    <a:pt x="172085" y="0"/>
                    <a:pt x="384302" y="0"/>
                  </a:cubicBezTo>
                  <a:lnTo>
                    <a:pt x="1592199" y="0"/>
                  </a:lnTo>
                  <a:cubicBezTo>
                    <a:pt x="1804416" y="0"/>
                    <a:pt x="1976501" y="172085"/>
                    <a:pt x="1976501" y="384302"/>
                  </a:cubicBezTo>
                  <a:cubicBezTo>
                    <a:pt x="1976501" y="596519"/>
                    <a:pt x="1804416" y="768604"/>
                    <a:pt x="1592199" y="768604"/>
                  </a:cubicBezTo>
                  <a:lnTo>
                    <a:pt x="384302" y="768604"/>
                  </a:lnTo>
                  <a:cubicBezTo>
                    <a:pt x="172085" y="768731"/>
                    <a:pt x="0" y="596646"/>
                    <a:pt x="0" y="384302"/>
                  </a:cubicBezTo>
                  <a:close/>
                </a:path>
              </a:pathLst>
            </a:custGeom>
            <a:solidFill>
              <a:srgbClr val="F0EFEC"/>
            </a:solidFill>
          </p:spPr>
        </p:sp>
      </p:grpSp>
      <p:grpSp>
        <p:nvGrpSpPr>
          <p:cNvPr name="Group 10" id="10"/>
          <p:cNvGrpSpPr/>
          <p:nvPr/>
        </p:nvGrpSpPr>
        <p:grpSpPr>
          <a:xfrm rot="0">
            <a:off x="813151" y="7600069"/>
            <a:ext cx="219627" cy="219627"/>
            <a:chOff x="0" y="0"/>
            <a:chExt cx="292837" cy="292837"/>
          </a:xfrm>
        </p:grpSpPr>
        <p:sp>
          <p:nvSpPr>
            <p:cNvPr name="Freeform 11" id="11"/>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2A78D6"/>
            </a:solidFill>
          </p:spPr>
        </p:sp>
      </p:grpSp>
      <p:grpSp>
        <p:nvGrpSpPr>
          <p:cNvPr name="Group 12" id="12"/>
          <p:cNvGrpSpPr/>
          <p:nvPr/>
        </p:nvGrpSpPr>
        <p:grpSpPr>
          <a:xfrm rot="0">
            <a:off x="1142592" y="7421628"/>
            <a:ext cx="933421" cy="576520"/>
            <a:chOff x="0" y="0"/>
            <a:chExt cx="1244562" cy="768693"/>
          </a:xfrm>
        </p:grpSpPr>
        <p:sp>
          <p:nvSpPr>
            <p:cNvPr name="Freeform 13" id="13"/>
            <p:cNvSpPr/>
            <p:nvPr/>
          </p:nvSpPr>
          <p:spPr>
            <a:xfrm flipH="false" flipV="false" rot="0">
              <a:off x="0" y="0"/>
              <a:ext cx="1244556" cy="768697"/>
            </a:xfrm>
            <a:custGeom>
              <a:avLst/>
              <a:gdLst/>
              <a:ahLst/>
              <a:cxnLst/>
              <a:rect r="r" b="b" t="t" l="l"/>
              <a:pathLst>
                <a:path h="768697" w="1244556">
                  <a:moveTo>
                    <a:pt x="0" y="0"/>
                  </a:moveTo>
                  <a:lnTo>
                    <a:pt x="1244556" y="0"/>
                  </a:lnTo>
                  <a:lnTo>
                    <a:pt x="1244556" y="768697"/>
                  </a:lnTo>
                  <a:lnTo>
                    <a:pt x="0" y="768697"/>
                  </a:lnTo>
                  <a:close/>
                </a:path>
              </a:pathLst>
            </a:custGeom>
            <a:blipFill>
              <a:blip r:embed="rId3">
                <a:alphaModFix amt="0"/>
              </a:blip>
              <a:stretch>
                <a:fillRect l="-29245" t="0" r="-29246" b="0"/>
              </a:stretch>
            </a:blipFill>
          </p:spPr>
        </p:sp>
        <p:sp>
          <p:nvSpPr>
            <p:cNvPr name="TextBox 14" id="14"/>
            <p:cNvSpPr txBox="true"/>
            <p:nvPr/>
          </p:nvSpPr>
          <p:spPr>
            <a:xfrm>
              <a:off x="0" y="-19050"/>
              <a:ext cx="1244562" cy="787743"/>
            </a:xfrm>
            <a:prstGeom prst="rect">
              <a:avLst/>
            </a:prstGeom>
          </p:spPr>
          <p:txBody>
            <a:bodyPr anchor="ctr" rtlCol="false" tIns="0" lIns="0" bIns="0" rIns="0"/>
            <a:lstStyle/>
            <a:p>
              <a:pPr algn="l">
                <a:lnSpc>
                  <a:spcPts val="2774"/>
                </a:lnSpc>
              </a:pPr>
              <a:r>
                <a:rPr lang="en-US" sz="2101" b="true">
                  <a:solidFill>
                    <a:srgbClr val="1F1F1D"/>
                  </a:solidFill>
                  <a:latin typeface="Inter Bold"/>
                  <a:ea typeface="Inter Bold"/>
                  <a:cs typeface="Inter Bold"/>
                  <a:sym typeface="Inter Bold"/>
                </a:rPr>
                <a:t>Pase</a:t>
              </a:r>
            </a:p>
          </p:txBody>
        </p:sp>
      </p:grpSp>
      <p:grpSp>
        <p:nvGrpSpPr>
          <p:cNvPr name="Group 15" id="15"/>
          <p:cNvGrpSpPr/>
          <p:nvPr/>
        </p:nvGrpSpPr>
        <p:grpSpPr>
          <a:xfrm rot="0">
            <a:off x="2268190" y="7421628"/>
            <a:ext cx="1956054" cy="576520"/>
            <a:chOff x="0" y="0"/>
            <a:chExt cx="2608072" cy="768693"/>
          </a:xfrm>
        </p:grpSpPr>
        <p:sp>
          <p:nvSpPr>
            <p:cNvPr name="Freeform 16" id="16"/>
            <p:cNvSpPr/>
            <p:nvPr/>
          </p:nvSpPr>
          <p:spPr>
            <a:xfrm flipH="false" flipV="false" rot="0">
              <a:off x="0" y="0"/>
              <a:ext cx="2608072" cy="768731"/>
            </a:xfrm>
            <a:custGeom>
              <a:avLst/>
              <a:gdLst/>
              <a:ahLst/>
              <a:cxnLst/>
              <a:rect r="r" b="b" t="t" l="l"/>
              <a:pathLst>
                <a:path h="768731" w="2608072">
                  <a:moveTo>
                    <a:pt x="0" y="384302"/>
                  </a:moveTo>
                  <a:cubicBezTo>
                    <a:pt x="0" y="172085"/>
                    <a:pt x="172085" y="0"/>
                    <a:pt x="384302" y="0"/>
                  </a:cubicBezTo>
                  <a:lnTo>
                    <a:pt x="2223770" y="0"/>
                  </a:lnTo>
                  <a:cubicBezTo>
                    <a:pt x="2435987" y="0"/>
                    <a:pt x="2608072" y="172085"/>
                    <a:pt x="2608072" y="384302"/>
                  </a:cubicBezTo>
                  <a:cubicBezTo>
                    <a:pt x="2608072" y="596519"/>
                    <a:pt x="2435987" y="768731"/>
                    <a:pt x="2223770" y="768731"/>
                  </a:cubicBezTo>
                  <a:lnTo>
                    <a:pt x="384302" y="768731"/>
                  </a:lnTo>
                  <a:cubicBezTo>
                    <a:pt x="172085" y="768731"/>
                    <a:pt x="0" y="596646"/>
                    <a:pt x="0" y="384302"/>
                  </a:cubicBezTo>
                  <a:close/>
                </a:path>
              </a:pathLst>
            </a:custGeom>
            <a:solidFill>
              <a:srgbClr val="F0EFEC"/>
            </a:solidFill>
          </p:spPr>
        </p:sp>
      </p:grpSp>
      <p:grpSp>
        <p:nvGrpSpPr>
          <p:cNvPr name="Group 17" id="17"/>
          <p:cNvGrpSpPr/>
          <p:nvPr/>
        </p:nvGrpSpPr>
        <p:grpSpPr>
          <a:xfrm rot="0">
            <a:off x="2460357" y="7600069"/>
            <a:ext cx="219627" cy="219627"/>
            <a:chOff x="0" y="0"/>
            <a:chExt cx="292837" cy="292837"/>
          </a:xfrm>
        </p:grpSpPr>
        <p:sp>
          <p:nvSpPr>
            <p:cNvPr name="Freeform 18" id="18"/>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EB6834"/>
            </a:solidFill>
          </p:spPr>
        </p:sp>
      </p:grpSp>
      <p:grpSp>
        <p:nvGrpSpPr>
          <p:cNvPr name="Group 19" id="19"/>
          <p:cNvGrpSpPr/>
          <p:nvPr/>
        </p:nvGrpSpPr>
        <p:grpSpPr>
          <a:xfrm rot="0">
            <a:off x="2789798" y="7421628"/>
            <a:ext cx="1406985" cy="576520"/>
            <a:chOff x="0" y="0"/>
            <a:chExt cx="1875980" cy="768693"/>
          </a:xfrm>
        </p:grpSpPr>
        <p:sp>
          <p:nvSpPr>
            <p:cNvPr name="Freeform 20" id="20"/>
            <p:cNvSpPr/>
            <p:nvPr/>
          </p:nvSpPr>
          <p:spPr>
            <a:xfrm flipH="false" flipV="false" rot="0">
              <a:off x="0" y="0"/>
              <a:ext cx="1875986" cy="768697"/>
            </a:xfrm>
            <a:custGeom>
              <a:avLst/>
              <a:gdLst/>
              <a:ahLst/>
              <a:cxnLst/>
              <a:rect r="r" b="b" t="t" l="l"/>
              <a:pathLst>
                <a:path h="768697" w="1875986">
                  <a:moveTo>
                    <a:pt x="0" y="0"/>
                  </a:moveTo>
                  <a:lnTo>
                    <a:pt x="1875986" y="0"/>
                  </a:lnTo>
                  <a:lnTo>
                    <a:pt x="1875986" y="768697"/>
                  </a:lnTo>
                  <a:lnTo>
                    <a:pt x="0" y="768697"/>
                  </a:lnTo>
                  <a:close/>
                </a:path>
              </a:pathLst>
            </a:custGeom>
            <a:blipFill>
              <a:blip r:embed="rId3">
                <a:alphaModFix amt="0"/>
              </a:blip>
              <a:stretch>
                <a:fillRect l="-2573" t="0" r="-2572" b="0"/>
              </a:stretch>
            </a:blipFill>
          </p:spPr>
        </p:sp>
        <p:sp>
          <p:nvSpPr>
            <p:cNvPr name="TextBox 21" id="21"/>
            <p:cNvSpPr txBox="true"/>
            <p:nvPr/>
          </p:nvSpPr>
          <p:spPr>
            <a:xfrm>
              <a:off x="0" y="-19050"/>
              <a:ext cx="1875980" cy="787743"/>
            </a:xfrm>
            <a:prstGeom prst="rect">
              <a:avLst/>
            </a:prstGeom>
          </p:spPr>
          <p:txBody>
            <a:bodyPr anchor="ctr" rtlCol="false" tIns="0" lIns="0" bIns="0" rIns="0"/>
            <a:lstStyle/>
            <a:p>
              <a:pPr algn="l">
                <a:lnSpc>
                  <a:spcPts val="2774"/>
                </a:lnSpc>
              </a:pPr>
              <a:r>
                <a:rPr lang="en-US" sz="2101" b="true">
                  <a:solidFill>
                    <a:srgbClr val="1F1F1D"/>
                  </a:solidFill>
                  <a:latin typeface="Inter Bold"/>
                  <a:ea typeface="Inter Bold"/>
                  <a:cs typeface="Inter Bold"/>
                  <a:sym typeface="Inter Bold"/>
                </a:rPr>
                <a:t>Disputa</a:t>
              </a:r>
            </a:p>
          </p:txBody>
        </p:sp>
      </p:grpSp>
      <p:grpSp>
        <p:nvGrpSpPr>
          <p:cNvPr name="Group 22" id="22"/>
          <p:cNvGrpSpPr/>
          <p:nvPr/>
        </p:nvGrpSpPr>
        <p:grpSpPr>
          <a:xfrm rot="0">
            <a:off x="4388969" y="7421628"/>
            <a:ext cx="3061059" cy="576520"/>
            <a:chOff x="0" y="0"/>
            <a:chExt cx="4081412" cy="768693"/>
          </a:xfrm>
        </p:grpSpPr>
        <p:sp>
          <p:nvSpPr>
            <p:cNvPr name="Freeform 23" id="23"/>
            <p:cNvSpPr/>
            <p:nvPr/>
          </p:nvSpPr>
          <p:spPr>
            <a:xfrm flipH="false" flipV="false" rot="0">
              <a:off x="0" y="0"/>
              <a:ext cx="4081399" cy="768604"/>
            </a:xfrm>
            <a:custGeom>
              <a:avLst/>
              <a:gdLst/>
              <a:ahLst/>
              <a:cxnLst/>
              <a:rect r="r" b="b" t="t" l="l"/>
              <a:pathLst>
                <a:path h="768604" w="4081399">
                  <a:moveTo>
                    <a:pt x="0" y="384302"/>
                  </a:moveTo>
                  <a:cubicBezTo>
                    <a:pt x="0" y="172085"/>
                    <a:pt x="172085" y="0"/>
                    <a:pt x="384302" y="0"/>
                  </a:cubicBezTo>
                  <a:lnTo>
                    <a:pt x="3697097" y="0"/>
                  </a:lnTo>
                  <a:cubicBezTo>
                    <a:pt x="3909314" y="0"/>
                    <a:pt x="4081399" y="172085"/>
                    <a:pt x="4081399" y="384302"/>
                  </a:cubicBezTo>
                  <a:cubicBezTo>
                    <a:pt x="4081399" y="596519"/>
                    <a:pt x="3909314" y="768604"/>
                    <a:pt x="3697097" y="768604"/>
                  </a:cubicBezTo>
                  <a:lnTo>
                    <a:pt x="384302" y="768604"/>
                  </a:lnTo>
                  <a:cubicBezTo>
                    <a:pt x="172085" y="768731"/>
                    <a:pt x="0" y="596646"/>
                    <a:pt x="0" y="384302"/>
                  </a:cubicBezTo>
                  <a:close/>
                </a:path>
              </a:pathLst>
            </a:custGeom>
            <a:solidFill>
              <a:srgbClr val="F0EFEC"/>
            </a:solidFill>
          </p:spPr>
        </p:sp>
      </p:grpSp>
      <p:grpSp>
        <p:nvGrpSpPr>
          <p:cNvPr name="Group 24" id="24"/>
          <p:cNvGrpSpPr/>
          <p:nvPr/>
        </p:nvGrpSpPr>
        <p:grpSpPr>
          <a:xfrm rot="0">
            <a:off x="4581136" y="7600069"/>
            <a:ext cx="219627" cy="219627"/>
            <a:chOff x="0" y="0"/>
            <a:chExt cx="292837" cy="292837"/>
          </a:xfrm>
        </p:grpSpPr>
        <p:sp>
          <p:nvSpPr>
            <p:cNvPr name="Freeform 25" id="25"/>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1BAF7A"/>
            </a:solidFill>
          </p:spPr>
        </p:sp>
      </p:grpSp>
      <p:grpSp>
        <p:nvGrpSpPr>
          <p:cNvPr name="Group 26" id="26"/>
          <p:cNvGrpSpPr/>
          <p:nvPr/>
        </p:nvGrpSpPr>
        <p:grpSpPr>
          <a:xfrm rot="0">
            <a:off x="4910577" y="7421628"/>
            <a:ext cx="2511990" cy="576520"/>
            <a:chOff x="0" y="0"/>
            <a:chExt cx="3349320" cy="768693"/>
          </a:xfrm>
        </p:grpSpPr>
        <p:sp>
          <p:nvSpPr>
            <p:cNvPr name="Freeform 27" id="27"/>
            <p:cNvSpPr/>
            <p:nvPr/>
          </p:nvSpPr>
          <p:spPr>
            <a:xfrm flipH="false" flipV="false" rot="0">
              <a:off x="0" y="0"/>
              <a:ext cx="3349321" cy="768697"/>
            </a:xfrm>
            <a:custGeom>
              <a:avLst/>
              <a:gdLst/>
              <a:ahLst/>
              <a:cxnLst/>
              <a:rect r="r" b="b" t="t" l="l"/>
              <a:pathLst>
                <a:path h="768697" w="3349321">
                  <a:moveTo>
                    <a:pt x="0" y="0"/>
                  </a:moveTo>
                  <a:lnTo>
                    <a:pt x="3349321" y="0"/>
                  </a:lnTo>
                  <a:lnTo>
                    <a:pt x="3349321" y="768697"/>
                  </a:lnTo>
                  <a:lnTo>
                    <a:pt x="0" y="768697"/>
                  </a:lnTo>
                  <a:close/>
                </a:path>
              </a:pathLst>
            </a:custGeom>
            <a:blipFill>
              <a:blip r:embed="rId3">
                <a:alphaModFix amt="0"/>
              </a:blip>
              <a:stretch>
                <a:fillRect l="0" t="-34899" r="0" b="-34898"/>
              </a:stretch>
            </a:blipFill>
          </p:spPr>
        </p:sp>
        <p:sp>
          <p:nvSpPr>
            <p:cNvPr name="TextBox 28" id="28"/>
            <p:cNvSpPr txBox="true"/>
            <p:nvPr/>
          </p:nvSpPr>
          <p:spPr>
            <a:xfrm>
              <a:off x="0" y="-19050"/>
              <a:ext cx="3349320" cy="787743"/>
            </a:xfrm>
            <a:prstGeom prst="rect">
              <a:avLst/>
            </a:prstGeom>
          </p:spPr>
          <p:txBody>
            <a:bodyPr anchor="ctr" rtlCol="false" tIns="0" lIns="0" bIns="0" rIns="0"/>
            <a:lstStyle/>
            <a:p>
              <a:pPr algn="l">
                <a:lnSpc>
                  <a:spcPts val="2774"/>
                </a:lnSpc>
              </a:pPr>
              <a:r>
                <a:rPr lang="en-US" sz="2101" b="true">
                  <a:solidFill>
                    <a:srgbClr val="1F1F1D"/>
                  </a:solidFill>
                  <a:latin typeface="Inter Bold"/>
                  <a:ea typeface="Inter Bold"/>
                  <a:cs typeface="Inter Bold"/>
                  <a:sym typeface="Inter Bold"/>
                </a:rPr>
                <a:t>Saque de banda</a:t>
              </a:r>
            </a:p>
          </p:txBody>
        </p:sp>
      </p:grpSp>
      <p:grpSp>
        <p:nvGrpSpPr>
          <p:cNvPr name="Group 29" id="29"/>
          <p:cNvGrpSpPr/>
          <p:nvPr/>
        </p:nvGrpSpPr>
        <p:grpSpPr>
          <a:xfrm rot="0">
            <a:off x="7614744" y="7421628"/>
            <a:ext cx="1640348" cy="576520"/>
            <a:chOff x="0" y="0"/>
            <a:chExt cx="2187130" cy="768693"/>
          </a:xfrm>
        </p:grpSpPr>
        <p:sp>
          <p:nvSpPr>
            <p:cNvPr name="Freeform 30" id="30"/>
            <p:cNvSpPr/>
            <p:nvPr/>
          </p:nvSpPr>
          <p:spPr>
            <a:xfrm flipH="false" flipV="false" rot="0">
              <a:off x="0" y="0"/>
              <a:ext cx="2187067" cy="768604"/>
            </a:xfrm>
            <a:custGeom>
              <a:avLst/>
              <a:gdLst/>
              <a:ahLst/>
              <a:cxnLst/>
              <a:rect r="r" b="b" t="t" l="l"/>
              <a:pathLst>
                <a:path h="768604" w="2187067">
                  <a:moveTo>
                    <a:pt x="0" y="384302"/>
                  </a:moveTo>
                  <a:cubicBezTo>
                    <a:pt x="0" y="172085"/>
                    <a:pt x="172085" y="0"/>
                    <a:pt x="384302" y="0"/>
                  </a:cubicBezTo>
                  <a:lnTo>
                    <a:pt x="1802765" y="0"/>
                  </a:lnTo>
                  <a:cubicBezTo>
                    <a:pt x="2014982" y="0"/>
                    <a:pt x="2187067" y="172085"/>
                    <a:pt x="2187067" y="384302"/>
                  </a:cubicBezTo>
                  <a:cubicBezTo>
                    <a:pt x="2187067" y="596519"/>
                    <a:pt x="2014982" y="768604"/>
                    <a:pt x="1802765" y="768604"/>
                  </a:cubicBezTo>
                  <a:lnTo>
                    <a:pt x="384302" y="768604"/>
                  </a:lnTo>
                  <a:cubicBezTo>
                    <a:pt x="172085" y="768731"/>
                    <a:pt x="0" y="596646"/>
                    <a:pt x="0" y="384302"/>
                  </a:cubicBezTo>
                  <a:close/>
                </a:path>
              </a:pathLst>
            </a:custGeom>
            <a:solidFill>
              <a:srgbClr val="F0EFEC"/>
            </a:solidFill>
          </p:spPr>
        </p:sp>
      </p:grpSp>
      <p:grpSp>
        <p:nvGrpSpPr>
          <p:cNvPr name="Group 31" id="31"/>
          <p:cNvGrpSpPr/>
          <p:nvPr/>
        </p:nvGrpSpPr>
        <p:grpSpPr>
          <a:xfrm rot="0">
            <a:off x="7806920" y="7600069"/>
            <a:ext cx="219627" cy="219627"/>
            <a:chOff x="0" y="0"/>
            <a:chExt cx="292837" cy="292837"/>
          </a:xfrm>
        </p:grpSpPr>
        <p:sp>
          <p:nvSpPr>
            <p:cNvPr name="Freeform 32" id="32"/>
            <p:cNvSpPr/>
            <p:nvPr/>
          </p:nvSpPr>
          <p:spPr>
            <a:xfrm flipH="false" flipV="false" rot="0">
              <a:off x="0" y="0"/>
              <a:ext cx="292862" cy="292862"/>
            </a:xfrm>
            <a:custGeom>
              <a:avLst/>
              <a:gdLst/>
              <a:ahLst/>
              <a:cxnLst/>
              <a:rect r="r" b="b" t="t" l="l"/>
              <a:pathLst>
                <a:path h="292862" w="292862">
                  <a:moveTo>
                    <a:pt x="0" y="146431"/>
                  </a:moveTo>
                  <a:cubicBezTo>
                    <a:pt x="0" y="65532"/>
                    <a:pt x="65532" y="0"/>
                    <a:pt x="146431" y="0"/>
                  </a:cubicBezTo>
                  <a:cubicBezTo>
                    <a:pt x="227330" y="0"/>
                    <a:pt x="292862" y="65532"/>
                    <a:pt x="292862" y="146431"/>
                  </a:cubicBezTo>
                  <a:cubicBezTo>
                    <a:pt x="292862" y="227330"/>
                    <a:pt x="227330" y="292862"/>
                    <a:pt x="146431" y="292862"/>
                  </a:cubicBezTo>
                  <a:cubicBezTo>
                    <a:pt x="65532" y="292862"/>
                    <a:pt x="0" y="227330"/>
                    <a:pt x="0" y="146431"/>
                  </a:cubicBezTo>
                  <a:close/>
                </a:path>
              </a:pathLst>
            </a:custGeom>
            <a:solidFill>
              <a:srgbClr val="8B8A85"/>
            </a:solidFill>
          </p:spPr>
        </p:sp>
      </p:grpSp>
      <p:grpSp>
        <p:nvGrpSpPr>
          <p:cNvPr name="Group 33" id="33"/>
          <p:cNvGrpSpPr/>
          <p:nvPr/>
        </p:nvGrpSpPr>
        <p:grpSpPr>
          <a:xfrm rot="0">
            <a:off x="8136361" y="7421628"/>
            <a:ext cx="1091279" cy="576520"/>
            <a:chOff x="0" y="0"/>
            <a:chExt cx="1455039" cy="768693"/>
          </a:xfrm>
        </p:grpSpPr>
        <p:sp>
          <p:nvSpPr>
            <p:cNvPr name="Freeform 34" id="34"/>
            <p:cNvSpPr/>
            <p:nvPr/>
          </p:nvSpPr>
          <p:spPr>
            <a:xfrm flipH="false" flipV="false" rot="0">
              <a:off x="0" y="0"/>
              <a:ext cx="1455033" cy="768697"/>
            </a:xfrm>
            <a:custGeom>
              <a:avLst/>
              <a:gdLst/>
              <a:ahLst/>
              <a:cxnLst/>
              <a:rect r="r" b="b" t="t" l="l"/>
              <a:pathLst>
                <a:path h="768697" w="1455033">
                  <a:moveTo>
                    <a:pt x="0" y="0"/>
                  </a:moveTo>
                  <a:lnTo>
                    <a:pt x="1455033" y="0"/>
                  </a:lnTo>
                  <a:lnTo>
                    <a:pt x="1455033" y="768697"/>
                  </a:lnTo>
                  <a:lnTo>
                    <a:pt x="0" y="768697"/>
                  </a:lnTo>
                  <a:close/>
                </a:path>
              </a:pathLst>
            </a:custGeom>
            <a:blipFill>
              <a:blip r:embed="rId3">
                <a:alphaModFix amt="0"/>
              </a:blip>
              <a:stretch>
                <a:fillRect l="-17782" t="0" r="-17782" b="0"/>
              </a:stretch>
            </a:blipFill>
          </p:spPr>
        </p:sp>
        <p:sp>
          <p:nvSpPr>
            <p:cNvPr name="TextBox 35" id="35"/>
            <p:cNvSpPr txBox="true"/>
            <p:nvPr/>
          </p:nvSpPr>
          <p:spPr>
            <a:xfrm>
              <a:off x="0" y="-19050"/>
              <a:ext cx="1455039" cy="787743"/>
            </a:xfrm>
            <a:prstGeom prst="rect">
              <a:avLst/>
            </a:prstGeom>
          </p:spPr>
          <p:txBody>
            <a:bodyPr anchor="ctr" rtlCol="false" tIns="0" lIns="0" bIns="0" rIns="0"/>
            <a:lstStyle/>
            <a:p>
              <a:pPr algn="l">
                <a:lnSpc>
                  <a:spcPts val="2774"/>
                </a:lnSpc>
              </a:pPr>
              <a:r>
                <a:rPr lang="en-US" sz="2101" b="true">
                  <a:solidFill>
                    <a:srgbClr val="1F1F1D"/>
                  </a:solidFill>
                  <a:latin typeface="Inter Bold"/>
                  <a:ea typeface="Inter Bold"/>
                  <a:cs typeface="Inter Bold"/>
                  <a:sym typeface="Inter Bold"/>
                </a:rPr>
                <a:t>Fondo</a:t>
              </a:r>
            </a:p>
          </p:txBody>
        </p:sp>
      </p:grpSp>
      <p:sp>
        <p:nvSpPr>
          <p:cNvPr name="TextBox 36" id="36"/>
          <p:cNvSpPr txBox="true"/>
          <p:nvPr/>
        </p:nvSpPr>
        <p:spPr>
          <a:xfrm rot="0">
            <a:off x="9647026" y="2736638"/>
            <a:ext cx="7824235" cy="478119"/>
          </a:xfrm>
          <a:prstGeom prst="rect">
            <a:avLst/>
          </a:prstGeom>
        </p:spPr>
        <p:txBody>
          <a:bodyPr anchor="t" rtlCol="false" tIns="0" lIns="0" bIns="0" rIns="0">
            <a:spAutoFit/>
          </a:bodyPr>
          <a:lstStyle/>
          <a:p>
            <a:pPr algn="l">
              <a:lnSpc>
                <a:spcPts val="3963"/>
              </a:lnSpc>
            </a:pPr>
            <a:r>
              <a:rPr lang="en-US" sz="3002" b="true">
                <a:solidFill>
                  <a:srgbClr val="1F1F1D"/>
                </a:solidFill>
                <a:latin typeface="Inter Bold"/>
                <a:ea typeface="Inter Bold"/>
                <a:cs typeface="Inter Bold"/>
                <a:sym typeface="Inter Bold"/>
              </a:rPr>
              <a:t>Objetivo General</a:t>
            </a:r>
          </a:p>
        </p:txBody>
      </p:sp>
      <p:grpSp>
        <p:nvGrpSpPr>
          <p:cNvPr name="Group 37" id="37"/>
          <p:cNvGrpSpPr/>
          <p:nvPr/>
        </p:nvGrpSpPr>
        <p:grpSpPr>
          <a:xfrm rot="0">
            <a:off x="9607517" y="3376284"/>
            <a:ext cx="686333" cy="686333"/>
            <a:chOff x="0" y="0"/>
            <a:chExt cx="915111" cy="915111"/>
          </a:xfrm>
        </p:grpSpPr>
        <p:sp>
          <p:nvSpPr>
            <p:cNvPr name="Freeform 38" id="38"/>
            <p:cNvSpPr/>
            <p:nvPr/>
          </p:nvSpPr>
          <p:spPr>
            <a:xfrm flipH="false" flipV="false" rot="0">
              <a:off x="0" y="0"/>
              <a:ext cx="915162" cy="915162"/>
            </a:xfrm>
            <a:custGeom>
              <a:avLst/>
              <a:gdLst/>
              <a:ahLst/>
              <a:cxnLst/>
              <a:rect r="r" b="b" t="t" l="l"/>
              <a:pathLst>
                <a:path h="915162" w="915162">
                  <a:moveTo>
                    <a:pt x="0" y="457581"/>
                  </a:moveTo>
                  <a:cubicBezTo>
                    <a:pt x="0" y="204851"/>
                    <a:pt x="204851" y="0"/>
                    <a:pt x="457581" y="0"/>
                  </a:cubicBezTo>
                  <a:cubicBezTo>
                    <a:pt x="710311" y="0"/>
                    <a:pt x="915162" y="204851"/>
                    <a:pt x="915162" y="457581"/>
                  </a:cubicBezTo>
                  <a:cubicBezTo>
                    <a:pt x="915162" y="710311"/>
                    <a:pt x="710311" y="915162"/>
                    <a:pt x="457581" y="915162"/>
                  </a:cubicBezTo>
                  <a:cubicBezTo>
                    <a:pt x="204851" y="915162"/>
                    <a:pt x="0" y="710311"/>
                    <a:pt x="0" y="457581"/>
                  </a:cubicBezTo>
                  <a:close/>
                </a:path>
              </a:pathLst>
            </a:custGeom>
            <a:solidFill>
              <a:srgbClr val="2A78D6"/>
            </a:solidFill>
          </p:spPr>
        </p:sp>
      </p:grpSp>
      <p:grpSp>
        <p:nvGrpSpPr>
          <p:cNvPr name="Group 39" id="39"/>
          <p:cNvGrpSpPr/>
          <p:nvPr/>
        </p:nvGrpSpPr>
        <p:grpSpPr>
          <a:xfrm rot="0">
            <a:off x="9607517" y="3376284"/>
            <a:ext cx="686333" cy="686333"/>
            <a:chOff x="0" y="0"/>
            <a:chExt cx="915111" cy="915111"/>
          </a:xfrm>
        </p:grpSpPr>
        <p:sp>
          <p:nvSpPr>
            <p:cNvPr name="Freeform 40" id="40"/>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3">
                <a:alphaModFix amt="0"/>
              </a:blip>
              <a:stretch>
                <a:fillRect l="-78303" t="0" r="-78302" b="0"/>
              </a:stretch>
            </a:blipFill>
          </p:spPr>
        </p:sp>
        <p:sp>
          <p:nvSpPr>
            <p:cNvPr name="TextBox 41" id="41"/>
            <p:cNvSpPr txBox="true"/>
            <p:nvPr/>
          </p:nvSpPr>
          <p:spPr>
            <a:xfrm>
              <a:off x="0" y="-28575"/>
              <a:ext cx="915111" cy="943686"/>
            </a:xfrm>
            <a:prstGeom prst="rect">
              <a:avLst/>
            </a:prstGeom>
          </p:spPr>
          <p:txBody>
            <a:bodyPr anchor="ctr" rtlCol="false" tIns="0" lIns="0" bIns="0" rIns="0"/>
            <a:lstStyle/>
            <a:p>
              <a:pPr algn="ctr">
                <a:lnSpc>
                  <a:spcPts val="3170"/>
                </a:lnSpc>
              </a:pPr>
              <a:r>
                <a:rPr lang="en-US" sz="2401" b="true">
                  <a:solidFill>
                    <a:srgbClr val="FFFFFF"/>
                  </a:solidFill>
                  <a:latin typeface="Inter Bold"/>
                  <a:ea typeface="Inter Bold"/>
                  <a:cs typeface="Inter Bold"/>
                  <a:sym typeface="Inter Bold"/>
                </a:rPr>
                <a:t>1</a:t>
              </a:r>
            </a:p>
          </p:txBody>
        </p:sp>
      </p:grpSp>
      <p:sp>
        <p:nvSpPr>
          <p:cNvPr name="TextBox 42" id="42"/>
          <p:cNvSpPr txBox="true"/>
          <p:nvPr/>
        </p:nvSpPr>
        <p:spPr>
          <a:xfrm rot="0">
            <a:off x="10568389" y="3218840"/>
            <a:ext cx="6863363" cy="1192120"/>
          </a:xfrm>
          <a:prstGeom prst="rect">
            <a:avLst/>
          </a:prstGeom>
        </p:spPr>
        <p:txBody>
          <a:bodyPr anchor="t" rtlCol="false" tIns="0" lIns="0" bIns="0" rIns="0">
            <a:spAutoFit/>
          </a:bodyPr>
          <a:lstStyle/>
          <a:p>
            <a:pPr algn="l">
              <a:lnSpc>
                <a:spcPts val="3170"/>
              </a:lnSpc>
            </a:pPr>
            <a:r>
              <a:rPr lang="en-US" sz="2401">
                <a:solidFill>
                  <a:srgbClr val="1F1F1D"/>
                </a:solidFill>
                <a:latin typeface="Inter"/>
                <a:ea typeface="Inter"/>
                <a:cs typeface="Inter"/>
                <a:sym typeface="Inter"/>
              </a:rPr>
              <a:t>Comparar m</a:t>
            </a:r>
            <a:r>
              <a:rPr lang="en-US" sz="2401">
                <a:solidFill>
                  <a:srgbClr val="1F1F1D"/>
                </a:solidFill>
                <a:latin typeface="Inter"/>
                <a:ea typeface="Inter"/>
                <a:cs typeface="Inter"/>
                <a:sym typeface="Inter"/>
              </a:rPr>
              <a:t>odelos de clasificación de acciones en video de la Bundesliga según su capacidad de generalizar a un partido no visto.</a:t>
            </a:r>
          </a:p>
        </p:txBody>
      </p:sp>
      <p:sp>
        <p:nvSpPr>
          <p:cNvPr name="TextBox 43" id="43"/>
          <p:cNvSpPr txBox="true"/>
          <p:nvPr/>
        </p:nvSpPr>
        <p:spPr>
          <a:xfrm rot="0">
            <a:off x="823608" y="3356152"/>
            <a:ext cx="6863363" cy="1592170"/>
          </a:xfrm>
          <a:prstGeom prst="rect">
            <a:avLst/>
          </a:prstGeom>
        </p:spPr>
        <p:txBody>
          <a:bodyPr anchor="t" rtlCol="false" tIns="0" lIns="0" bIns="0" rIns="0">
            <a:spAutoFit/>
          </a:bodyPr>
          <a:lstStyle/>
          <a:p>
            <a:pPr algn="l">
              <a:lnSpc>
                <a:spcPts val="3170"/>
              </a:lnSpc>
            </a:pPr>
            <a:r>
              <a:rPr lang="en-US" sz="2401">
                <a:solidFill>
                  <a:srgbClr val="1F1F1D"/>
                </a:solidFill>
                <a:latin typeface="Inter"/>
                <a:ea typeface="Inter"/>
                <a:cs typeface="Inter"/>
                <a:sym typeface="Inter"/>
              </a:rPr>
              <a:t>H</a:t>
            </a:r>
            <a:r>
              <a:rPr lang="en-US" sz="2401">
                <a:solidFill>
                  <a:srgbClr val="1F1F1D"/>
                </a:solidFill>
                <a:latin typeface="Inter"/>
                <a:ea typeface="Inter"/>
                <a:cs typeface="Inter"/>
                <a:sym typeface="Inter"/>
              </a:rPr>
              <a:t>oy cada pase, disputa y saque de banda de un partido lo anota una persona viendo los 90 minutos algo que se vuelve lento, caro y no escala a todas las ligas.</a:t>
            </a:r>
          </a:p>
        </p:txBody>
      </p:sp>
      <p:sp>
        <p:nvSpPr>
          <p:cNvPr name="TextBox 44" id="44"/>
          <p:cNvSpPr txBox="true"/>
          <p:nvPr/>
        </p:nvSpPr>
        <p:spPr>
          <a:xfrm rot="0">
            <a:off x="825346" y="5072443"/>
            <a:ext cx="7686961" cy="549744"/>
          </a:xfrm>
          <a:prstGeom prst="rect">
            <a:avLst/>
          </a:prstGeom>
        </p:spPr>
        <p:txBody>
          <a:bodyPr anchor="t" rtlCol="false" tIns="0" lIns="0" bIns="0" rIns="0">
            <a:spAutoFit/>
          </a:bodyPr>
          <a:lstStyle/>
          <a:p>
            <a:pPr algn="l">
              <a:lnSpc>
                <a:spcPts val="4359"/>
              </a:lnSpc>
            </a:pPr>
            <a:r>
              <a:rPr lang="en-US" sz="3302" b="true">
                <a:solidFill>
                  <a:srgbClr val="1F1F1D"/>
                </a:solidFill>
                <a:latin typeface="Inter Bold"/>
                <a:ea typeface="Inter Bold"/>
                <a:cs typeface="Inter Bold"/>
                <a:sym typeface="Inter Bold"/>
              </a:rPr>
              <a:t>Pr</a:t>
            </a:r>
            <a:r>
              <a:rPr lang="en-US" sz="3302" b="true">
                <a:solidFill>
                  <a:srgbClr val="1F1F1D"/>
                </a:solidFill>
                <a:latin typeface="Inter Bold"/>
                <a:ea typeface="Inter Bold"/>
                <a:cs typeface="Inter Bold"/>
                <a:sym typeface="Inter Bold"/>
              </a:rPr>
              <a:t>egunta</a:t>
            </a:r>
          </a:p>
        </p:txBody>
      </p:sp>
      <p:sp>
        <p:nvSpPr>
          <p:cNvPr name="TextBox 45" id="45"/>
          <p:cNvSpPr txBox="true"/>
          <p:nvPr/>
        </p:nvSpPr>
        <p:spPr>
          <a:xfrm rot="0">
            <a:off x="825346" y="5593612"/>
            <a:ext cx="6863363" cy="1192120"/>
          </a:xfrm>
          <a:prstGeom prst="rect">
            <a:avLst/>
          </a:prstGeom>
        </p:spPr>
        <p:txBody>
          <a:bodyPr anchor="t" rtlCol="false" tIns="0" lIns="0" bIns="0" rIns="0">
            <a:spAutoFit/>
          </a:bodyPr>
          <a:lstStyle/>
          <a:p>
            <a:pPr algn="l">
              <a:lnSpc>
                <a:spcPts val="3170"/>
              </a:lnSpc>
            </a:pPr>
            <a:r>
              <a:rPr lang="en-US" sz="2401">
                <a:solidFill>
                  <a:srgbClr val="1F1F1D"/>
                </a:solidFill>
                <a:latin typeface="Inter"/>
                <a:ea typeface="Inter"/>
                <a:cs typeface="Inter"/>
                <a:sym typeface="Inter"/>
              </a:rPr>
              <a:t>¿S</a:t>
            </a:r>
            <a:r>
              <a:rPr lang="en-US" sz="2401">
                <a:solidFill>
                  <a:srgbClr val="1F1F1D"/>
                </a:solidFill>
                <a:latin typeface="Inter"/>
                <a:ea typeface="Inter"/>
                <a:cs typeface="Inter"/>
                <a:sym typeface="Inter"/>
              </a:rPr>
              <a:t>e puede reconocer automáticamente qué acción ocurre en una ventana de 1.6 s de transmisión?</a:t>
            </a:r>
          </a:p>
        </p:txBody>
      </p:sp>
      <p:sp>
        <p:nvSpPr>
          <p:cNvPr name="TextBox 46" id="46"/>
          <p:cNvSpPr txBox="true"/>
          <p:nvPr/>
        </p:nvSpPr>
        <p:spPr>
          <a:xfrm rot="0">
            <a:off x="773670" y="8001229"/>
            <a:ext cx="8481422" cy="307086"/>
          </a:xfrm>
          <a:prstGeom prst="rect">
            <a:avLst/>
          </a:prstGeom>
        </p:spPr>
        <p:txBody>
          <a:bodyPr anchor="t" rtlCol="false" tIns="0" lIns="0" bIns="0" rIns="0">
            <a:spAutoFit/>
          </a:bodyPr>
          <a:lstStyle/>
          <a:p>
            <a:pPr algn="l">
              <a:lnSpc>
                <a:spcPts val="2592"/>
              </a:lnSpc>
            </a:pPr>
            <a:r>
              <a:rPr lang="en-US" sz="1800">
                <a:solidFill>
                  <a:srgbClr val="6B6A66"/>
                </a:solidFill>
                <a:latin typeface="Inter"/>
                <a:ea typeface="Inter"/>
                <a:cs typeface="Inter"/>
                <a:sym typeface="Inter"/>
              </a:rPr>
              <a:t>C</a:t>
            </a:r>
            <a:r>
              <a:rPr lang="en-US" sz="1800">
                <a:solidFill>
                  <a:srgbClr val="6B6A66"/>
                </a:solidFill>
                <a:latin typeface="Inter"/>
                <a:ea typeface="Inter"/>
                <a:cs typeface="Inter"/>
                <a:sym typeface="Inter"/>
              </a:rPr>
              <a:t>lases de la competencia DFL – Bundesliga Data Shootout. Fondo = sin acción</a:t>
            </a:r>
          </a:p>
        </p:txBody>
      </p:sp>
      <p:grpSp>
        <p:nvGrpSpPr>
          <p:cNvPr name="Group 47" id="47"/>
          <p:cNvGrpSpPr/>
          <p:nvPr/>
        </p:nvGrpSpPr>
        <p:grpSpPr>
          <a:xfrm rot="0">
            <a:off x="9647026" y="5238793"/>
            <a:ext cx="686333" cy="686333"/>
            <a:chOff x="0" y="0"/>
            <a:chExt cx="915111" cy="915111"/>
          </a:xfrm>
        </p:grpSpPr>
        <p:sp>
          <p:nvSpPr>
            <p:cNvPr name="Freeform 48" id="48"/>
            <p:cNvSpPr/>
            <p:nvPr/>
          </p:nvSpPr>
          <p:spPr>
            <a:xfrm flipH="false" flipV="false" rot="0">
              <a:off x="0" y="0"/>
              <a:ext cx="915162" cy="915162"/>
            </a:xfrm>
            <a:custGeom>
              <a:avLst/>
              <a:gdLst/>
              <a:ahLst/>
              <a:cxnLst/>
              <a:rect r="r" b="b" t="t" l="l"/>
              <a:pathLst>
                <a:path h="915162" w="915162">
                  <a:moveTo>
                    <a:pt x="0" y="457581"/>
                  </a:moveTo>
                  <a:cubicBezTo>
                    <a:pt x="0" y="204851"/>
                    <a:pt x="204851" y="0"/>
                    <a:pt x="457581" y="0"/>
                  </a:cubicBezTo>
                  <a:cubicBezTo>
                    <a:pt x="710311" y="0"/>
                    <a:pt x="915162" y="204851"/>
                    <a:pt x="915162" y="457581"/>
                  </a:cubicBezTo>
                  <a:cubicBezTo>
                    <a:pt x="915162" y="710311"/>
                    <a:pt x="710311" y="915162"/>
                    <a:pt x="457581" y="915162"/>
                  </a:cubicBezTo>
                  <a:cubicBezTo>
                    <a:pt x="204851" y="915162"/>
                    <a:pt x="0" y="710311"/>
                    <a:pt x="0" y="457581"/>
                  </a:cubicBezTo>
                  <a:close/>
                </a:path>
              </a:pathLst>
            </a:custGeom>
            <a:solidFill>
              <a:srgbClr val="2A78D6"/>
            </a:solidFill>
          </p:spPr>
        </p:sp>
      </p:grpSp>
      <p:grpSp>
        <p:nvGrpSpPr>
          <p:cNvPr name="Group 49" id="49"/>
          <p:cNvGrpSpPr/>
          <p:nvPr/>
        </p:nvGrpSpPr>
        <p:grpSpPr>
          <a:xfrm rot="0">
            <a:off x="9647026" y="5238793"/>
            <a:ext cx="686333" cy="686333"/>
            <a:chOff x="0" y="0"/>
            <a:chExt cx="915111" cy="915111"/>
          </a:xfrm>
        </p:grpSpPr>
        <p:sp>
          <p:nvSpPr>
            <p:cNvPr name="Freeform 50" id="50"/>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3">
                <a:alphaModFix amt="0"/>
              </a:blip>
              <a:stretch>
                <a:fillRect l="-78303" t="0" r="-78302" b="0"/>
              </a:stretch>
            </a:blipFill>
          </p:spPr>
        </p:sp>
        <p:sp>
          <p:nvSpPr>
            <p:cNvPr name="TextBox 51" id="51"/>
            <p:cNvSpPr txBox="true"/>
            <p:nvPr/>
          </p:nvSpPr>
          <p:spPr>
            <a:xfrm>
              <a:off x="0" y="-28575"/>
              <a:ext cx="915111" cy="943686"/>
            </a:xfrm>
            <a:prstGeom prst="rect">
              <a:avLst/>
            </a:prstGeom>
          </p:spPr>
          <p:txBody>
            <a:bodyPr anchor="ctr" rtlCol="false" tIns="0" lIns="0" bIns="0" rIns="0"/>
            <a:lstStyle/>
            <a:p>
              <a:pPr algn="ctr">
                <a:lnSpc>
                  <a:spcPts val="3170"/>
                </a:lnSpc>
              </a:pPr>
              <a:r>
                <a:rPr lang="en-US" sz="2401" b="true">
                  <a:solidFill>
                    <a:srgbClr val="FFFFFF"/>
                  </a:solidFill>
                  <a:latin typeface="Inter Bold"/>
                  <a:ea typeface="Inter Bold"/>
                  <a:cs typeface="Inter Bold"/>
                  <a:sym typeface="Inter Bold"/>
                </a:rPr>
                <a:t>1</a:t>
              </a:r>
            </a:p>
          </p:txBody>
        </p:sp>
      </p:grpSp>
      <p:sp>
        <p:nvSpPr>
          <p:cNvPr name="TextBox 52" id="52"/>
          <p:cNvSpPr txBox="true"/>
          <p:nvPr/>
        </p:nvSpPr>
        <p:spPr>
          <a:xfrm rot="0">
            <a:off x="10607899" y="5182757"/>
            <a:ext cx="6863363" cy="792070"/>
          </a:xfrm>
          <a:prstGeom prst="rect">
            <a:avLst/>
          </a:prstGeom>
        </p:spPr>
        <p:txBody>
          <a:bodyPr anchor="t" rtlCol="false" tIns="0" lIns="0" bIns="0" rIns="0">
            <a:spAutoFit/>
          </a:bodyPr>
          <a:lstStyle/>
          <a:p>
            <a:pPr algn="l">
              <a:lnSpc>
                <a:spcPts val="3170"/>
              </a:lnSpc>
            </a:pPr>
            <a:r>
              <a:rPr lang="en-US" sz="2401">
                <a:solidFill>
                  <a:srgbClr val="1F1F1D"/>
                </a:solidFill>
                <a:latin typeface="Inter"/>
                <a:ea typeface="Inter"/>
                <a:cs typeface="Inter"/>
                <a:sym typeface="Inter"/>
              </a:rPr>
              <a:t>En</a:t>
            </a:r>
            <a:r>
              <a:rPr lang="en-US" sz="2401">
                <a:solidFill>
                  <a:srgbClr val="1F1F1D"/>
                </a:solidFill>
                <a:latin typeface="Inter"/>
                <a:ea typeface="Inter"/>
                <a:cs typeface="Inter"/>
                <a:sym typeface="Inter"/>
              </a:rPr>
              <a:t>trenar regresión logística, Random Forest y XGBoost con validación por partido (F1 macro).</a:t>
            </a:r>
          </a:p>
        </p:txBody>
      </p:sp>
      <p:grpSp>
        <p:nvGrpSpPr>
          <p:cNvPr name="Group 53" id="53"/>
          <p:cNvGrpSpPr/>
          <p:nvPr/>
        </p:nvGrpSpPr>
        <p:grpSpPr>
          <a:xfrm rot="0">
            <a:off x="9647026" y="6422503"/>
            <a:ext cx="686333" cy="686333"/>
            <a:chOff x="0" y="0"/>
            <a:chExt cx="915111" cy="915111"/>
          </a:xfrm>
        </p:grpSpPr>
        <p:sp>
          <p:nvSpPr>
            <p:cNvPr name="Freeform 54" id="54"/>
            <p:cNvSpPr/>
            <p:nvPr/>
          </p:nvSpPr>
          <p:spPr>
            <a:xfrm flipH="false" flipV="false" rot="0">
              <a:off x="0" y="0"/>
              <a:ext cx="915162" cy="915162"/>
            </a:xfrm>
            <a:custGeom>
              <a:avLst/>
              <a:gdLst/>
              <a:ahLst/>
              <a:cxnLst/>
              <a:rect r="r" b="b" t="t" l="l"/>
              <a:pathLst>
                <a:path h="915162" w="915162">
                  <a:moveTo>
                    <a:pt x="0" y="457581"/>
                  </a:moveTo>
                  <a:cubicBezTo>
                    <a:pt x="0" y="204851"/>
                    <a:pt x="204851" y="0"/>
                    <a:pt x="457581" y="0"/>
                  </a:cubicBezTo>
                  <a:cubicBezTo>
                    <a:pt x="710311" y="0"/>
                    <a:pt x="915162" y="204851"/>
                    <a:pt x="915162" y="457581"/>
                  </a:cubicBezTo>
                  <a:cubicBezTo>
                    <a:pt x="915162" y="710311"/>
                    <a:pt x="710311" y="915162"/>
                    <a:pt x="457581" y="915162"/>
                  </a:cubicBezTo>
                  <a:cubicBezTo>
                    <a:pt x="204851" y="915162"/>
                    <a:pt x="0" y="710311"/>
                    <a:pt x="0" y="457581"/>
                  </a:cubicBezTo>
                  <a:close/>
                </a:path>
              </a:pathLst>
            </a:custGeom>
            <a:solidFill>
              <a:srgbClr val="2A78D6"/>
            </a:solidFill>
          </p:spPr>
        </p:sp>
      </p:grpSp>
      <p:grpSp>
        <p:nvGrpSpPr>
          <p:cNvPr name="Group 55" id="55"/>
          <p:cNvGrpSpPr/>
          <p:nvPr/>
        </p:nvGrpSpPr>
        <p:grpSpPr>
          <a:xfrm rot="0">
            <a:off x="9647026" y="6422503"/>
            <a:ext cx="686333" cy="686333"/>
            <a:chOff x="0" y="0"/>
            <a:chExt cx="915111" cy="915111"/>
          </a:xfrm>
        </p:grpSpPr>
        <p:sp>
          <p:nvSpPr>
            <p:cNvPr name="Freeform 56" id="56"/>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3">
                <a:alphaModFix amt="0"/>
              </a:blip>
              <a:stretch>
                <a:fillRect l="-78303" t="0" r="-78302" b="0"/>
              </a:stretch>
            </a:blipFill>
          </p:spPr>
        </p:sp>
        <p:sp>
          <p:nvSpPr>
            <p:cNvPr name="TextBox 57" id="57"/>
            <p:cNvSpPr txBox="true"/>
            <p:nvPr/>
          </p:nvSpPr>
          <p:spPr>
            <a:xfrm>
              <a:off x="0" y="-28575"/>
              <a:ext cx="915111" cy="943686"/>
            </a:xfrm>
            <a:prstGeom prst="rect">
              <a:avLst/>
            </a:prstGeom>
          </p:spPr>
          <p:txBody>
            <a:bodyPr anchor="ctr" rtlCol="false" tIns="0" lIns="0" bIns="0" rIns="0"/>
            <a:lstStyle/>
            <a:p>
              <a:pPr algn="ctr">
                <a:lnSpc>
                  <a:spcPts val="3170"/>
                </a:lnSpc>
              </a:pPr>
              <a:r>
                <a:rPr lang="en-US" sz="2401" b="true">
                  <a:solidFill>
                    <a:srgbClr val="FFFFFF"/>
                  </a:solidFill>
                  <a:latin typeface="Inter Bold"/>
                  <a:ea typeface="Inter Bold"/>
                  <a:cs typeface="Inter Bold"/>
                  <a:sym typeface="Inter Bold"/>
                </a:rPr>
                <a:t>2</a:t>
              </a:r>
            </a:p>
          </p:txBody>
        </p:sp>
      </p:grpSp>
      <p:sp>
        <p:nvSpPr>
          <p:cNvPr name="TextBox 58" id="58"/>
          <p:cNvSpPr txBox="true"/>
          <p:nvPr/>
        </p:nvSpPr>
        <p:spPr>
          <a:xfrm rot="0">
            <a:off x="10607899" y="6464740"/>
            <a:ext cx="6863363" cy="792070"/>
          </a:xfrm>
          <a:prstGeom prst="rect">
            <a:avLst/>
          </a:prstGeom>
        </p:spPr>
        <p:txBody>
          <a:bodyPr anchor="t" rtlCol="false" tIns="0" lIns="0" bIns="0" rIns="0">
            <a:spAutoFit/>
          </a:bodyPr>
          <a:lstStyle/>
          <a:p>
            <a:pPr algn="l">
              <a:lnSpc>
                <a:spcPts val="3170"/>
              </a:lnSpc>
            </a:pPr>
            <a:r>
              <a:rPr lang="en-US" sz="2401">
                <a:solidFill>
                  <a:srgbClr val="1F1F1D"/>
                </a:solidFill>
                <a:latin typeface="Inter"/>
                <a:ea typeface="Inter"/>
                <a:cs typeface="Inter"/>
                <a:sym typeface="Inter"/>
              </a:rPr>
              <a:t>Entrenar u</a:t>
            </a:r>
            <a:r>
              <a:rPr lang="en-US" sz="2401">
                <a:solidFill>
                  <a:srgbClr val="1F1F1D"/>
                </a:solidFill>
                <a:latin typeface="Inter"/>
                <a:ea typeface="Inter"/>
                <a:cs typeface="Inter"/>
                <a:sym typeface="Inter"/>
              </a:rPr>
              <a:t>n modelo temporal (GRU) sobre la secuencia de cuadros de cada ventana</a:t>
            </a:r>
          </a:p>
        </p:txBody>
      </p:sp>
      <p:grpSp>
        <p:nvGrpSpPr>
          <p:cNvPr name="Group 59" id="59"/>
          <p:cNvGrpSpPr/>
          <p:nvPr/>
        </p:nvGrpSpPr>
        <p:grpSpPr>
          <a:xfrm rot="0">
            <a:off x="9647026" y="7795179"/>
            <a:ext cx="686333" cy="686333"/>
            <a:chOff x="0" y="0"/>
            <a:chExt cx="915111" cy="915111"/>
          </a:xfrm>
        </p:grpSpPr>
        <p:sp>
          <p:nvSpPr>
            <p:cNvPr name="Freeform 60" id="60"/>
            <p:cNvSpPr/>
            <p:nvPr/>
          </p:nvSpPr>
          <p:spPr>
            <a:xfrm flipH="false" flipV="false" rot="0">
              <a:off x="0" y="0"/>
              <a:ext cx="915162" cy="915162"/>
            </a:xfrm>
            <a:custGeom>
              <a:avLst/>
              <a:gdLst/>
              <a:ahLst/>
              <a:cxnLst/>
              <a:rect r="r" b="b" t="t" l="l"/>
              <a:pathLst>
                <a:path h="915162" w="915162">
                  <a:moveTo>
                    <a:pt x="0" y="457581"/>
                  </a:moveTo>
                  <a:cubicBezTo>
                    <a:pt x="0" y="204851"/>
                    <a:pt x="204851" y="0"/>
                    <a:pt x="457581" y="0"/>
                  </a:cubicBezTo>
                  <a:cubicBezTo>
                    <a:pt x="710311" y="0"/>
                    <a:pt x="915162" y="204851"/>
                    <a:pt x="915162" y="457581"/>
                  </a:cubicBezTo>
                  <a:cubicBezTo>
                    <a:pt x="915162" y="710311"/>
                    <a:pt x="710311" y="915162"/>
                    <a:pt x="457581" y="915162"/>
                  </a:cubicBezTo>
                  <a:cubicBezTo>
                    <a:pt x="204851" y="915162"/>
                    <a:pt x="0" y="710311"/>
                    <a:pt x="0" y="457581"/>
                  </a:cubicBezTo>
                  <a:close/>
                </a:path>
              </a:pathLst>
            </a:custGeom>
            <a:solidFill>
              <a:srgbClr val="2A78D6"/>
            </a:solidFill>
          </p:spPr>
        </p:sp>
      </p:grpSp>
      <p:grpSp>
        <p:nvGrpSpPr>
          <p:cNvPr name="Group 61" id="61"/>
          <p:cNvGrpSpPr/>
          <p:nvPr/>
        </p:nvGrpSpPr>
        <p:grpSpPr>
          <a:xfrm rot="0">
            <a:off x="9647026" y="7795179"/>
            <a:ext cx="686333" cy="686333"/>
            <a:chOff x="0" y="0"/>
            <a:chExt cx="915111" cy="915111"/>
          </a:xfrm>
        </p:grpSpPr>
        <p:sp>
          <p:nvSpPr>
            <p:cNvPr name="Freeform 62" id="62"/>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3">
                <a:alphaModFix amt="0"/>
              </a:blip>
              <a:stretch>
                <a:fillRect l="-78303" t="0" r="-78302" b="0"/>
              </a:stretch>
            </a:blipFill>
          </p:spPr>
        </p:sp>
        <p:sp>
          <p:nvSpPr>
            <p:cNvPr name="TextBox 63" id="63"/>
            <p:cNvSpPr txBox="true"/>
            <p:nvPr/>
          </p:nvSpPr>
          <p:spPr>
            <a:xfrm>
              <a:off x="0" y="-28575"/>
              <a:ext cx="915111" cy="943686"/>
            </a:xfrm>
            <a:prstGeom prst="rect">
              <a:avLst/>
            </a:prstGeom>
          </p:spPr>
          <p:txBody>
            <a:bodyPr anchor="ctr" rtlCol="false" tIns="0" lIns="0" bIns="0" rIns="0"/>
            <a:lstStyle/>
            <a:p>
              <a:pPr algn="ctr">
                <a:lnSpc>
                  <a:spcPts val="3170"/>
                </a:lnSpc>
              </a:pPr>
              <a:r>
                <a:rPr lang="en-US" sz="2401" b="true">
                  <a:solidFill>
                    <a:srgbClr val="FFFFFF"/>
                  </a:solidFill>
                  <a:latin typeface="Inter Bold"/>
                  <a:ea typeface="Inter Bold"/>
                  <a:cs typeface="Inter Bold"/>
                  <a:sym typeface="Inter Bold"/>
                </a:rPr>
                <a:t>3</a:t>
              </a:r>
            </a:p>
          </p:txBody>
        </p:sp>
      </p:grpSp>
      <p:sp>
        <p:nvSpPr>
          <p:cNvPr name="TextBox 64" id="64"/>
          <p:cNvSpPr txBox="true"/>
          <p:nvPr/>
        </p:nvSpPr>
        <p:spPr>
          <a:xfrm rot="0">
            <a:off x="10607899" y="7527998"/>
            <a:ext cx="6863363" cy="1192120"/>
          </a:xfrm>
          <a:prstGeom prst="rect">
            <a:avLst/>
          </a:prstGeom>
        </p:spPr>
        <p:txBody>
          <a:bodyPr anchor="t" rtlCol="false" tIns="0" lIns="0" bIns="0" rIns="0">
            <a:spAutoFit/>
          </a:bodyPr>
          <a:lstStyle/>
          <a:p>
            <a:pPr algn="l">
              <a:lnSpc>
                <a:spcPts val="3170"/>
              </a:lnSpc>
            </a:pPr>
            <a:r>
              <a:rPr lang="en-US" sz="2401">
                <a:solidFill>
                  <a:srgbClr val="1F1F1D"/>
                </a:solidFill>
                <a:latin typeface="Inter"/>
                <a:ea typeface="Inter"/>
                <a:cs typeface="Inter"/>
                <a:sym typeface="Inter"/>
              </a:rPr>
              <a:t>Evaluar los cuatro modelos en un partido no visto mediante F1 macro, tomando el azar (0.25) como referencia.</a:t>
            </a:r>
          </a:p>
        </p:txBody>
      </p:sp>
      <p:grpSp>
        <p:nvGrpSpPr>
          <p:cNvPr name="Group 65" id="65"/>
          <p:cNvGrpSpPr/>
          <p:nvPr/>
        </p:nvGrpSpPr>
        <p:grpSpPr>
          <a:xfrm rot="0">
            <a:off x="9647026" y="8958305"/>
            <a:ext cx="686333" cy="686333"/>
            <a:chOff x="0" y="0"/>
            <a:chExt cx="915111" cy="915111"/>
          </a:xfrm>
        </p:grpSpPr>
        <p:sp>
          <p:nvSpPr>
            <p:cNvPr name="Freeform 66" id="66"/>
            <p:cNvSpPr/>
            <p:nvPr/>
          </p:nvSpPr>
          <p:spPr>
            <a:xfrm flipH="false" flipV="false" rot="0">
              <a:off x="0" y="0"/>
              <a:ext cx="915162" cy="915162"/>
            </a:xfrm>
            <a:custGeom>
              <a:avLst/>
              <a:gdLst/>
              <a:ahLst/>
              <a:cxnLst/>
              <a:rect r="r" b="b" t="t" l="l"/>
              <a:pathLst>
                <a:path h="915162" w="915162">
                  <a:moveTo>
                    <a:pt x="0" y="457581"/>
                  </a:moveTo>
                  <a:cubicBezTo>
                    <a:pt x="0" y="204851"/>
                    <a:pt x="204851" y="0"/>
                    <a:pt x="457581" y="0"/>
                  </a:cubicBezTo>
                  <a:cubicBezTo>
                    <a:pt x="710311" y="0"/>
                    <a:pt x="915162" y="204851"/>
                    <a:pt x="915162" y="457581"/>
                  </a:cubicBezTo>
                  <a:cubicBezTo>
                    <a:pt x="915162" y="710311"/>
                    <a:pt x="710311" y="915162"/>
                    <a:pt x="457581" y="915162"/>
                  </a:cubicBezTo>
                  <a:cubicBezTo>
                    <a:pt x="204851" y="915162"/>
                    <a:pt x="0" y="710311"/>
                    <a:pt x="0" y="457581"/>
                  </a:cubicBezTo>
                  <a:close/>
                </a:path>
              </a:pathLst>
            </a:custGeom>
            <a:solidFill>
              <a:srgbClr val="2A78D6"/>
            </a:solidFill>
          </p:spPr>
        </p:sp>
      </p:grpSp>
      <p:grpSp>
        <p:nvGrpSpPr>
          <p:cNvPr name="Group 67" id="67"/>
          <p:cNvGrpSpPr/>
          <p:nvPr/>
        </p:nvGrpSpPr>
        <p:grpSpPr>
          <a:xfrm rot="0">
            <a:off x="9647026" y="8958305"/>
            <a:ext cx="686333" cy="686333"/>
            <a:chOff x="0" y="0"/>
            <a:chExt cx="915111" cy="915111"/>
          </a:xfrm>
        </p:grpSpPr>
        <p:sp>
          <p:nvSpPr>
            <p:cNvPr name="Freeform 68" id="68"/>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3">
                <a:alphaModFix amt="0"/>
              </a:blip>
              <a:stretch>
                <a:fillRect l="-78303" t="0" r="-78302" b="0"/>
              </a:stretch>
            </a:blipFill>
          </p:spPr>
        </p:sp>
        <p:sp>
          <p:nvSpPr>
            <p:cNvPr name="TextBox 69" id="69"/>
            <p:cNvSpPr txBox="true"/>
            <p:nvPr/>
          </p:nvSpPr>
          <p:spPr>
            <a:xfrm>
              <a:off x="0" y="-28575"/>
              <a:ext cx="915111" cy="943686"/>
            </a:xfrm>
            <a:prstGeom prst="rect">
              <a:avLst/>
            </a:prstGeom>
          </p:spPr>
          <p:txBody>
            <a:bodyPr anchor="ctr" rtlCol="false" tIns="0" lIns="0" bIns="0" rIns="0"/>
            <a:lstStyle/>
            <a:p>
              <a:pPr algn="ctr">
                <a:lnSpc>
                  <a:spcPts val="3170"/>
                </a:lnSpc>
              </a:pPr>
              <a:r>
                <a:rPr lang="en-US" sz="2401" b="true">
                  <a:solidFill>
                    <a:srgbClr val="FFFFFF"/>
                  </a:solidFill>
                  <a:latin typeface="Inter Bold"/>
                  <a:ea typeface="Inter Bold"/>
                  <a:cs typeface="Inter Bold"/>
                  <a:sym typeface="Inter Bold"/>
                </a:rPr>
                <a:t>4</a:t>
              </a:r>
            </a:p>
          </p:txBody>
        </p:sp>
      </p:grpSp>
      <p:sp>
        <p:nvSpPr>
          <p:cNvPr name="TextBox 70" id="70"/>
          <p:cNvSpPr txBox="true"/>
          <p:nvPr/>
        </p:nvSpPr>
        <p:spPr>
          <a:xfrm rot="0">
            <a:off x="10568389" y="8828389"/>
            <a:ext cx="6863363" cy="1192120"/>
          </a:xfrm>
          <a:prstGeom prst="rect">
            <a:avLst/>
          </a:prstGeom>
        </p:spPr>
        <p:txBody>
          <a:bodyPr anchor="t" rtlCol="false" tIns="0" lIns="0" bIns="0" rIns="0">
            <a:spAutoFit/>
          </a:bodyPr>
          <a:lstStyle/>
          <a:p>
            <a:pPr algn="l">
              <a:lnSpc>
                <a:spcPts val="3170"/>
              </a:lnSpc>
            </a:pPr>
            <a:r>
              <a:rPr lang="en-US" sz="2401">
                <a:solidFill>
                  <a:srgbClr val="1F1F1D"/>
                </a:solidFill>
                <a:latin typeface="Inter"/>
                <a:ea typeface="Inter"/>
                <a:cs typeface="Inter"/>
                <a:sym typeface="Inter"/>
              </a:rPr>
              <a:t>Integrar los modelos en u</a:t>
            </a:r>
            <a:r>
              <a:rPr lang="en-US" sz="2401">
                <a:solidFill>
                  <a:srgbClr val="1F1F1D"/>
                </a:solidFill>
                <a:latin typeface="Inter"/>
                <a:ea typeface="Inter"/>
                <a:cs typeface="Inter"/>
                <a:sym typeface="Inter"/>
              </a:rPr>
              <a:t>na aplicación que clasifique video nuevo con el mismo preprocesamiento.</a:t>
            </a:r>
          </a:p>
        </p:txBody>
      </p:sp>
      <p:sp>
        <p:nvSpPr>
          <p:cNvPr name="TextBox 71" id="71"/>
          <p:cNvSpPr txBox="true"/>
          <p:nvPr/>
        </p:nvSpPr>
        <p:spPr>
          <a:xfrm rot="0">
            <a:off x="9647026" y="4415042"/>
            <a:ext cx="7824235" cy="478119"/>
          </a:xfrm>
          <a:prstGeom prst="rect">
            <a:avLst/>
          </a:prstGeom>
        </p:spPr>
        <p:txBody>
          <a:bodyPr anchor="t" rtlCol="false" tIns="0" lIns="0" bIns="0" rIns="0">
            <a:spAutoFit/>
          </a:bodyPr>
          <a:lstStyle/>
          <a:p>
            <a:pPr algn="l">
              <a:lnSpc>
                <a:spcPts val="3963"/>
              </a:lnSpc>
            </a:pPr>
            <a:r>
              <a:rPr lang="en-US" sz="3002" b="true">
                <a:solidFill>
                  <a:srgbClr val="1F1F1D"/>
                </a:solidFill>
                <a:latin typeface="Inter Bold"/>
                <a:ea typeface="Inter Bold"/>
                <a:cs typeface="Inter Bold"/>
                <a:sym typeface="Inter Bold"/>
              </a:rPr>
              <a:t>Objetivo Específicos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CFCFB"/>
        </a:solidFill>
      </p:bgPr>
    </p:bg>
    <p:spTree>
      <p:nvGrpSpPr>
        <p:cNvPr id="1" name=""/>
        <p:cNvGrpSpPr/>
        <p:nvPr/>
      </p:nvGrpSpPr>
      <p:grpSpPr>
        <a:xfrm>
          <a:off x="0" y="0"/>
          <a:ext cx="0" cy="0"/>
          <a:chOff x="0" y="0"/>
          <a:chExt cx="0" cy="0"/>
        </a:xfrm>
      </p:grpSpPr>
      <p:grpSp>
        <p:nvGrpSpPr>
          <p:cNvPr name="Group 2" id="2"/>
          <p:cNvGrpSpPr/>
          <p:nvPr/>
        </p:nvGrpSpPr>
        <p:grpSpPr>
          <a:xfrm rot="0">
            <a:off x="823608" y="617706"/>
            <a:ext cx="109814" cy="439255"/>
            <a:chOff x="0" y="0"/>
            <a:chExt cx="146418" cy="585673"/>
          </a:xfrm>
        </p:grpSpPr>
        <p:sp>
          <p:nvSpPr>
            <p:cNvPr name="Freeform 3" id="3"/>
            <p:cNvSpPr/>
            <p:nvPr/>
          </p:nvSpPr>
          <p:spPr>
            <a:xfrm flipH="false" flipV="false" rot="0">
              <a:off x="0" y="0"/>
              <a:ext cx="146431" cy="585724"/>
            </a:xfrm>
            <a:custGeom>
              <a:avLst/>
              <a:gdLst/>
              <a:ahLst/>
              <a:cxnLst/>
              <a:rect r="r" b="b" t="t" l="l"/>
              <a:pathLst>
                <a:path h="585724" w="146431">
                  <a:moveTo>
                    <a:pt x="0" y="0"/>
                  </a:moveTo>
                  <a:lnTo>
                    <a:pt x="146431" y="0"/>
                  </a:lnTo>
                  <a:lnTo>
                    <a:pt x="146431" y="585724"/>
                  </a:lnTo>
                  <a:lnTo>
                    <a:pt x="0" y="585724"/>
                  </a:lnTo>
                  <a:close/>
                </a:path>
              </a:pathLst>
            </a:custGeom>
            <a:solidFill>
              <a:srgbClr val="2A78D6"/>
            </a:solidFill>
          </p:spPr>
        </p:sp>
      </p:grpSp>
      <p:sp>
        <p:nvSpPr>
          <p:cNvPr name="TextBox 4" id="4"/>
          <p:cNvSpPr txBox="true"/>
          <p:nvPr/>
        </p:nvSpPr>
        <p:spPr>
          <a:xfrm rot="0">
            <a:off x="1028700" y="684372"/>
            <a:ext cx="12354049" cy="286872"/>
          </a:xfrm>
          <a:prstGeom prst="rect">
            <a:avLst/>
          </a:prstGeom>
        </p:spPr>
        <p:txBody>
          <a:bodyPr anchor="t" rtlCol="false" tIns="0" lIns="0" bIns="0" rIns="0">
            <a:spAutoFit/>
          </a:bodyPr>
          <a:lstStyle/>
          <a:p>
            <a:pPr algn="l">
              <a:lnSpc>
                <a:spcPts val="2377"/>
              </a:lnSpc>
            </a:pPr>
            <a:r>
              <a:rPr lang="en-US" sz="1801" b="true">
                <a:solidFill>
                  <a:srgbClr val="2A78D6"/>
                </a:solidFill>
                <a:latin typeface="Inter Bold"/>
                <a:ea typeface="Inter Bold"/>
                <a:cs typeface="Inter Bold"/>
                <a:sym typeface="Inter Bold"/>
              </a:rPr>
              <a:t>1 · PROBLEMA Y OBJETIVO</a:t>
            </a:r>
            <a:r>
              <a:rPr lang="en-US" sz="1801">
                <a:solidFill>
                  <a:srgbClr val="6B6A66"/>
                </a:solidFill>
                <a:latin typeface="Inter"/>
                <a:ea typeface="Inter"/>
                <a:cs typeface="Inter"/>
                <a:sym typeface="Inter"/>
              </a:rPr>
              <a:t> </a:t>
            </a:r>
          </a:p>
        </p:txBody>
      </p:sp>
      <p:sp>
        <p:nvSpPr>
          <p:cNvPr name="TextBox 5" id="5"/>
          <p:cNvSpPr txBox="true"/>
          <p:nvPr/>
        </p:nvSpPr>
        <p:spPr>
          <a:xfrm rot="0">
            <a:off x="823608" y="1178252"/>
            <a:ext cx="16609333" cy="1429826"/>
          </a:xfrm>
          <a:prstGeom prst="rect">
            <a:avLst/>
          </a:prstGeom>
        </p:spPr>
        <p:txBody>
          <a:bodyPr anchor="t" rtlCol="false" tIns="0" lIns="0" bIns="0" rIns="0">
            <a:spAutoFit/>
          </a:bodyPr>
          <a:lstStyle/>
          <a:p>
            <a:pPr algn="l">
              <a:lnSpc>
                <a:spcPts val="5944"/>
              </a:lnSpc>
            </a:pPr>
            <a:r>
              <a:rPr lang="en-US" sz="4503" b="true">
                <a:solidFill>
                  <a:srgbClr val="1F1F1D"/>
                </a:solidFill>
                <a:latin typeface="Inter Bold"/>
                <a:ea typeface="Inter Bold"/>
                <a:cs typeface="Inter Bold"/>
                <a:sym typeface="Inter Bold"/>
              </a:rPr>
              <a:t>762 clips etiquetados de 8 partidos</a:t>
            </a:r>
          </a:p>
        </p:txBody>
      </p:sp>
      <p:sp>
        <p:nvSpPr>
          <p:cNvPr name="TextBox 6" id="6"/>
          <p:cNvSpPr txBox="true"/>
          <p:nvPr/>
        </p:nvSpPr>
        <p:spPr>
          <a:xfrm rot="0">
            <a:off x="16746607" y="9580131"/>
            <a:ext cx="823608" cy="440379"/>
          </a:xfrm>
          <a:prstGeom prst="rect">
            <a:avLst/>
          </a:prstGeom>
        </p:spPr>
        <p:txBody>
          <a:bodyPr anchor="t" rtlCol="false" tIns="0" lIns="0" bIns="0" rIns="0">
            <a:spAutoFit/>
          </a:bodyPr>
          <a:lstStyle/>
          <a:p>
            <a:pPr algn="r">
              <a:lnSpc>
                <a:spcPts val="2179"/>
              </a:lnSpc>
            </a:pPr>
            <a:r>
              <a:rPr lang="en-US" sz="1651">
                <a:solidFill>
                  <a:srgbClr val="6B6A66"/>
                </a:solidFill>
                <a:latin typeface="Inter"/>
                <a:ea typeface="Inter"/>
                <a:cs typeface="Inter"/>
                <a:sym typeface="Inter"/>
              </a:rPr>
              <a:t>3</a:t>
            </a:r>
          </a:p>
        </p:txBody>
      </p:sp>
      <p:grpSp>
        <p:nvGrpSpPr>
          <p:cNvPr name="Group 7" id="7"/>
          <p:cNvGrpSpPr/>
          <p:nvPr/>
        </p:nvGrpSpPr>
        <p:grpSpPr>
          <a:xfrm rot="0">
            <a:off x="823608" y="2745343"/>
            <a:ext cx="3980755" cy="2127647"/>
            <a:chOff x="0" y="0"/>
            <a:chExt cx="5307673" cy="2836862"/>
          </a:xfrm>
        </p:grpSpPr>
        <p:sp>
          <p:nvSpPr>
            <p:cNvPr name="Freeform 8" id="8"/>
            <p:cNvSpPr/>
            <p:nvPr/>
          </p:nvSpPr>
          <p:spPr>
            <a:xfrm flipH="false" flipV="false" rot="0">
              <a:off x="0" y="0"/>
              <a:ext cx="5307711" cy="2836799"/>
            </a:xfrm>
            <a:custGeom>
              <a:avLst/>
              <a:gdLst/>
              <a:ahLst/>
              <a:cxnLst/>
              <a:rect r="r" b="b" t="t" l="l"/>
              <a:pathLst>
                <a:path h="2836799" w="5307711">
                  <a:moveTo>
                    <a:pt x="0" y="226949"/>
                  </a:moveTo>
                  <a:cubicBezTo>
                    <a:pt x="0" y="101600"/>
                    <a:pt x="101600" y="0"/>
                    <a:pt x="226949" y="0"/>
                  </a:cubicBezTo>
                  <a:lnTo>
                    <a:pt x="5080762" y="0"/>
                  </a:lnTo>
                  <a:cubicBezTo>
                    <a:pt x="5206111" y="0"/>
                    <a:pt x="5307711" y="101600"/>
                    <a:pt x="5307711" y="226949"/>
                  </a:cubicBezTo>
                  <a:lnTo>
                    <a:pt x="5307711" y="2609850"/>
                  </a:lnTo>
                  <a:cubicBezTo>
                    <a:pt x="5307711" y="2735199"/>
                    <a:pt x="5206111" y="2836799"/>
                    <a:pt x="5080762" y="2836799"/>
                  </a:cubicBezTo>
                  <a:lnTo>
                    <a:pt x="226949" y="2836799"/>
                  </a:lnTo>
                  <a:cubicBezTo>
                    <a:pt x="101600" y="2836799"/>
                    <a:pt x="0" y="2735199"/>
                    <a:pt x="0" y="2609850"/>
                  </a:cubicBezTo>
                  <a:close/>
                </a:path>
              </a:pathLst>
            </a:custGeom>
            <a:solidFill>
              <a:srgbClr val="F0EFEC"/>
            </a:solidFill>
          </p:spPr>
        </p:sp>
      </p:grpSp>
      <p:sp>
        <p:nvSpPr>
          <p:cNvPr name="TextBox 9" id="9"/>
          <p:cNvSpPr txBox="true"/>
          <p:nvPr/>
        </p:nvSpPr>
        <p:spPr>
          <a:xfrm rot="0">
            <a:off x="2181260" y="2925747"/>
            <a:ext cx="1402705" cy="975289"/>
          </a:xfrm>
          <a:prstGeom prst="rect">
            <a:avLst/>
          </a:prstGeom>
        </p:spPr>
        <p:txBody>
          <a:bodyPr anchor="t" rtlCol="false" tIns="0" lIns="0" bIns="0" rIns="0">
            <a:spAutoFit/>
          </a:bodyPr>
          <a:lstStyle/>
          <a:p>
            <a:pPr algn="ctr">
              <a:lnSpc>
                <a:spcPts val="7926"/>
              </a:lnSpc>
            </a:pPr>
            <a:r>
              <a:rPr lang="en-US" sz="6004" b="true">
                <a:solidFill>
                  <a:srgbClr val="2A78D6"/>
                </a:solidFill>
                <a:latin typeface="Inter Bold"/>
                <a:ea typeface="Inter Bold"/>
                <a:cs typeface="Inter Bold"/>
                <a:sym typeface="Inter Bold"/>
              </a:rPr>
              <a:t>762</a:t>
            </a:r>
          </a:p>
        </p:txBody>
      </p:sp>
      <p:sp>
        <p:nvSpPr>
          <p:cNvPr name="TextBox 10" id="10"/>
          <p:cNvSpPr txBox="true"/>
          <p:nvPr/>
        </p:nvSpPr>
        <p:spPr>
          <a:xfrm rot="0">
            <a:off x="1166774" y="4020807"/>
            <a:ext cx="3431677" cy="322684"/>
          </a:xfrm>
          <a:prstGeom prst="rect">
            <a:avLst/>
          </a:prstGeom>
        </p:spPr>
        <p:txBody>
          <a:bodyPr anchor="t" rtlCol="false" tIns="0" lIns="0" bIns="0" rIns="0">
            <a:spAutoFit/>
          </a:bodyPr>
          <a:lstStyle/>
          <a:p>
            <a:pPr algn="ctr">
              <a:lnSpc>
                <a:spcPts val="2576"/>
              </a:lnSpc>
            </a:pPr>
            <a:r>
              <a:rPr lang="en-US" sz="1951">
                <a:solidFill>
                  <a:srgbClr val="6B6A66"/>
                </a:solidFill>
                <a:latin typeface="Inter"/>
                <a:ea typeface="Inter"/>
                <a:cs typeface="Inter"/>
                <a:sym typeface="Inter"/>
              </a:rPr>
              <a:t>subclips etiquetados</a:t>
            </a:r>
          </a:p>
        </p:txBody>
      </p:sp>
      <p:grpSp>
        <p:nvGrpSpPr>
          <p:cNvPr name="Group 11" id="11"/>
          <p:cNvGrpSpPr/>
          <p:nvPr/>
        </p:nvGrpSpPr>
        <p:grpSpPr>
          <a:xfrm rot="0">
            <a:off x="5051431" y="2745343"/>
            <a:ext cx="3980755" cy="2127647"/>
            <a:chOff x="0" y="0"/>
            <a:chExt cx="5307673" cy="2836862"/>
          </a:xfrm>
        </p:grpSpPr>
        <p:sp>
          <p:nvSpPr>
            <p:cNvPr name="Freeform 12" id="12"/>
            <p:cNvSpPr/>
            <p:nvPr/>
          </p:nvSpPr>
          <p:spPr>
            <a:xfrm flipH="false" flipV="false" rot="0">
              <a:off x="0" y="0"/>
              <a:ext cx="5307711" cy="2836799"/>
            </a:xfrm>
            <a:custGeom>
              <a:avLst/>
              <a:gdLst/>
              <a:ahLst/>
              <a:cxnLst/>
              <a:rect r="r" b="b" t="t" l="l"/>
              <a:pathLst>
                <a:path h="2836799" w="5307711">
                  <a:moveTo>
                    <a:pt x="0" y="226949"/>
                  </a:moveTo>
                  <a:cubicBezTo>
                    <a:pt x="0" y="101600"/>
                    <a:pt x="101600" y="0"/>
                    <a:pt x="226949" y="0"/>
                  </a:cubicBezTo>
                  <a:lnTo>
                    <a:pt x="5080762" y="0"/>
                  </a:lnTo>
                  <a:cubicBezTo>
                    <a:pt x="5206111" y="0"/>
                    <a:pt x="5307711" y="101600"/>
                    <a:pt x="5307711" y="226949"/>
                  </a:cubicBezTo>
                  <a:lnTo>
                    <a:pt x="5307711" y="2609850"/>
                  </a:lnTo>
                  <a:cubicBezTo>
                    <a:pt x="5307711" y="2735199"/>
                    <a:pt x="5206111" y="2836799"/>
                    <a:pt x="5080762" y="2836799"/>
                  </a:cubicBezTo>
                  <a:lnTo>
                    <a:pt x="226949" y="2836799"/>
                  </a:lnTo>
                  <a:cubicBezTo>
                    <a:pt x="101600" y="2836799"/>
                    <a:pt x="0" y="2735199"/>
                    <a:pt x="0" y="2609850"/>
                  </a:cubicBezTo>
                  <a:close/>
                </a:path>
              </a:pathLst>
            </a:custGeom>
            <a:solidFill>
              <a:srgbClr val="F0EFEC"/>
            </a:solidFill>
          </p:spPr>
        </p:sp>
      </p:grpSp>
      <p:sp>
        <p:nvSpPr>
          <p:cNvPr name="TextBox 13" id="13"/>
          <p:cNvSpPr txBox="true"/>
          <p:nvPr/>
        </p:nvSpPr>
        <p:spPr>
          <a:xfrm rot="0">
            <a:off x="6865242" y="2925747"/>
            <a:ext cx="490389" cy="975289"/>
          </a:xfrm>
          <a:prstGeom prst="rect">
            <a:avLst/>
          </a:prstGeom>
        </p:spPr>
        <p:txBody>
          <a:bodyPr anchor="t" rtlCol="false" tIns="0" lIns="0" bIns="0" rIns="0">
            <a:spAutoFit/>
          </a:bodyPr>
          <a:lstStyle/>
          <a:p>
            <a:pPr algn="ctr">
              <a:lnSpc>
                <a:spcPts val="7926"/>
              </a:lnSpc>
            </a:pPr>
            <a:r>
              <a:rPr lang="en-US" sz="6004" b="true">
                <a:solidFill>
                  <a:srgbClr val="1F1F1D"/>
                </a:solidFill>
                <a:latin typeface="Inter Bold"/>
                <a:ea typeface="Inter Bold"/>
                <a:cs typeface="Inter Bold"/>
                <a:sym typeface="Inter Bold"/>
              </a:rPr>
              <a:t>8</a:t>
            </a:r>
          </a:p>
        </p:txBody>
      </p:sp>
      <p:sp>
        <p:nvSpPr>
          <p:cNvPr name="TextBox 14" id="14"/>
          <p:cNvSpPr txBox="true"/>
          <p:nvPr/>
        </p:nvSpPr>
        <p:spPr>
          <a:xfrm rot="0">
            <a:off x="5394598" y="4020807"/>
            <a:ext cx="3431677" cy="322684"/>
          </a:xfrm>
          <a:prstGeom prst="rect">
            <a:avLst/>
          </a:prstGeom>
        </p:spPr>
        <p:txBody>
          <a:bodyPr anchor="t" rtlCol="false" tIns="0" lIns="0" bIns="0" rIns="0">
            <a:spAutoFit/>
          </a:bodyPr>
          <a:lstStyle/>
          <a:p>
            <a:pPr algn="ctr">
              <a:lnSpc>
                <a:spcPts val="2576"/>
              </a:lnSpc>
            </a:pPr>
            <a:r>
              <a:rPr lang="en-US" sz="1951">
                <a:solidFill>
                  <a:srgbClr val="6B6A66"/>
                </a:solidFill>
                <a:latin typeface="Inter"/>
                <a:ea typeface="Inter"/>
                <a:cs typeface="Inter"/>
                <a:sym typeface="Inter"/>
              </a:rPr>
              <a:t>partidos: 7 entrenan, 1 prueba</a:t>
            </a:r>
          </a:p>
        </p:txBody>
      </p:sp>
      <p:grpSp>
        <p:nvGrpSpPr>
          <p:cNvPr name="Group 15" id="15"/>
          <p:cNvGrpSpPr/>
          <p:nvPr/>
        </p:nvGrpSpPr>
        <p:grpSpPr>
          <a:xfrm rot="0">
            <a:off x="9279265" y="2745343"/>
            <a:ext cx="3980755" cy="2127647"/>
            <a:chOff x="0" y="0"/>
            <a:chExt cx="5307673" cy="2836862"/>
          </a:xfrm>
        </p:grpSpPr>
        <p:sp>
          <p:nvSpPr>
            <p:cNvPr name="Freeform 16" id="16"/>
            <p:cNvSpPr/>
            <p:nvPr/>
          </p:nvSpPr>
          <p:spPr>
            <a:xfrm flipH="false" flipV="false" rot="0">
              <a:off x="0" y="0"/>
              <a:ext cx="5307711" cy="2836799"/>
            </a:xfrm>
            <a:custGeom>
              <a:avLst/>
              <a:gdLst/>
              <a:ahLst/>
              <a:cxnLst/>
              <a:rect r="r" b="b" t="t" l="l"/>
              <a:pathLst>
                <a:path h="2836799" w="5307711">
                  <a:moveTo>
                    <a:pt x="0" y="226949"/>
                  </a:moveTo>
                  <a:cubicBezTo>
                    <a:pt x="0" y="101600"/>
                    <a:pt x="101600" y="0"/>
                    <a:pt x="226949" y="0"/>
                  </a:cubicBezTo>
                  <a:lnTo>
                    <a:pt x="5080762" y="0"/>
                  </a:lnTo>
                  <a:cubicBezTo>
                    <a:pt x="5206111" y="0"/>
                    <a:pt x="5307711" y="101600"/>
                    <a:pt x="5307711" y="226949"/>
                  </a:cubicBezTo>
                  <a:lnTo>
                    <a:pt x="5307711" y="2609850"/>
                  </a:lnTo>
                  <a:cubicBezTo>
                    <a:pt x="5307711" y="2735199"/>
                    <a:pt x="5206111" y="2836799"/>
                    <a:pt x="5080762" y="2836799"/>
                  </a:cubicBezTo>
                  <a:lnTo>
                    <a:pt x="226949" y="2836799"/>
                  </a:lnTo>
                  <a:cubicBezTo>
                    <a:pt x="101600" y="2836799"/>
                    <a:pt x="0" y="2735199"/>
                    <a:pt x="0" y="2609850"/>
                  </a:cubicBezTo>
                  <a:close/>
                </a:path>
              </a:pathLst>
            </a:custGeom>
            <a:solidFill>
              <a:srgbClr val="F0EFEC"/>
            </a:solidFill>
          </p:spPr>
        </p:sp>
      </p:grpSp>
      <p:sp>
        <p:nvSpPr>
          <p:cNvPr name="TextBox 17" id="17"/>
          <p:cNvSpPr txBox="true"/>
          <p:nvPr/>
        </p:nvSpPr>
        <p:spPr>
          <a:xfrm rot="0">
            <a:off x="11082062" y="2925747"/>
            <a:ext cx="512415" cy="975289"/>
          </a:xfrm>
          <a:prstGeom prst="rect">
            <a:avLst/>
          </a:prstGeom>
        </p:spPr>
        <p:txBody>
          <a:bodyPr anchor="t" rtlCol="false" tIns="0" lIns="0" bIns="0" rIns="0">
            <a:spAutoFit/>
          </a:bodyPr>
          <a:lstStyle/>
          <a:p>
            <a:pPr algn="ctr">
              <a:lnSpc>
                <a:spcPts val="7926"/>
              </a:lnSpc>
            </a:pPr>
            <a:r>
              <a:rPr lang="en-US" sz="6004" b="true">
                <a:solidFill>
                  <a:srgbClr val="1F1F1D"/>
                </a:solidFill>
                <a:latin typeface="Inter Bold"/>
                <a:ea typeface="Inter Bold"/>
                <a:cs typeface="Inter Bold"/>
                <a:sym typeface="Inter Bold"/>
              </a:rPr>
              <a:t>4</a:t>
            </a:r>
          </a:p>
        </p:txBody>
      </p:sp>
      <p:sp>
        <p:nvSpPr>
          <p:cNvPr name="TextBox 18" id="18"/>
          <p:cNvSpPr txBox="true"/>
          <p:nvPr/>
        </p:nvSpPr>
        <p:spPr>
          <a:xfrm rot="0">
            <a:off x="9622431" y="4020807"/>
            <a:ext cx="3431677" cy="322684"/>
          </a:xfrm>
          <a:prstGeom prst="rect">
            <a:avLst/>
          </a:prstGeom>
        </p:spPr>
        <p:txBody>
          <a:bodyPr anchor="t" rtlCol="false" tIns="0" lIns="0" bIns="0" rIns="0">
            <a:spAutoFit/>
          </a:bodyPr>
          <a:lstStyle/>
          <a:p>
            <a:pPr algn="ctr">
              <a:lnSpc>
                <a:spcPts val="2576"/>
              </a:lnSpc>
            </a:pPr>
            <a:r>
              <a:rPr lang="en-US" sz="1951">
                <a:solidFill>
                  <a:srgbClr val="6B6A66"/>
                </a:solidFill>
                <a:latin typeface="Inter"/>
                <a:ea typeface="Inter"/>
                <a:cs typeface="Inter"/>
                <a:sym typeface="Inter"/>
              </a:rPr>
              <a:t>clases balanceadas</a:t>
            </a:r>
          </a:p>
        </p:txBody>
      </p:sp>
      <p:grpSp>
        <p:nvGrpSpPr>
          <p:cNvPr name="Group 19" id="19"/>
          <p:cNvGrpSpPr/>
          <p:nvPr/>
        </p:nvGrpSpPr>
        <p:grpSpPr>
          <a:xfrm rot="0">
            <a:off x="13507098" y="2745343"/>
            <a:ext cx="3980755" cy="2127647"/>
            <a:chOff x="0" y="0"/>
            <a:chExt cx="5307673" cy="2836862"/>
          </a:xfrm>
        </p:grpSpPr>
        <p:sp>
          <p:nvSpPr>
            <p:cNvPr name="Freeform 20" id="20"/>
            <p:cNvSpPr/>
            <p:nvPr/>
          </p:nvSpPr>
          <p:spPr>
            <a:xfrm flipH="false" flipV="false" rot="0">
              <a:off x="0" y="0"/>
              <a:ext cx="5307711" cy="2836799"/>
            </a:xfrm>
            <a:custGeom>
              <a:avLst/>
              <a:gdLst/>
              <a:ahLst/>
              <a:cxnLst/>
              <a:rect r="r" b="b" t="t" l="l"/>
              <a:pathLst>
                <a:path h="2836799" w="5307711">
                  <a:moveTo>
                    <a:pt x="0" y="226949"/>
                  </a:moveTo>
                  <a:cubicBezTo>
                    <a:pt x="0" y="101600"/>
                    <a:pt x="101600" y="0"/>
                    <a:pt x="226949" y="0"/>
                  </a:cubicBezTo>
                  <a:lnTo>
                    <a:pt x="5080762" y="0"/>
                  </a:lnTo>
                  <a:cubicBezTo>
                    <a:pt x="5206111" y="0"/>
                    <a:pt x="5307711" y="101600"/>
                    <a:pt x="5307711" y="226949"/>
                  </a:cubicBezTo>
                  <a:lnTo>
                    <a:pt x="5307711" y="2609850"/>
                  </a:lnTo>
                  <a:cubicBezTo>
                    <a:pt x="5307711" y="2735199"/>
                    <a:pt x="5206111" y="2836799"/>
                    <a:pt x="5080762" y="2836799"/>
                  </a:cubicBezTo>
                  <a:lnTo>
                    <a:pt x="226949" y="2836799"/>
                  </a:lnTo>
                  <a:cubicBezTo>
                    <a:pt x="101600" y="2836799"/>
                    <a:pt x="0" y="2735199"/>
                    <a:pt x="0" y="2609850"/>
                  </a:cubicBezTo>
                  <a:close/>
                </a:path>
              </a:pathLst>
            </a:custGeom>
            <a:solidFill>
              <a:srgbClr val="F0EFEC"/>
            </a:solidFill>
          </p:spPr>
        </p:sp>
      </p:grpSp>
      <p:sp>
        <p:nvSpPr>
          <p:cNvPr name="TextBox 21" id="21"/>
          <p:cNvSpPr txBox="true"/>
          <p:nvPr/>
        </p:nvSpPr>
        <p:spPr>
          <a:xfrm rot="0">
            <a:off x="14426154" y="2925747"/>
            <a:ext cx="2279898" cy="975289"/>
          </a:xfrm>
          <a:prstGeom prst="rect">
            <a:avLst/>
          </a:prstGeom>
        </p:spPr>
        <p:txBody>
          <a:bodyPr anchor="t" rtlCol="false" tIns="0" lIns="0" bIns="0" rIns="0">
            <a:spAutoFit/>
          </a:bodyPr>
          <a:lstStyle/>
          <a:p>
            <a:pPr algn="ctr">
              <a:lnSpc>
                <a:spcPts val="7926"/>
              </a:lnSpc>
            </a:pPr>
            <a:r>
              <a:rPr lang="en-US" sz="6004" b="true">
                <a:solidFill>
                  <a:srgbClr val="1F1F1D"/>
                </a:solidFill>
                <a:latin typeface="Inter Bold"/>
                <a:ea typeface="Inter Bold"/>
                <a:cs typeface="Inter Bold"/>
                <a:sym typeface="Inter Bold"/>
              </a:rPr>
              <a:t>100 %</a:t>
            </a:r>
          </a:p>
        </p:txBody>
      </p:sp>
      <p:sp>
        <p:nvSpPr>
          <p:cNvPr name="TextBox 22" id="22"/>
          <p:cNvSpPr txBox="true"/>
          <p:nvPr/>
        </p:nvSpPr>
        <p:spPr>
          <a:xfrm rot="0">
            <a:off x="13850264" y="4020807"/>
            <a:ext cx="3431677" cy="646534"/>
          </a:xfrm>
          <a:prstGeom prst="rect">
            <a:avLst/>
          </a:prstGeom>
        </p:spPr>
        <p:txBody>
          <a:bodyPr anchor="t" rtlCol="false" tIns="0" lIns="0" bIns="0" rIns="0">
            <a:spAutoFit/>
          </a:bodyPr>
          <a:lstStyle/>
          <a:p>
            <a:pPr algn="ctr">
              <a:lnSpc>
                <a:spcPts val="2576"/>
              </a:lnSpc>
            </a:pPr>
            <a:r>
              <a:rPr lang="en-US" sz="1951">
                <a:solidFill>
                  <a:srgbClr val="6B6A66"/>
                </a:solidFill>
                <a:latin typeface="Inter"/>
                <a:ea typeface="Inter"/>
                <a:cs typeface="Inter"/>
                <a:sym typeface="Inter"/>
              </a:rPr>
              <a:t>etiquetas validadas contra la competencia</a:t>
            </a:r>
          </a:p>
        </p:txBody>
      </p:sp>
      <p:graphicFrame>
        <p:nvGraphicFramePr>
          <p:cNvPr name="Table 23" id="23"/>
          <p:cNvGraphicFramePr>
            <a:graphicFrameLocks noGrp="true"/>
          </p:cNvGraphicFramePr>
          <p:nvPr/>
        </p:nvGraphicFramePr>
        <p:xfrm>
          <a:off x="823603" y="5559323"/>
          <a:ext cx="10390367" cy="2059009"/>
        </p:xfrm>
        <a:graphic>
          <a:graphicData uri="http://schemas.openxmlformats.org/drawingml/2006/table">
            <a:tbl>
              <a:tblPr/>
              <a:tblGrid>
                <a:gridCol w="3144453"/>
                <a:gridCol w="1367154"/>
                <a:gridCol w="1162081"/>
                <a:gridCol w="1298796"/>
                <a:gridCol w="1093723"/>
                <a:gridCol w="1162081"/>
                <a:gridCol w="1162081"/>
              </a:tblGrid>
              <a:tr h="686336">
                <a:tc>
                  <a:txBody>
                    <a:bodyPr anchor="t" rtlCol="false"/>
                    <a:lstStyle/>
                    <a:p>
                      <a:pPr algn="l">
                        <a:lnSpc>
                          <a:spcPts val="1679"/>
                        </a:lnSpc>
                        <a:defRPr/>
                      </a:pP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F1FC"/>
                    </a:solidFill>
                  </a:tcPr>
                </a:tc>
                <a:tc>
                  <a:txBody>
                    <a:bodyPr anchor="t" rtlCol="false"/>
                    <a:lstStyle/>
                    <a:p>
                      <a:pPr algn="ctr">
                        <a:lnSpc>
                          <a:spcPts val="2521"/>
                        </a:lnSpc>
                        <a:defRPr/>
                      </a:pPr>
                      <a:r>
                        <a:rPr lang="en-US" sz="2101" b="true">
                          <a:solidFill>
                            <a:srgbClr val="1F1F1D"/>
                          </a:solidFill>
                          <a:latin typeface="Inter Bold"/>
                          <a:ea typeface="Inter Bold"/>
                          <a:cs typeface="Inter Bold"/>
                          <a:sym typeface="Inter Bold"/>
                        </a:rPr>
                        <a:t>Partidos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F1FC"/>
                    </a:solidFill>
                  </a:tcPr>
                </a:tc>
                <a:tc>
                  <a:txBody>
                    <a:bodyPr anchor="t" rtlCol="false"/>
                    <a:lstStyle/>
                    <a:p>
                      <a:pPr algn="ctr">
                        <a:lnSpc>
                          <a:spcPts val="2521"/>
                        </a:lnSpc>
                        <a:defRPr/>
                      </a:pPr>
                      <a:r>
                        <a:rPr lang="en-US" sz="2101" b="true">
                          <a:solidFill>
                            <a:srgbClr val="1F1F1D"/>
                          </a:solidFill>
                          <a:latin typeface="Inter Bold"/>
                          <a:ea typeface="Inter Bold"/>
                          <a:cs typeface="Inter Bold"/>
                          <a:sym typeface="Inter Bold"/>
                        </a:rPr>
                        <a:t>Fondo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F1FC"/>
                    </a:solidFill>
                  </a:tcPr>
                </a:tc>
                <a:tc>
                  <a:txBody>
                    <a:bodyPr anchor="t" rtlCol="false"/>
                    <a:lstStyle/>
                    <a:p>
                      <a:pPr algn="ctr">
                        <a:lnSpc>
                          <a:spcPts val="2521"/>
                        </a:lnSpc>
                        <a:defRPr/>
                      </a:pPr>
                      <a:r>
                        <a:rPr lang="en-US" sz="2101" b="true">
                          <a:solidFill>
                            <a:srgbClr val="1F1F1D"/>
                          </a:solidFill>
                          <a:latin typeface="Inter Bold"/>
                          <a:ea typeface="Inter Bold"/>
                          <a:cs typeface="Inter Bold"/>
                          <a:sym typeface="Inter Bold"/>
                        </a:rPr>
                        <a:t>Disputa</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F1FC"/>
                    </a:solidFill>
                  </a:tcPr>
                </a:tc>
                <a:tc>
                  <a:txBody>
                    <a:bodyPr anchor="t" rtlCol="false"/>
                    <a:lstStyle/>
                    <a:p>
                      <a:pPr algn="ctr">
                        <a:lnSpc>
                          <a:spcPts val="2521"/>
                        </a:lnSpc>
                        <a:defRPr/>
                      </a:pPr>
                      <a:r>
                        <a:rPr lang="en-US" sz="2101" b="true">
                          <a:solidFill>
                            <a:srgbClr val="1F1F1D"/>
                          </a:solidFill>
                          <a:latin typeface="Inter Bold"/>
                          <a:ea typeface="Inter Bold"/>
                          <a:cs typeface="Inter Bold"/>
                          <a:sym typeface="Inter Bold"/>
                        </a:rPr>
                        <a:t>Pase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F1FC"/>
                    </a:solidFill>
                  </a:tcPr>
                </a:tc>
                <a:tc>
                  <a:txBody>
                    <a:bodyPr anchor="t" rtlCol="false"/>
                    <a:lstStyle/>
                    <a:p>
                      <a:pPr algn="ctr">
                        <a:lnSpc>
                          <a:spcPts val="2521"/>
                        </a:lnSpc>
                        <a:defRPr/>
                      </a:pPr>
                      <a:r>
                        <a:rPr lang="en-US" sz="2101" b="true">
                          <a:solidFill>
                            <a:srgbClr val="1F1F1D"/>
                          </a:solidFill>
                          <a:latin typeface="Inter Bold"/>
                          <a:ea typeface="Inter Bold"/>
                          <a:cs typeface="Inter Bold"/>
                          <a:sym typeface="Inter Bold"/>
                        </a:rPr>
                        <a:t>Saque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F1FC"/>
                    </a:solidFill>
                  </a:tcPr>
                </a:tc>
                <a:tc>
                  <a:txBody>
                    <a:bodyPr anchor="t" rtlCol="false"/>
                    <a:lstStyle/>
                    <a:p>
                      <a:pPr algn="ctr">
                        <a:lnSpc>
                          <a:spcPts val="2521"/>
                        </a:lnSpc>
                        <a:defRPr/>
                      </a:pPr>
                      <a:r>
                        <a:rPr lang="en-US" sz="2101" b="true">
                          <a:solidFill>
                            <a:srgbClr val="1F1F1D"/>
                          </a:solidFill>
                          <a:latin typeface="Inter Bold"/>
                          <a:ea typeface="Inter Bold"/>
                          <a:cs typeface="Inter Bold"/>
                          <a:sym typeface="Inter Bold"/>
                        </a:rPr>
                        <a:t>Total</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8F1FC"/>
                    </a:solidFill>
                  </a:tcPr>
                </a:tc>
              </a:tr>
              <a:tr h="686336">
                <a:tc>
                  <a:txBody>
                    <a:bodyPr anchor="t" rtlCol="false"/>
                    <a:lstStyle/>
                    <a:p>
                      <a:pPr algn="l">
                        <a:lnSpc>
                          <a:spcPts val="2521"/>
                        </a:lnSpc>
                        <a:defRPr/>
                      </a:pPr>
                      <a:r>
                        <a:rPr lang="en-US" sz="2101" b="true">
                          <a:solidFill>
                            <a:srgbClr val="1F1F1D"/>
                          </a:solidFill>
                          <a:latin typeface="Inter Bold"/>
                          <a:ea typeface="Inter Bold"/>
                          <a:cs typeface="Inter Bold"/>
                          <a:sym typeface="Inter Bold"/>
                        </a:rPr>
                        <a:t>Entrenamiento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521"/>
                        </a:lnSpc>
                        <a:defRPr/>
                      </a:pPr>
                      <a:r>
                        <a:rPr lang="en-US" sz="2101">
                          <a:solidFill>
                            <a:srgbClr val="1F1F1D"/>
                          </a:solidFill>
                          <a:latin typeface="Inter"/>
                          <a:ea typeface="Inter"/>
                          <a:cs typeface="Inter"/>
                          <a:sym typeface="Inter"/>
                        </a:rPr>
                        <a:t>7</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521"/>
                        </a:lnSpc>
                        <a:defRPr/>
                      </a:pPr>
                      <a:r>
                        <a:rPr lang="en-US" sz="2101">
                          <a:solidFill>
                            <a:srgbClr val="1F1F1D"/>
                          </a:solidFill>
                          <a:latin typeface="Inter"/>
                          <a:ea typeface="Inter"/>
                          <a:cs typeface="Inter"/>
                          <a:sym typeface="Inter"/>
                        </a:rPr>
                        <a:t>100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521"/>
                        </a:lnSpc>
                        <a:defRPr/>
                      </a:pPr>
                      <a:r>
                        <a:rPr lang="en-US" sz="2101">
                          <a:solidFill>
                            <a:srgbClr val="1F1F1D"/>
                          </a:solidFill>
                          <a:latin typeface="Inter"/>
                          <a:ea typeface="Inter"/>
                          <a:cs typeface="Inter"/>
                          <a:sym typeface="Inter"/>
                        </a:rPr>
                        <a:t>100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521"/>
                        </a:lnSpc>
                        <a:defRPr/>
                      </a:pPr>
                      <a:r>
                        <a:rPr lang="en-US" sz="2101">
                          <a:solidFill>
                            <a:srgbClr val="1F1F1D"/>
                          </a:solidFill>
                          <a:latin typeface="Inter"/>
                          <a:ea typeface="Inter"/>
                          <a:cs typeface="Inter"/>
                          <a:sym typeface="Inter"/>
                        </a:rPr>
                        <a:t>100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521"/>
                        </a:lnSpc>
                        <a:defRPr/>
                      </a:pPr>
                      <a:r>
                        <a:rPr lang="en-US" sz="2101">
                          <a:solidFill>
                            <a:srgbClr val="1F1F1D"/>
                          </a:solidFill>
                          <a:latin typeface="Inter"/>
                          <a:ea typeface="Inter"/>
                          <a:cs typeface="Inter"/>
                          <a:sym typeface="Inter"/>
                        </a:rPr>
                        <a:t>100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ctr">
                        <a:lnSpc>
                          <a:spcPts val="2521"/>
                        </a:lnSpc>
                        <a:defRPr/>
                      </a:pPr>
                      <a:r>
                        <a:rPr lang="en-US" sz="2101">
                          <a:solidFill>
                            <a:srgbClr val="1F1F1D"/>
                          </a:solidFill>
                          <a:latin typeface="Inter"/>
                          <a:ea typeface="Inter"/>
                          <a:cs typeface="Inter"/>
                          <a:sym typeface="Inter"/>
                        </a:rPr>
                        <a:t>400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86336">
                <a:tc>
                  <a:txBody>
                    <a:bodyPr anchor="t" rtlCol="false"/>
                    <a:lstStyle/>
                    <a:p>
                      <a:pPr algn="l">
                        <a:lnSpc>
                          <a:spcPts val="2521"/>
                        </a:lnSpc>
                        <a:defRPr/>
                      </a:pPr>
                      <a:r>
                        <a:rPr lang="en-US" sz="2101" b="true">
                          <a:solidFill>
                            <a:srgbClr val="1F1F1D"/>
                          </a:solidFill>
                          <a:latin typeface="Inter Bold"/>
                          <a:ea typeface="Inter Bold"/>
                          <a:cs typeface="Inter Bold"/>
                          <a:sym typeface="Inter Bold"/>
                        </a:rPr>
                        <a:t>Prueba (3c993bd2)</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0EFEC"/>
                    </a:solidFill>
                  </a:tcPr>
                </a:tc>
                <a:tc>
                  <a:txBody>
                    <a:bodyPr anchor="t" rtlCol="false"/>
                    <a:lstStyle/>
                    <a:p>
                      <a:pPr algn="ctr">
                        <a:lnSpc>
                          <a:spcPts val="2521"/>
                        </a:lnSpc>
                        <a:defRPr/>
                      </a:pPr>
                      <a:r>
                        <a:rPr lang="en-US" sz="2101">
                          <a:solidFill>
                            <a:srgbClr val="1F1F1D"/>
                          </a:solidFill>
                          <a:latin typeface="Inter"/>
                          <a:ea typeface="Inter"/>
                          <a:cs typeface="Inter"/>
                          <a:sym typeface="Inter"/>
                        </a:rPr>
                        <a:t>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0EFEC"/>
                    </a:solidFill>
                  </a:tcPr>
                </a:tc>
                <a:tc>
                  <a:txBody>
                    <a:bodyPr anchor="t" rtlCol="false"/>
                    <a:lstStyle/>
                    <a:p>
                      <a:pPr algn="ctr">
                        <a:lnSpc>
                          <a:spcPts val="2521"/>
                        </a:lnSpc>
                        <a:defRPr/>
                      </a:pPr>
                      <a:r>
                        <a:rPr lang="en-US" sz="2101">
                          <a:solidFill>
                            <a:srgbClr val="1F1F1D"/>
                          </a:solidFill>
                          <a:latin typeface="Inter"/>
                          <a:ea typeface="Inter"/>
                          <a:cs typeface="Inter"/>
                          <a:sym typeface="Inter"/>
                        </a:rPr>
                        <a:t>100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0EFEC"/>
                    </a:solidFill>
                  </a:tcPr>
                </a:tc>
                <a:tc>
                  <a:txBody>
                    <a:bodyPr anchor="t" rtlCol="false"/>
                    <a:lstStyle/>
                    <a:p>
                      <a:pPr algn="ctr">
                        <a:lnSpc>
                          <a:spcPts val="2521"/>
                        </a:lnSpc>
                        <a:defRPr/>
                      </a:pPr>
                      <a:r>
                        <a:rPr lang="en-US" sz="2101">
                          <a:solidFill>
                            <a:srgbClr val="1F1F1D"/>
                          </a:solidFill>
                          <a:latin typeface="Inter"/>
                          <a:ea typeface="Inter"/>
                          <a:cs typeface="Inter"/>
                          <a:sym typeface="Inter"/>
                        </a:rPr>
                        <a:t>100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0EFEC"/>
                    </a:solidFill>
                  </a:tcPr>
                </a:tc>
                <a:tc>
                  <a:txBody>
                    <a:bodyPr anchor="t" rtlCol="false"/>
                    <a:lstStyle/>
                    <a:p>
                      <a:pPr algn="ctr">
                        <a:lnSpc>
                          <a:spcPts val="2521"/>
                        </a:lnSpc>
                        <a:defRPr/>
                      </a:pPr>
                      <a:r>
                        <a:rPr lang="en-US" sz="2101">
                          <a:solidFill>
                            <a:srgbClr val="1F1F1D"/>
                          </a:solidFill>
                          <a:latin typeface="Inter"/>
                          <a:ea typeface="Inter"/>
                          <a:cs typeface="Inter"/>
                          <a:sym typeface="Inter"/>
                        </a:rPr>
                        <a:t>100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0EFEC"/>
                    </a:solidFill>
                  </a:tcPr>
                </a:tc>
                <a:tc>
                  <a:txBody>
                    <a:bodyPr anchor="t" rtlCol="false"/>
                    <a:lstStyle/>
                    <a:p>
                      <a:pPr algn="ctr">
                        <a:lnSpc>
                          <a:spcPts val="2521"/>
                        </a:lnSpc>
                        <a:defRPr/>
                      </a:pPr>
                      <a:r>
                        <a:rPr lang="en-US" sz="2101">
                          <a:solidFill>
                            <a:srgbClr val="1F1F1D"/>
                          </a:solidFill>
                          <a:latin typeface="Inter"/>
                          <a:ea typeface="Inter"/>
                          <a:cs typeface="Inter"/>
                          <a:sym typeface="Inter"/>
                        </a:rPr>
                        <a:t>62</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0EFEC"/>
                    </a:solidFill>
                  </a:tcPr>
                </a:tc>
                <a:tc>
                  <a:txBody>
                    <a:bodyPr anchor="t" rtlCol="false"/>
                    <a:lstStyle/>
                    <a:p>
                      <a:pPr algn="ctr">
                        <a:lnSpc>
                          <a:spcPts val="2521"/>
                        </a:lnSpc>
                        <a:defRPr/>
                      </a:pPr>
                      <a:r>
                        <a:rPr lang="en-US" sz="2101">
                          <a:solidFill>
                            <a:srgbClr val="1F1F1D"/>
                          </a:solidFill>
                          <a:latin typeface="Inter"/>
                          <a:ea typeface="Inter"/>
                          <a:cs typeface="Inter"/>
                          <a:sym typeface="Inter"/>
                        </a:rPr>
                        <a:t>362</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0EFEC"/>
                    </a:solidFill>
                  </a:tcPr>
                </a:tc>
              </a:tr>
            </a:tbl>
          </a:graphicData>
        </a:graphic>
      </p:graphicFrame>
      <p:grpSp>
        <p:nvGrpSpPr>
          <p:cNvPr name="Group 24" id="24"/>
          <p:cNvGrpSpPr/>
          <p:nvPr/>
        </p:nvGrpSpPr>
        <p:grpSpPr>
          <a:xfrm rot="0">
            <a:off x="11804980" y="5559323"/>
            <a:ext cx="5669137" cy="2636739"/>
            <a:chOff x="0" y="0"/>
            <a:chExt cx="7558849" cy="3515652"/>
          </a:xfrm>
        </p:grpSpPr>
        <p:sp>
          <p:nvSpPr>
            <p:cNvPr name="Freeform 25" id="25" descr="portada.jpg"/>
            <p:cNvSpPr/>
            <p:nvPr/>
          </p:nvSpPr>
          <p:spPr>
            <a:xfrm flipH="false" flipV="false" rot="0">
              <a:off x="0" y="0"/>
              <a:ext cx="7558786" cy="3515614"/>
            </a:xfrm>
            <a:custGeom>
              <a:avLst/>
              <a:gdLst/>
              <a:ahLst/>
              <a:cxnLst/>
              <a:rect r="r" b="b" t="t" l="l"/>
              <a:pathLst>
                <a:path h="3515614" w="7558786">
                  <a:moveTo>
                    <a:pt x="0" y="0"/>
                  </a:moveTo>
                  <a:lnTo>
                    <a:pt x="7558786" y="0"/>
                  </a:lnTo>
                  <a:lnTo>
                    <a:pt x="7558786" y="3515614"/>
                  </a:lnTo>
                  <a:lnTo>
                    <a:pt x="0" y="3515614"/>
                  </a:lnTo>
                  <a:lnTo>
                    <a:pt x="0" y="0"/>
                  </a:lnTo>
                  <a:close/>
                </a:path>
              </a:pathLst>
            </a:custGeom>
            <a:blipFill>
              <a:blip r:embed="rId3"/>
              <a:stretch>
                <a:fillRect l="0" t="0" r="0" b="-1"/>
              </a:stretch>
            </a:blipFill>
          </p:spPr>
        </p:sp>
      </p:grpSp>
      <p:sp>
        <p:nvSpPr>
          <p:cNvPr name="TextBox 26" id="26"/>
          <p:cNvSpPr txBox="true"/>
          <p:nvPr/>
        </p:nvSpPr>
        <p:spPr>
          <a:xfrm rot="0">
            <a:off x="11818715" y="8300837"/>
            <a:ext cx="5669137" cy="279634"/>
          </a:xfrm>
          <a:prstGeom prst="rect">
            <a:avLst/>
          </a:prstGeom>
        </p:spPr>
        <p:txBody>
          <a:bodyPr anchor="t" rtlCol="false" tIns="0" lIns="0" bIns="0" rIns="0">
            <a:spAutoFit/>
          </a:bodyPr>
          <a:lstStyle/>
          <a:p>
            <a:pPr algn="ctr">
              <a:lnSpc>
                <a:spcPts val="2179"/>
              </a:lnSpc>
            </a:pPr>
            <a:r>
              <a:rPr lang="en-US" sz="1651">
                <a:solidFill>
                  <a:srgbClr val="6B6A66"/>
                </a:solidFill>
                <a:latin typeface="Inter"/>
                <a:ea typeface="Inter"/>
                <a:cs typeface="Inter"/>
                <a:sym typeface="Inter"/>
              </a:rPr>
              <a:t>Transmisión original: 1920 × 1080, 25 fps</a:t>
            </a:r>
          </a:p>
        </p:txBody>
      </p:sp>
      <p:sp>
        <p:nvSpPr>
          <p:cNvPr name="TextBox 27" id="27"/>
          <p:cNvSpPr txBox="true"/>
          <p:nvPr/>
        </p:nvSpPr>
        <p:spPr>
          <a:xfrm rot="0">
            <a:off x="837328" y="7732632"/>
            <a:ext cx="10432313" cy="286872"/>
          </a:xfrm>
          <a:prstGeom prst="rect">
            <a:avLst/>
          </a:prstGeom>
        </p:spPr>
        <p:txBody>
          <a:bodyPr anchor="t" rtlCol="false" tIns="0" lIns="0" bIns="0" rIns="0">
            <a:spAutoFit/>
          </a:bodyPr>
          <a:lstStyle/>
          <a:p>
            <a:pPr algn="ctr">
              <a:lnSpc>
                <a:spcPts val="2377"/>
              </a:lnSpc>
            </a:pPr>
            <a:r>
              <a:rPr lang="en-US" sz="1801">
                <a:solidFill>
                  <a:srgbClr val="6B6A66"/>
                </a:solidFill>
                <a:latin typeface="Inter"/>
                <a:ea typeface="Inter"/>
                <a:cs typeface="Inter"/>
                <a:sym typeface="Inter"/>
              </a:rPr>
              <a:t>Fuente: Hugging Face ManuD/dfl_clips, derivado de DFL – Bundesliga Data Shootout (Kaggle).</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CFCFB"/>
        </a:solidFill>
      </p:bgPr>
    </p:bg>
    <p:spTree>
      <p:nvGrpSpPr>
        <p:cNvPr id="1" name=""/>
        <p:cNvGrpSpPr/>
        <p:nvPr/>
      </p:nvGrpSpPr>
      <p:grpSpPr>
        <a:xfrm>
          <a:off x="0" y="0"/>
          <a:ext cx="0" cy="0"/>
          <a:chOff x="0" y="0"/>
          <a:chExt cx="0" cy="0"/>
        </a:xfrm>
      </p:grpSpPr>
      <p:grpSp>
        <p:nvGrpSpPr>
          <p:cNvPr name="Group 2" id="2"/>
          <p:cNvGrpSpPr/>
          <p:nvPr/>
        </p:nvGrpSpPr>
        <p:grpSpPr>
          <a:xfrm rot="0">
            <a:off x="823608" y="617706"/>
            <a:ext cx="109814" cy="439255"/>
            <a:chOff x="0" y="0"/>
            <a:chExt cx="146418" cy="585673"/>
          </a:xfrm>
        </p:grpSpPr>
        <p:sp>
          <p:nvSpPr>
            <p:cNvPr name="Freeform 3" id="3"/>
            <p:cNvSpPr/>
            <p:nvPr/>
          </p:nvSpPr>
          <p:spPr>
            <a:xfrm flipH="false" flipV="false" rot="0">
              <a:off x="0" y="0"/>
              <a:ext cx="146431" cy="585724"/>
            </a:xfrm>
            <a:custGeom>
              <a:avLst/>
              <a:gdLst/>
              <a:ahLst/>
              <a:cxnLst/>
              <a:rect r="r" b="b" t="t" l="l"/>
              <a:pathLst>
                <a:path h="585724" w="146431">
                  <a:moveTo>
                    <a:pt x="0" y="0"/>
                  </a:moveTo>
                  <a:lnTo>
                    <a:pt x="146431" y="0"/>
                  </a:lnTo>
                  <a:lnTo>
                    <a:pt x="146431" y="585724"/>
                  </a:lnTo>
                  <a:lnTo>
                    <a:pt x="0" y="585724"/>
                  </a:lnTo>
                  <a:close/>
                </a:path>
              </a:pathLst>
            </a:custGeom>
            <a:solidFill>
              <a:srgbClr val="2A78D6"/>
            </a:solidFill>
          </p:spPr>
        </p:sp>
      </p:grpSp>
      <p:sp>
        <p:nvSpPr>
          <p:cNvPr name="TextBox 4" id="4"/>
          <p:cNvSpPr txBox="true"/>
          <p:nvPr/>
        </p:nvSpPr>
        <p:spPr>
          <a:xfrm rot="0">
            <a:off x="1039768" y="684372"/>
            <a:ext cx="12354049" cy="286872"/>
          </a:xfrm>
          <a:prstGeom prst="rect">
            <a:avLst/>
          </a:prstGeom>
        </p:spPr>
        <p:txBody>
          <a:bodyPr anchor="t" rtlCol="false" tIns="0" lIns="0" bIns="0" rIns="0">
            <a:spAutoFit/>
          </a:bodyPr>
          <a:lstStyle/>
          <a:p>
            <a:pPr algn="l">
              <a:lnSpc>
                <a:spcPts val="2377"/>
              </a:lnSpc>
            </a:pPr>
            <a:r>
              <a:rPr lang="en-US" sz="1801" b="true">
                <a:solidFill>
                  <a:srgbClr val="2A78D6"/>
                </a:solidFill>
                <a:latin typeface="Inter Bold"/>
                <a:ea typeface="Inter Bold"/>
                <a:cs typeface="Inter Bold"/>
                <a:sym typeface="Inter Bold"/>
              </a:rPr>
              <a:t>2 · SOLUCIÓN Y DISEÑO</a:t>
            </a:r>
            <a:r>
              <a:rPr lang="en-US" sz="1801">
                <a:solidFill>
                  <a:srgbClr val="6B6A66"/>
                </a:solidFill>
                <a:latin typeface="Inter"/>
                <a:ea typeface="Inter"/>
                <a:cs typeface="Inter"/>
                <a:sym typeface="Inter"/>
              </a:rPr>
              <a:t>  </a:t>
            </a:r>
          </a:p>
        </p:txBody>
      </p:sp>
      <p:sp>
        <p:nvSpPr>
          <p:cNvPr name="TextBox 5" id="5"/>
          <p:cNvSpPr txBox="true"/>
          <p:nvPr/>
        </p:nvSpPr>
        <p:spPr>
          <a:xfrm rot="0">
            <a:off x="823608" y="1178252"/>
            <a:ext cx="16609333" cy="1429826"/>
          </a:xfrm>
          <a:prstGeom prst="rect">
            <a:avLst/>
          </a:prstGeom>
        </p:spPr>
        <p:txBody>
          <a:bodyPr anchor="t" rtlCol="false" tIns="0" lIns="0" bIns="0" rIns="0">
            <a:spAutoFit/>
          </a:bodyPr>
          <a:lstStyle/>
          <a:p>
            <a:pPr algn="l">
              <a:lnSpc>
                <a:spcPts val="5944"/>
              </a:lnSpc>
            </a:pPr>
            <a:r>
              <a:rPr lang="en-US" sz="4503" b="true">
                <a:solidFill>
                  <a:srgbClr val="1F1F1D"/>
                </a:solidFill>
                <a:latin typeface="Inter Bold"/>
                <a:ea typeface="Inter Bold"/>
                <a:cs typeface="Inter Bold"/>
                <a:sym typeface="Inter Bold"/>
              </a:rPr>
              <a:t>Arquitectura: el mismo flujo para entrenar y para la app</a:t>
            </a:r>
          </a:p>
        </p:txBody>
      </p:sp>
      <p:sp>
        <p:nvSpPr>
          <p:cNvPr name="TextBox 6" id="6"/>
          <p:cNvSpPr txBox="true"/>
          <p:nvPr/>
        </p:nvSpPr>
        <p:spPr>
          <a:xfrm rot="0">
            <a:off x="16746607" y="9580131"/>
            <a:ext cx="823608" cy="440379"/>
          </a:xfrm>
          <a:prstGeom prst="rect">
            <a:avLst/>
          </a:prstGeom>
        </p:spPr>
        <p:txBody>
          <a:bodyPr anchor="t" rtlCol="false" tIns="0" lIns="0" bIns="0" rIns="0">
            <a:spAutoFit/>
          </a:bodyPr>
          <a:lstStyle/>
          <a:p>
            <a:pPr algn="r">
              <a:lnSpc>
                <a:spcPts val="2179"/>
              </a:lnSpc>
            </a:pPr>
            <a:r>
              <a:rPr lang="en-US" sz="1651">
                <a:solidFill>
                  <a:srgbClr val="6B6A66"/>
                </a:solidFill>
                <a:latin typeface="Inter"/>
                <a:ea typeface="Inter"/>
                <a:cs typeface="Inter"/>
                <a:sym typeface="Inter"/>
              </a:rPr>
              <a:t>4</a:t>
            </a:r>
          </a:p>
        </p:txBody>
      </p:sp>
      <p:grpSp>
        <p:nvGrpSpPr>
          <p:cNvPr name="Group 7" id="7"/>
          <p:cNvGrpSpPr/>
          <p:nvPr/>
        </p:nvGrpSpPr>
        <p:grpSpPr>
          <a:xfrm rot="0">
            <a:off x="665469" y="2813980"/>
            <a:ext cx="2951245" cy="2539441"/>
            <a:chOff x="0" y="0"/>
            <a:chExt cx="3934993" cy="3385922"/>
          </a:xfrm>
        </p:grpSpPr>
        <p:sp>
          <p:nvSpPr>
            <p:cNvPr name="Freeform 8" id="8"/>
            <p:cNvSpPr/>
            <p:nvPr/>
          </p:nvSpPr>
          <p:spPr>
            <a:xfrm flipH="false" flipV="false" rot="0">
              <a:off x="0" y="0"/>
              <a:ext cx="3934968" cy="3385947"/>
            </a:xfrm>
            <a:custGeom>
              <a:avLst/>
              <a:gdLst/>
              <a:ahLst/>
              <a:cxnLst/>
              <a:rect r="r" b="b" t="t" l="l"/>
              <a:pathLst>
                <a:path h="3385947" w="3934968">
                  <a:moveTo>
                    <a:pt x="0" y="338582"/>
                  </a:moveTo>
                  <a:cubicBezTo>
                    <a:pt x="0" y="151638"/>
                    <a:pt x="151638" y="0"/>
                    <a:pt x="338582" y="0"/>
                  </a:cubicBezTo>
                  <a:lnTo>
                    <a:pt x="3596386" y="0"/>
                  </a:lnTo>
                  <a:cubicBezTo>
                    <a:pt x="3783330" y="0"/>
                    <a:pt x="3934968" y="151638"/>
                    <a:pt x="3934968" y="338582"/>
                  </a:cubicBezTo>
                  <a:lnTo>
                    <a:pt x="3934968" y="3047365"/>
                  </a:lnTo>
                  <a:cubicBezTo>
                    <a:pt x="3934968" y="3234309"/>
                    <a:pt x="3783330" y="3385947"/>
                    <a:pt x="3596386" y="3385947"/>
                  </a:cubicBezTo>
                  <a:lnTo>
                    <a:pt x="338582" y="3385947"/>
                  </a:lnTo>
                  <a:cubicBezTo>
                    <a:pt x="151638" y="3385947"/>
                    <a:pt x="0" y="3234309"/>
                    <a:pt x="0" y="3047365"/>
                  </a:cubicBezTo>
                  <a:close/>
                </a:path>
              </a:pathLst>
            </a:custGeom>
            <a:solidFill>
              <a:srgbClr val="F0EFEC"/>
            </a:solidFill>
          </p:spPr>
        </p:sp>
      </p:grpSp>
      <p:sp>
        <p:nvSpPr>
          <p:cNvPr name="TextBox 9" id="9"/>
          <p:cNvSpPr txBox="true"/>
          <p:nvPr/>
        </p:nvSpPr>
        <p:spPr>
          <a:xfrm rot="0">
            <a:off x="802734" y="2963847"/>
            <a:ext cx="2676716" cy="714908"/>
          </a:xfrm>
          <a:prstGeom prst="rect">
            <a:avLst/>
          </a:prstGeom>
        </p:spPr>
        <p:txBody>
          <a:bodyPr anchor="t" rtlCol="false" tIns="0" lIns="0" bIns="0" rIns="0">
            <a:spAutoFit/>
          </a:bodyPr>
          <a:lstStyle/>
          <a:p>
            <a:pPr algn="ctr">
              <a:lnSpc>
                <a:spcPts val="3368"/>
              </a:lnSpc>
            </a:pPr>
            <a:r>
              <a:rPr lang="en-US" sz="2551" b="true">
                <a:solidFill>
                  <a:srgbClr val="1F1F1D"/>
                </a:solidFill>
                <a:latin typeface="Inter Bold"/>
                <a:ea typeface="Inter Bold"/>
                <a:cs typeface="Inter Bold"/>
                <a:sym typeface="Inter Bold"/>
              </a:rPr>
              <a:t>Video .mp4</a:t>
            </a:r>
          </a:p>
        </p:txBody>
      </p:sp>
      <p:sp>
        <p:nvSpPr>
          <p:cNvPr name="TextBox 10" id="10"/>
          <p:cNvSpPr txBox="true"/>
          <p:nvPr/>
        </p:nvSpPr>
        <p:spPr>
          <a:xfrm rot="0">
            <a:off x="830185" y="3659715"/>
            <a:ext cx="2621804" cy="1048550"/>
          </a:xfrm>
          <a:prstGeom prst="rect">
            <a:avLst/>
          </a:prstGeom>
        </p:spPr>
        <p:txBody>
          <a:bodyPr anchor="t" rtlCol="false" tIns="0" lIns="0" bIns="0" rIns="0">
            <a:spAutoFit/>
          </a:bodyPr>
          <a:lstStyle/>
          <a:p>
            <a:pPr algn="ctr">
              <a:lnSpc>
                <a:spcPts val="2377"/>
              </a:lnSpc>
            </a:pPr>
            <a:r>
              <a:rPr lang="en-US" sz="1801">
                <a:solidFill>
                  <a:srgbClr val="6B6A66"/>
                </a:solidFill>
                <a:latin typeface="Inter"/>
                <a:ea typeface="Inter"/>
                <a:cs typeface="Inter"/>
                <a:sym typeface="Inter"/>
              </a:rPr>
              <a:t>transmisión 1920×1080</a:t>
            </a:r>
          </a:p>
        </p:txBody>
      </p:sp>
      <p:sp>
        <p:nvSpPr>
          <p:cNvPr name="TextBox 11" id="11"/>
          <p:cNvSpPr txBox="true"/>
          <p:nvPr/>
        </p:nvSpPr>
        <p:spPr>
          <a:xfrm rot="0">
            <a:off x="802734" y="4665964"/>
            <a:ext cx="2676716" cy="577644"/>
          </a:xfrm>
          <a:prstGeom prst="rect">
            <a:avLst/>
          </a:prstGeom>
        </p:spPr>
        <p:txBody>
          <a:bodyPr anchor="t" rtlCol="false" tIns="0" lIns="0" bIns="0" rIns="0">
            <a:spAutoFit/>
          </a:bodyPr>
          <a:lstStyle/>
          <a:p>
            <a:pPr algn="ctr">
              <a:lnSpc>
                <a:spcPts val="2179"/>
              </a:lnSpc>
            </a:pPr>
            <a:r>
              <a:rPr lang="en-US" sz="1651" b="true">
                <a:solidFill>
                  <a:srgbClr val="2A78D6"/>
                </a:solidFill>
                <a:latin typeface="Inter Bold"/>
                <a:ea typeface="Inter Bold"/>
                <a:cs typeface="Inter Bold"/>
                <a:sym typeface="Inter Bold"/>
              </a:rPr>
              <a:t>OpenCV</a:t>
            </a:r>
          </a:p>
        </p:txBody>
      </p:sp>
      <p:sp>
        <p:nvSpPr>
          <p:cNvPr name="AutoShape 12" id="12"/>
          <p:cNvSpPr/>
          <p:nvPr/>
        </p:nvSpPr>
        <p:spPr>
          <a:xfrm>
            <a:off x="3616695" y="4083701"/>
            <a:ext cx="480451" cy="0"/>
          </a:xfrm>
          <a:prstGeom prst="line">
            <a:avLst/>
          </a:prstGeom>
          <a:ln cap="rnd" w="19050">
            <a:solidFill>
              <a:srgbClr val="6B6A66"/>
            </a:solidFill>
            <a:prstDash val="solid"/>
            <a:headEnd type="none" len="sm" w="sm"/>
            <a:tailEnd type="triangle" len="med" w="lg"/>
          </a:ln>
        </p:spPr>
      </p:sp>
      <p:grpSp>
        <p:nvGrpSpPr>
          <p:cNvPr name="Group 13" id="13"/>
          <p:cNvGrpSpPr/>
          <p:nvPr/>
        </p:nvGrpSpPr>
        <p:grpSpPr>
          <a:xfrm rot="0">
            <a:off x="4097145" y="2813980"/>
            <a:ext cx="3269752" cy="2539441"/>
            <a:chOff x="0" y="0"/>
            <a:chExt cx="4359669" cy="3385922"/>
          </a:xfrm>
        </p:grpSpPr>
        <p:sp>
          <p:nvSpPr>
            <p:cNvPr name="Freeform 14" id="14"/>
            <p:cNvSpPr/>
            <p:nvPr/>
          </p:nvSpPr>
          <p:spPr>
            <a:xfrm flipH="false" flipV="false" rot="0">
              <a:off x="0" y="0"/>
              <a:ext cx="4359640" cy="3385947"/>
            </a:xfrm>
            <a:custGeom>
              <a:avLst/>
              <a:gdLst/>
              <a:ahLst/>
              <a:cxnLst/>
              <a:rect r="r" b="b" t="t" l="l"/>
              <a:pathLst>
                <a:path h="3385947" w="4359640">
                  <a:moveTo>
                    <a:pt x="0" y="338582"/>
                  </a:moveTo>
                  <a:cubicBezTo>
                    <a:pt x="0" y="151638"/>
                    <a:pt x="168003" y="0"/>
                    <a:pt x="375123" y="0"/>
                  </a:cubicBezTo>
                  <a:lnTo>
                    <a:pt x="3984518" y="0"/>
                  </a:lnTo>
                  <a:cubicBezTo>
                    <a:pt x="4191637" y="0"/>
                    <a:pt x="4359640" y="151638"/>
                    <a:pt x="4359640" y="338582"/>
                  </a:cubicBezTo>
                  <a:lnTo>
                    <a:pt x="4359640" y="3047365"/>
                  </a:lnTo>
                  <a:cubicBezTo>
                    <a:pt x="4359640" y="3234309"/>
                    <a:pt x="4191637" y="3385947"/>
                    <a:pt x="3984518" y="3385947"/>
                  </a:cubicBezTo>
                  <a:lnTo>
                    <a:pt x="375123" y="3385947"/>
                  </a:lnTo>
                  <a:cubicBezTo>
                    <a:pt x="168003" y="3385947"/>
                    <a:pt x="0" y="3234309"/>
                    <a:pt x="0" y="3047365"/>
                  </a:cubicBezTo>
                  <a:close/>
                </a:path>
              </a:pathLst>
            </a:custGeom>
            <a:solidFill>
              <a:srgbClr val="F0EFEC"/>
            </a:solidFill>
          </p:spPr>
        </p:sp>
      </p:grpSp>
      <p:sp>
        <p:nvSpPr>
          <p:cNvPr name="TextBox 15" id="15"/>
          <p:cNvSpPr txBox="true"/>
          <p:nvPr/>
        </p:nvSpPr>
        <p:spPr>
          <a:xfrm rot="0">
            <a:off x="4234410" y="2963847"/>
            <a:ext cx="2972858" cy="408783"/>
          </a:xfrm>
          <a:prstGeom prst="rect">
            <a:avLst/>
          </a:prstGeom>
        </p:spPr>
        <p:txBody>
          <a:bodyPr anchor="t" rtlCol="false" tIns="0" lIns="0" bIns="0" rIns="0">
            <a:spAutoFit/>
          </a:bodyPr>
          <a:lstStyle/>
          <a:p>
            <a:pPr algn="ctr">
              <a:lnSpc>
                <a:spcPts val="3368"/>
              </a:lnSpc>
            </a:pPr>
            <a:r>
              <a:rPr lang="en-US" sz="2551" b="true">
                <a:solidFill>
                  <a:srgbClr val="1F1F1D"/>
                </a:solidFill>
                <a:latin typeface="Inter Bold"/>
                <a:ea typeface="Inter Bold"/>
                <a:cs typeface="Inter Bold"/>
                <a:sym typeface="Inter Bold"/>
              </a:rPr>
              <a:t>Preprocesamiento</a:t>
            </a:r>
          </a:p>
        </p:txBody>
      </p:sp>
      <p:sp>
        <p:nvSpPr>
          <p:cNvPr name="TextBox 16" id="16"/>
          <p:cNvSpPr txBox="true"/>
          <p:nvPr/>
        </p:nvSpPr>
        <p:spPr>
          <a:xfrm rot="0">
            <a:off x="4261871" y="3659715"/>
            <a:ext cx="2621804" cy="1048550"/>
          </a:xfrm>
          <a:prstGeom prst="rect">
            <a:avLst/>
          </a:prstGeom>
        </p:spPr>
        <p:txBody>
          <a:bodyPr anchor="t" rtlCol="false" tIns="0" lIns="0" bIns="0" rIns="0">
            <a:spAutoFit/>
          </a:bodyPr>
          <a:lstStyle/>
          <a:p>
            <a:pPr algn="ctr">
              <a:lnSpc>
                <a:spcPts val="2377"/>
              </a:lnSpc>
            </a:pPr>
            <a:r>
              <a:rPr lang="en-US" sz="1801">
                <a:solidFill>
                  <a:srgbClr val="6B6A66"/>
                </a:solidFill>
                <a:latin typeface="Inter"/>
                <a:ea typeface="Inter"/>
                <a:cs typeface="Inter"/>
                <a:sym typeface="Inter"/>
              </a:rPr>
              <a:t>ventana 1.62 s, 16 cuadros, sin marcador</a:t>
            </a:r>
          </a:p>
        </p:txBody>
      </p:sp>
      <p:sp>
        <p:nvSpPr>
          <p:cNvPr name="TextBox 17" id="17"/>
          <p:cNvSpPr txBox="true"/>
          <p:nvPr/>
        </p:nvSpPr>
        <p:spPr>
          <a:xfrm rot="0">
            <a:off x="4234410" y="4665964"/>
            <a:ext cx="2676716" cy="577644"/>
          </a:xfrm>
          <a:prstGeom prst="rect">
            <a:avLst/>
          </a:prstGeom>
        </p:spPr>
        <p:txBody>
          <a:bodyPr anchor="t" rtlCol="false" tIns="0" lIns="0" bIns="0" rIns="0">
            <a:spAutoFit/>
          </a:bodyPr>
          <a:lstStyle/>
          <a:p>
            <a:pPr algn="ctr">
              <a:lnSpc>
                <a:spcPts val="2179"/>
              </a:lnSpc>
            </a:pPr>
            <a:r>
              <a:rPr lang="en-US" sz="1651" b="true">
                <a:solidFill>
                  <a:srgbClr val="2A78D6"/>
                </a:solidFill>
                <a:latin typeface="Inter Bold"/>
                <a:ea typeface="Inter Bold"/>
                <a:cs typeface="Inter Bold"/>
                <a:sym typeface="Inter Bold"/>
              </a:rPr>
              <a:t>OpenCV</a:t>
            </a:r>
          </a:p>
        </p:txBody>
      </p:sp>
      <p:sp>
        <p:nvSpPr>
          <p:cNvPr name="AutoShape 18" id="18"/>
          <p:cNvSpPr/>
          <p:nvPr/>
        </p:nvSpPr>
        <p:spPr>
          <a:xfrm>
            <a:off x="7366876" y="4083701"/>
            <a:ext cx="476271" cy="0"/>
          </a:xfrm>
          <a:prstGeom prst="line">
            <a:avLst/>
          </a:prstGeom>
          <a:ln cap="rnd" w="19050">
            <a:solidFill>
              <a:srgbClr val="6B6A66"/>
            </a:solidFill>
            <a:prstDash val="solid"/>
            <a:headEnd type="none" len="sm" w="sm"/>
            <a:tailEnd type="triangle" len="med" w="lg"/>
          </a:ln>
        </p:spPr>
      </p:sp>
      <p:grpSp>
        <p:nvGrpSpPr>
          <p:cNvPr name="Group 19" id="19"/>
          <p:cNvGrpSpPr/>
          <p:nvPr/>
        </p:nvGrpSpPr>
        <p:grpSpPr>
          <a:xfrm rot="0">
            <a:off x="7843147" y="2813980"/>
            <a:ext cx="2951245" cy="2539441"/>
            <a:chOff x="0" y="0"/>
            <a:chExt cx="3934993" cy="3385922"/>
          </a:xfrm>
        </p:grpSpPr>
        <p:sp>
          <p:nvSpPr>
            <p:cNvPr name="Freeform 20" id="20"/>
            <p:cNvSpPr/>
            <p:nvPr/>
          </p:nvSpPr>
          <p:spPr>
            <a:xfrm flipH="false" flipV="false" rot="0">
              <a:off x="0" y="0"/>
              <a:ext cx="3934968" cy="3385947"/>
            </a:xfrm>
            <a:custGeom>
              <a:avLst/>
              <a:gdLst/>
              <a:ahLst/>
              <a:cxnLst/>
              <a:rect r="r" b="b" t="t" l="l"/>
              <a:pathLst>
                <a:path h="3385947" w="3934968">
                  <a:moveTo>
                    <a:pt x="0" y="338582"/>
                  </a:moveTo>
                  <a:cubicBezTo>
                    <a:pt x="0" y="151638"/>
                    <a:pt x="151638" y="0"/>
                    <a:pt x="338582" y="0"/>
                  </a:cubicBezTo>
                  <a:lnTo>
                    <a:pt x="3596386" y="0"/>
                  </a:lnTo>
                  <a:cubicBezTo>
                    <a:pt x="3783330" y="0"/>
                    <a:pt x="3934968" y="151638"/>
                    <a:pt x="3934968" y="338582"/>
                  </a:cubicBezTo>
                  <a:lnTo>
                    <a:pt x="3934968" y="3047365"/>
                  </a:lnTo>
                  <a:cubicBezTo>
                    <a:pt x="3934968" y="3234309"/>
                    <a:pt x="3783330" y="3385947"/>
                    <a:pt x="3596386" y="3385947"/>
                  </a:cubicBezTo>
                  <a:lnTo>
                    <a:pt x="338582" y="3385947"/>
                  </a:lnTo>
                  <a:cubicBezTo>
                    <a:pt x="151638" y="3385947"/>
                    <a:pt x="0" y="3234309"/>
                    <a:pt x="0" y="3047365"/>
                  </a:cubicBezTo>
                  <a:close/>
                </a:path>
              </a:pathLst>
            </a:custGeom>
            <a:solidFill>
              <a:srgbClr val="F0EFEC"/>
            </a:solidFill>
          </p:spPr>
        </p:sp>
      </p:grpSp>
      <p:sp>
        <p:nvSpPr>
          <p:cNvPr name="TextBox 21" id="21"/>
          <p:cNvSpPr txBox="true"/>
          <p:nvPr/>
        </p:nvSpPr>
        <p:spPr>
          <a:xfrm rot="0">
            <a:off x="7980421" y="2963847"/>
            <a:ext cx="2676716" cy="714908"/>
          </a:xfrm>
          <a:prstGeom prst="rect">
            <a:avLst/>
          </a:prstGeom>
        </p:spPr>
        <p:txBody>
          <a:bodyPr anchor="t" rtlCol="false" tIns="0" lIns="0" bIns="0" rIns="0">
            <a:spAutoFit/>
          </a:bodyPr>
          <a:lstStyle/>
          <a:p>
            <a:pPr algn="ctr">
              <a:lnSpc>
                <a:spcPts val="3368"/>
              </a:lnSpc>
            </a:pPr>
            <a:r>
              <a:rPr lang="en-US" sz="2551" b="true">
                <a:solidFill>
                  <a:srgbClr val="1F1F1D"/>
                </a:solidFill>
                <a:latin typeface="Inter Bold"/>
                <a:ea typeface="Inter Bold"/>
                <a:cs typeface="Inter Bold"/>
                <a:sym typeface="Inter Bold"/>
              </a:rPr>
              <a:t>Variables</a:t>
            </a:r>
          </a:p>
        </p:txBody>
      </p:sp>
      <p:sp>
        <p:nvSpPr>
          <p:cNvPr name="TextBox 22" id="22"/>
          <p:cNvSpPr txBox="true"/>
          <p:nvPr/>
        </p:nvSpPr>
        <p:spPr>
          <a:xfrm rot="0">
            <a:off x="8007872" y="3659715"/>
            <a:ext cx="2621804" cy="1048550"/>
          </a:xfrm>
          <a:prstGeom prst="rect">
            <a:avLst/>
          </a:prstGeom>
        </p:spPr>
        <p:txBody>
          <a:bodyPr anchor="t" rtlCol="false" tIns="0" lIns="0" bIns="0" rIns="0">
            <a:spAutoFit/>
          </a:bodyPr>
          <a:lstStyle/>
          <a:p>
            <a:pPr algn="ctr">
              <a:lnSpc>
                <a:spcPts val="2377"/>
              </a:lnSpc>
            </a:pPr>
            <a:r>
              <a:rPr lang="en-US" sz="1801">
                <a:solidFill>
                  <a:srgbClr val="6B6A66"/>
                </a:solidFill>
                <a:latin typeface="Inter"/>
                <a:ea typeface="Inter"/>
                <a:cs typeface="Inter"/>
                <a:sym typeface="Inter"/>
              </a:rPr>
              <a:t>flujo óptico · YOLOv8 · ResNet18</a:t>
            </a:r>
          </a:p>
        </p:txBody>
      </p:sp>
      <p:sp>
        <p:nvSpPr>
          <p:cNvPr name="TextBox 23" id="23"/>
          <p:cNvSpPr txBox="true"/>
          <p:nvPr/>
        </p:nvSpPr>
        <p:spPr>
          <a:xfrm rot="0">
            <a:off x="7980421" y="4665964"/>
            <a:ext cx="2676716" cy="577644"/>
          </a:xfrm>
          <a:prstGeom prst="rect">
            <a:avLst/>
          </a:prstGeom>
        </p:spPr>
        <p:txBody>
          <a:bodyPr anchor="t" rtlCol="false" tIns="0" lIns="0" bIns="0" rIns="0">
            <a:spAutoFit/>
          </a:bodyPr>
          <a:lstStyle/>
          <a:p>
            <a:pPr algn="ctr">
              <a:lnSpc>
                <a:spcPts val="2179"/>
              </a:lnSpc>
            </a:pPr>
            <a:r>
              <a:rPr lang="en-US" sz="1651" b="true">
                <a:solidFill>
                  <a:srgbClr val="2A78D6"/>
                </a:solidFill>
                <a:latin typeface="Inter Bold"/>
                <a:ea typeface="Inter Bold"/>
                <a:cs typeface="Inter Bold"/>
                <a:sym typeface="Inter Bold"/>
              </a:rPr>
              <a:t>OpenCV · Ultralytics · PyTorch</a:t>
            </a:r>
          </a:p>
        </p:txBody>
      </p:sp>
      <p:sp>
        <p:nvSpPr>
          <p:cNvPr name="AutoShape 24" id="24"/>
          <p:cNvSpPr/>
          <p:nvPr/>
        </p:nvSpPr>
        <p:spPr>
          <a:xfrm>
            <a:off x="10794373" y="4083701"/>
            <a:ext cx="413785" cy="0"/>
          </a:xfrm>
          <a:prstGeom prst="line">
            <a:avLst/>
          </a:prstGeom>
          <a:ln cap="rnd" w="19050">
            <a:solidFill>
              <a:srgbClr val="6B6A66"/>
            </a:solidFill>
            <a:prstDash val="solid"/>
            <a:headEnd type="none" len="sm" w="sm"/>
            <a:tailEnd type="triangle" len="med" w="lg"/>
          </a:ln>
        </p:spPr>
      </p:sp>
      <p:grpSp>
        <p:nvGrpSpPr>
          <p:cNvPr name="Group 25" id="25"/>
          <p:cNvGrpSpPr/>
          <p:nvPr/>
        </p:nvGrpSpPr>
        <p:grpSpPr>
          <a:xfrm rot="0">
            <a:off x="11208158" y="2813980"/>
            <a:ext cx="2951245" cy="2539441"/>
            <a:chOff x="0" y="0"/>
            <a:chExt cx="3934993" cy="3385922"/>
          </a:xfrm>
        </p:grpSpPr>
        <p:sp>
          <p:nvSpPr>
            <p:cNvPr name="Freeform 26" id="26"/>
            <p:cNvSpPr/>
            <p:nvPr/>
          </p:nvSpPr>
          <p:spPr>
            <a:xfrm flipH="false" flipV="false" rot="0">
              <a:off x="0" y="0"/>
              <a:ext cx="3934968" cy="3385947"/>
            </a:xfrm>
            <a:custGeom>
              <a:avLst/>
              <a:gdLst/>
              <a:ahLst/>
              <a:cxnLst/>
              <a:rect r="r" b="b" t="t" l="l"/>
              <a:pathLst>
                <a:path h="3385947" w="3934968">
                  <a:moveTo>
                    <a:pt x="0" y="338582"/>
                  </a:moveTo>
                  <a:cubicBezTo>
                    <a:pt x="0" y="151638"/>
                    <a:pt x="151638" y="0"/>
                    <a:pt x="338582" y="0"/>
                  </a:cubicBezTo>
                  <a:lnTo>
                    <a:pt x="3596386" y="0"/>
                  </a:lnTo>
                  <a:cubicBezTo>
                    <a:pt x="3783330" y="0"/>
                    <a:pt x="3934968" y="151638"/>
                    <a:pt x="3934968" y="338582"/>
                  </a:cubicBezTo>
                  <a:lnTo>
                    <a:pt x="3934968" y="3047365"/>
                  </a:lnTo>
                  <a:cubicBezTo>
                    <a:pt x="3934968" y="3234309"/>
                    <a:pt x="3783330" y="3385947"/>
                    <a:pt x="3596386" y="3385947"/>
                  </a:cubicBezTo>
                  <a:lnTo>
                    <a:pt x="338582" y="3385947"/>
                  </a:lnTo>
                  <a:cubicBezTo>
                    <a:pt x="151638" y="3385947"/>
                    <a:pt x="0" y="3234309"/>
                    <a:pt x="0" y="3047365"/>
                  </a:cubicBezTo>
                  <a:close/>
                </a:path>
              </a:pathLst>
            </a:custGeom>
            <a:solidFill>
              <a:srgbClr val="F0EFEC"/>
            </a:solidFill>
          </p:spPr>
        </p:sp>
      </p:grpSp>
      <p:sp>
        <p:nvSpPr>
          <p:cNvPr name="TextBox 27" id="27"/>
          <p:cNvSpPr txBox="true"/>
          <p:nvPr/>
        </p:nvSpPr>
        <p:spPr>
          <a:xfrm rot="0">
            <a:off x="11345423" y="2963847"/>
            <a:ext cx="2676716" cy="714908"/>
          </a:xfrm>
          <a:prstGeom prst="rect">
            <a:avLst/>
          </a:prstGeom>
        </p:spPr>
        <p:txBody>
          <a:bodyPr anchor="t" rtlCol="false" tIns="0" lIns="0" bIns="0" rIns="0">
            <a:spAutoFit/>
          </a:bodyPr>
          <a:lstStyle/>
          <a:p>
            <a:pPr algn="ctr">
              <a:lnSpc>
                <a:spcPts val="3368"/>
              </a:lnSpc>
            </a:pPr>
            <a:r>
              <a:rPr lang="en-US" sz="2551" b="true">
                <a:solidFill>
                  <a:srgbClr val="1F1F1D"/>
                </a:solidFill>
                <a:latin typeface="Inter Bold"/>
                <a:ea typeface="Inter Bold"/>
                <a:cs typeface="Inter Bold"/>
                <a:sym typeface="Inter Bold"/>
              </a:rPr>
              <a:t>Modelos</a:t>
            </a:r>
          </a:p>
        </p:txBody>
      </p:sp>
      <p:sp>
        <p:nvSpPr>
          <p:cNvPr name="TextBox 28" id="28"/>
          <p:cNvSpPr txBox="true"/>
          <p:nvPr/>
        </p:nvSpPr>
        <p:spPr>
          <a:xfrm rot="0">
            <a:off x="11372874" y="3659715"/>
            <a:ext cx="2621804" cy="1048550"/>
          </a:xfrm>
          <a:prstGeom prst="rect">
            <a:avLst/>
          </a:prstGeom>
        </p:spPr>
        <p:txBody>
          <a:bodyPr anchor="t" rtlCol="false" tIns="0" lIns="0" bIns="0" rIns="0">
            <a:spAutoFit/>
          </a:bodyPr>
          <a:lstStyle/>
          <a:p>
            <a:pPr algn="ctr">
              <a:lnSpc>
                <a:spcPts val="2377"/>
              </a:lnSpc>
            </a:pPr>
            <a:r>
              <a:rPr lang="en-US" sz="1801">
                <a:solidFill>
                  <a:srgbClr val="6B6A66"/>
                </a:solidFill>
                <a:latin typeface="Inter"/>
                <a:ea typeface="Inter"/>
                <a:cs typeface="Inter"/>
                <a:sym typeface="Inter"/>
              </a:rPr>
              <a:t>Reg. logística · RF · XGBoost · GRU</a:t>
            </a:r>
          </a:p>
        </p:txBody>
      </p:sp>
      <p:sp>
        <p:nvSpPr>
          <p:cNvPr name="TextBox 29" id="29"/>
          <p:cNvSpPr txBox="true"/>
          <p:nvPr/>
        </p:nvSpPr>
        <p:spPr>
          <a:xfrm rot="0">
            <a:off x="11345423" y="4665964"/>
            <a:ext cx="2676716" cy="577644"/>
          </a:xfrm>
          <a:prstGeom prst="rect">
            <a:avLst/>
          </a:prstGeom>
        </p:spPr>
        <p:txBody>
          <a:bodyPr anchor="t" rtlCol="false" tIns="0" lIns="0" bIns="0" rIns="0">
            <a:spAutoFit/>
          </a:bodyPr>
          <a:lstStyle/>
          <a:p>
            <a:pPr algn="ctr">
              <a:lnSpc>
                <a:spcPts val="2179"/>
              </a:lnSpc>
            </a:pPr>
            <a:r>
              <a:rPr lang="en-US" sz="1651" b="true">
                <a:solidFill>
                  <a:srgbClr val="2A78D6"/>
                </a:solidFill>
                <a:latin typeface="Inter Bold"/>
                <a:ea typeface="Inter Bold"/>
                <a:cs typeface="Inter Bold"/>
                <a:sym typeface="Inter Bold"/>
              </a:rPr>
              <a:t>scikit-learn · XGBoost · PyTorch</a:t>
            </a:r>
          </a:p>
        </p:txBody>
      </p:sp>
      <p:sp>
        <p:nvSpPr>
          <p:cNvPr name="AutoShape 30" id="30"/>
          <p:cNvSpPr/>
          <p:nvPr/>
        </p:nvSpPr>
        <p:spPr>
          <a:xfrm>
            <a:off x="14159384" y="4083701"/>
            <a:ext cx="480451" cy="0"/>
          </a:xfrm>
          <a:prstGeom prst="line">
            <a:avLst/>
          </a:prstGeom>
          <a:ln cap="rnd" w="19050">
            <a:solidFill>
              <a:srgbClr val="6B6A66"/>
            </a:solidFill>
            <a:prstDash val="solid"/>
            <a:headEnd type="none" len="sm" w="sm"/>
            <a:tailEnd type="triangle" len="med" w="lg"/>
          </a:ln>
        </p:spPr>
      </p:sp>
      <p:grpSp>
        <p:nvGrpSpPr>
          <p:cNvPr name="Group 31" id="31"/>
          <p:cNvGrpSpPr/>
          <p:nvPr/>
        </p:nvGrpSpPr>
        <p:grpSpPr>
          <a:xfrm rot="0">
            <a:off x="14639835" y="2813980"/>
            <a:ext cx="2951245" cy="2539441"/>
            <a:chOff x="0" y="0"/>
            <a:chExt cx="3934993" cy="3385922"/>
          </a:xfrm>
        </p:grpSpPr>
        <p:sp>
          <p:nvSpPr>
            <p:cNvPr name="Freeform 32" id="32"/>
            <p:cNvSpPr/>
            <p:nvPr/>
          </p:nvSpPr>
          <p:spPr>
            <a:xfrm flipH="false" flipV="false" rot="0">
              <a:off x="0" y="0"/>
              <a:ext cx="3934968" cy="3385947"/>
            </a:xfrm>
            <a:custGeom>
              <a:avLst/>
              <a:gdLst/>
              <a:ahLst/>
              <a:cxnLst/>
              <a:rect r="r" b="b" t="t" l="l"/>
              <a:pathLst>
                <a:path h="3385947" w="3934968">
                  <a:moveTo>
                    <a:pt x="0" y="338582"/>
                  </a:moveTo>
                  <a:cubicBezTo>
                    <a:pt x="0" y="151638"/>
                    <a:pt x="151638" y="0"/>
                    <a:pt x="338582" y="0"/>
                  </a:cubicBezTo>
                  <a:lnTo>
                    <a:pt x="3596386" y="0"/>
                  </a:lnTo>
                  <a:cubicBezTo>
                    <a:pt x="3783330" y="0"/>
                    <a:pt x="3934968" y="151638"/>
                    <a:pt x="3934968" y="338582"/>
                  </a:cubicBezTo>
                  <a:lnTo>
                    <a:pt x="3934968" y="3047365"/>
                  </a:lnTo>
                  <a:cubicBezTo>
                    <a:pt x="3934968" y="3234309"/>
                    <a:pt x="3783330" y="3385947"/>
                    <a:pt x="3596386" y="3385947"/>
                  </a:cubicBezTo>
                  <a:lnTo>
                    <a:pt x="338582" y="3385947"/>
                  </a:lnTo>
                  <a:cubicBezTo>
                    <a:pt x="151638" y="3385947"/>
                    <a:pt x="0" y="3234309"/>
                    <a:pt x="0" y="3047365"/>
                  </a:cubicBezTo>
                  <a:close/>
                </a:path>
              </a:pathLst>
            </a:custGeom>
            <a:solidFill>
              <a:srgbClr val="2A78D6"/>
            </a:solidFill>
          </p:spPr>
        </p:sp>
      </p:grpSp>
      <p:sp>
        <p:nvSpPr>
          <p:cNvPr name="TextBox 33" id="33"/>
          <p:cNvSpPr txBox="true"/>
          <p:nvPr/>
        </p:nvSpPr>
        <p:spPr>
          <a:xfrm rot="0">
            <a:off x="14777109" y="2963847"/>
            <a:ext cx="2676716" cy="714908"/>
          </a:xfrm>
          <a:prstGeom prst="rect">
            <a:avLst/>
          </a:prstGeom>
        </p:spPr>
        <p:txBody>
          <a:bodyPr anchor="t" rtlCol="false" tIns="0" lIns="0" bIns="0" rIns="0">
            <a:spAutoFit/>
          </a:bodyPr>
          <a:lstStyle/>
          <a:p>
            <a:pPr algn="ctr">
              <a:lnSpc>
                <a:spcPts val="3368"/>
              </a:lnSpc>
            </a:pPr>
            <a:r>
              <a:rPr lang="en-US" sz="2551" b="true">
                <a:solidFill>
                  <a:srgbClr val="FFFFFF"/>
                </a:solidFill>
                <a:latin typeface="Inter Bold"/>
                <a:ea typeface="Inter Bold"/>
                <a:cs typeface="Inter Bold"/>
                <a:sym typeface="Inter Bold"/>
              </a:rPr>
              <a:t>Aplicación</a:t>
            </a:r>
          </a:p>
        </p:txBody>
      </p:sp>
      <p:sp>
        <p:nvSpPr>
          <p:cNvPr name="TextBox 34" id="34"/>
          <p:cNvSpPr txBox="true"/>
          <p:nvPr/>
        </p:nvSpPr>
        <p:spPr>
          <a:xfrm rot="0">
            <a:off x="14804560" y="3659715"/>
            <a:ext cx="2621804" cy="1048550"/>
          </a:xfrm>
          <a:prstGeom prst="rect">
            <a:avLst/>
          </a:prstGeom>
        </p:spPr>
        <p:txBody>
          <a:bodyPr anchor="t" rtlCol="false" tIns="0" lIns="0" bIns="0" rIns="0">
            <a:spAutoFit/>
          </a:bodyPr>
          <a:lstStyle/>
          <a:p>
            <a:pPr algn="ctr">
              <a:lnSpc>
                <a:spcPts val="2377"/>
              </a:lnSpc>
            </a:pPr>
            <a:r>
              <a:rPr lang="en-US" sz="1801">
                <a:solidFill>
                  <a:srgbClr val="DBE8F8"/>
                </a:solidFill>
                <a:latin typeface="Inter"/>
                <a:ea typeface="Inter"/>
                <a:cs typeface="Inter"/>
                <a:sym typeface="Inter"/>
              </a:rPr>
              <a:t>explorar, clasificar, rendimiento</a:t>
            </a:r>
          </a:p>
        </p:txBody>
      </p:sp>
      <p:sp>
        <p:nvSpPr>
          <p:cNvPr name="TextBox 35" id="35"/>
          <p:cNvSpPr txBox="true"/>
          <p:nvPr/>
        </p:nvSpPr>
        <p:spPr>
          <a:xfrm rot="0">
            <a:off x="14777109" y="4665964"/>
            <a:ext cx="2676716" cy="577644"/>
          </a:xfrm>
          <a:prstGeom prst="rect">
            <a:avLst/>
          </a:prstGeom>
        </p:spPr>
        <p:txBody>
          <a:bodyPr anchor="t" rtlCol="false" tIns="0" lIns="0" bIns="0" rIns="0">
            <a:spAutoFit/>
          </a:bodyPr>
          <a:lstStyle/>
          <a:p>
            <a:pPr algn="ctr">
              <a:lnSpc>
                <a:spcPts val="2179"/>
              </a:lnSpc>
            </a:pPr>
            <a:r>
              <a:rPr lang="en-US" sz="1651" b="true">
                <a:solidFill>
                  <a:srgbClr val="FFFFFF"/>
                </a:solidFill>
                <a:latin typeface="Inter Bold"/>
                <a:ea typeface="Inter Bold"/>
                <a:cs typeface="Inter Bold"/>
                <a:sym typeface="Inter Bold"/>
              </a:rPr>
              <a:t>Streamlit · Plotly</a:t>
            </a:r>
          </a:p>
        </p:txBody>
      </p:sp>
      <p:sp>
        <p:nvSpPr>
          <p:cNvPr name="TextBox 36" id="36"/>
          <p:cNvSpPr txBox="true"/>
          <p:nvPr/>
        </p:nvSpPr>
        <p:spPr>
          <a:xfrm rot="0">
            <a:off x="823608" y="5805278"/>
            <a:ext cx="8236039" cy="577644"/>
          </a:xfrm>
          <a:prstGeom prst="rect">
            <a:avLst/>
          </a:prstGeom>
        </p:spPr>
        <p:txBody>
          <a:bodyPr anchor="t" rtlCol="false" tIns="0" lIns="0" bIns="0" rIns="0">
            <a:spAutoFit/>
          </a:bodyPr>
          <a:lstStyle/>
          <a:p>
            <a:pPr algn="l">
              <a:lnSpc>
                <a:spcPts val="3368"/>
              </a:lnSpc>
            </a:pPr>
            <a:r>
              <a:rPr lang="en-US" sz="2551" b="true">
                <a:solidFill>
                  <a:srgbClr val="1F1F1D"/>
                </a:solidFill>
                <a:latin typeface="Inter Bold"/>
                <a:ea typeface="Inter Bold"/>
                <a:cs typeface="Inter Bold"/>
                <a:sym typeface="Inter Bold"/>
              </a:rPr>
              <a:t>Decisiones técnicas y por qué</a:t>
            </a:r>
          </a:p>
        </p:txBody>
      </p:sp>
      <p:sp>
        <p:nvSpPr>
          <p:cNvPr name="TextBox 37" id="37"/>
          <p:cNvSpPr txBox="true"/>
          <p:nvPr/>
        </p:nvSpPr>
        <p:spPr>
          <a:xfrm rot="0">
            <a:off x="823608" y="6491621"/>
            <a:ext cx="16609333" cy="3185722"/>
          </a:xfrm>
          <a:prstGeom prst="rect">
            <a:avLst/>
          </a:prstGeom>
        </p:spPr>
        <p:txBody>
          <a:bodyPr anchor="t" rtlCol="false" tIns="0" lIns="0" bIns="0" rIns="0">
            <a:spAutoFit/>
          </a:bodyPr>
          <a:lstStyle/>
          <a:p>
            <a:pPr algn="l">
              <a:lnSpc>
                <a:spcPts val="2972"/>
              </a:lnSpc>
            </a:pPr>
            <a:r>
              <a:rPr lang="en-US" sz="2251">
                <a:solidFill>
                  <a:srgbClr val="2A78D6"/>
                </a:solidFill>
                <a:latin typeface="Inter"/>
                <a:ea typeface="Inter"/>
                <a:cs typeface="Inter"/>
                <a:sym typeface="Inter"/>
              </a:rPr>
              <a:t>●  </a:t>
            </a:r>
            <a:r>
              <a:rPr lang="en-US" sz="2251" b="true">
                <a:solidFill>
                  <a:srgbClr val="1F1F1D"/>
                </a:solidFill>
                <a:latin typeface="Inter Bold"/>
                <a:ea typeface="Inter Bold"/>
                <a:cs typeface="Inter Bold"/>
                <a:sym typeface="Inter Bold"/>
              </a:rPr>
              <a:t>Un solo módulo de preprocesamiento: </a:t>
            </a:r>
            <a:r>
              <a:rPr lang="en-US" sz="2251">
                <a:solidFill>
                  <a:srgbClr val="1F1F1D"/>
                </a:solidFill>
                <a:latin typeface="Inter"/>
                <a:ea typeface="Inter"/>
                <a:cs typeface="Inter"/>
                <a:sym typeface="Inter"/>
              </a:rPr>
              <a:t>la app procesa un video nuevo exactamente igual que en el entrenamiento.</a:t>
            </a:r>
          </a:p>
          <a:p>
            <a:pPr algn="l">
              <a:lnSpc>
                <a:spcPts val="2972"/>
              </a:lnSpc>
            </a:pPr>
            <a:r>
              <a:rPr lang="en-US" sz="2251">
                <a:solidFill>
                  <a:srgbClr val="2A78D6"/>
                </a:solidFill>
                <a:latin typeface="Inter"/>
                <a:ea typeface="Inter"/>
                <a:cs typeface="Inter"/>
                <a:sym typeface="Inter"/>
              </a:rPr>
              <a:t>●  </a:t>
            </a:r>
            <a:r>
              <a:rPr lang="en-US" sz="2251" b="true">
                <a:solidFill>
                  <a:srgbClr val="1F1F1D"/>
                </a:solidFill>
                <a:latin typeface="Inter Bold"/>
                <a:ea typeface="Inter Bold"/>
                <a:cs typeface="Inter Bold"/>
                <a:sym typeface="Inter Bold"/>
              </a:rPr>
              <a:t>Variables explícitas + modelos ligeros: </a:t>
            </a:r>
            <a:r>
              <a:rPr lang="en-US" sz="2251">
                <a:solidFill>
                  <a:srgbClr val="1F1F1D"/>
                </a:solidFill>
                <a:latin typeface="Inter"/>
                <a:ea typeface="Inter"/>
                <a:cs typeface="Inter"/>
                <a:sym typeface="Inter"/>
              </a:rPr>
              <a:t>con 400 clips de entrenamiento, una red de video completa se sobreajustaría y pediría GPU.</a:t>
            </a:r>
          </a:p>
          <a:p>
            <a:pPr algn="l">
              <a:lnSpc>
                <a:spcPts val="2972"/>
              </a:lnSpc>
            </a:pPr>
            <a:r>
              <a:rPr lang="en-US" sz="2251">
                <a:solidFill>
                  <a:srgbClr val="2A78D6"/>
                </a:solidFill>
                <a:latin typeface="Inter"/>
                <a:ea typeface="Inter"/>
                <a:cs typeface="Inter"/>
                <a:sym typeface="Inter"/>
              </a:rPr>
              <a:t>●  </a:t>
            </a:r>
            <a:r>
              <a:rPr lang="en-US" sz="2251" b="true">
                <a:solidFill>
                  <a:srgbClr val="1F1F1D"/>
                </a:solidFill>
                <a:latin typeface="Inter Bold"/>
                <a:ea typeface="Inter Bold"/>
                <a:cs typeface="Inter Bold"/>
                <a:sym typeface="Inter Bold"/>
              </a:rPr>
              <a:t>Python de punta a punta: </a:t>
            </a:r>
            <a:r>
              <a:rPr lang="en-US" sz="2251">
                <a:solidFill>
                  <a:srgbClr val="1F1F1D"/>
                </a:solidFill>
                <a:latin typeface="Inter"/>
                <a:ea typeface="Inter"/>
                <a:cs typeface="Inter"/>
                <a:sym typeface="Inter"/>
              </a:rPr>
              <a:t>Streamlit reutiliza el mismo código y los modelos guardados, sin reescribir nada.</a:t>
            </a:r>
          </a:p>
          <a:p>
            <a:pPr algn="l">
              <a:lnSpc>
                <a:spcPts val="2972"/>
              </a:lnSpc>
            </a:pPr>
            <a:r>
              <a:rPr lang="en-US" sz="2251">
                <a:solidFill>
                  <a:srgbClr val="2A78D6"/>
                </a:solidFill>
                <a:latin typeface="Inter"/>
                <a:ea typeface="Inter"/>
                <a:cs typeface="Inter"/>
                <a:sym typeface="Inter"/>
              </a:rPr>
              <a:t>●  </a:t>
            </a:r>
            <a:r>
              <a:rPr lang="en-US" sz="2251" b="true">
                <a:solidFill>
                  <a:srgbClr val="1F1F1D"/>
                </a:solidFill>
                <a:latin typeface="Inter Bold"/>
                <a:ea typeface="Inter Bold"/>
                <a:cs typeface="Inter Bold"/>
                <a:sym typeface="Inter Bold"/>
              </a:rPr>
              <a:t>Cómputo local: </a:t>
            </a:r>
            <a:r>
              <a:rPr lang="en-US" sz="2251">
                <a:solidFill>
                  <a:srgbClr val="1F1F1D"/>
                </a:solidFill>
                <a:latin typeface="Inter"/>
                <a:ea typeface="Inter"/>
                <a:cs typeface="Inter"/>
                <a:sym typeface="Inter"/>
              </a:rPr>
              <a:t>Mac M4 Pro con GPU integrada (MPS); extraer las variables de los 762 clips tomó ~7 min.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CFCFB"/>
        </a:solidFill>
      </p:bgPr>
    </p:bg>
    <p:spTree>
      <p:nvGrpSpPr>
        <p:cNvPr id="1" name=""/>
        <p:cNvGrpSpPr/>
        <p:nvPr/>
      </p:nvGrpSpPr>
      <p:grpSpPr>
        <a:xfrm>
          <a:off x="0" y="0"/>
          <a:ext cx="0" cy="0"/>
          <a:chOff x="0" y="0"/>
          <a:chExt cx="0" cy="0"/>
        </a:xfrm>
      </p:grpSpPr>
      <p:grpSp>
        <p:nvGrpSpPr>
          <p:cNvPr name="Group 2" id="2"/>
          <p:cNvGrpSpPr/>
          <p:nvPr/>
        </p:nvGrpSpPr>
        <p:grpSpPr>
          <a:xfrm rot="0">
            <a:off x="823608" y="617706"/>
            <a:ext cx="109814" cy="439255"/>
            <a:chOff x="0" y="0"/>
            <a:chExt cx="146418" cy="585673"/>
          </a:xfrm>
        </p:grpSpPr>
        <p:sp>
          <p:nvSpPr>
            <p:cNvPr name="Freeform 3" id="3"/>
            <p:cNvSpPr/>
            <p:nvPr/>
          </p:nvSpPr>
          <p:spPr>
            <a:xfrm flipH="false" flipV="false" rot="0">
              <a:off x="0" y="0"/>
              <a:ext cx="146431" cy="585724"/>
            </a:xfrm>
            <a:custGeom>
              <a:avLst/>
              <a:gdLst/>
              <a:ahLst/>
              <a:cxnLst/>
              <a:rect r="r" b="b" t="t" l="l"/>
              <a:pathLst>
                <a:path h="585724" w="146431">
                  <a:moveTo>
                    <a:pt x="0" y="0"/>
                  </a:moveTo>
                  <a:lnTo>
                    <a:pt x="146431" y="0"/>
                  </a:lnTo>
                  <a:lnTo>
                    <a:pt x="146431" y="585724"/>
                  </a:lnTo>
                  <a:lnTo>
                    <a:pt x="0" y="585724"/>
                  </a:lnTo>
                  <a:close/>
                </a:path>
              </a:pathLst>
            </a:custGeom>
            <a:solidFill>
              <a:srgbClr val="2A78D6"/>
            </a:solidFill>
          </p:spPr>
        </p:sp>
      </p:grpSp>
      <p:sp>
        <p:nvSpPr>
          <p:cNvPr name="TextBox 4" id="4"/>
          <p:cNvSpPr txBox="true"/>
          <p:nvPr/>
        </p:nvSpPr>
        <p:spPr>
          <a:xfrm rot="0">
            <a:off x="1077554" y="684372"/>
            <a:ext cx="12354049" cy="286872"/>
          </a:xfrm>
          <a:prstGeom prst="rect">
            <a:avLst/>
          </a:prstGeom>
        </p:spPr>
        <p:txBody>
          <a:bodyPr anchor="t" rtlCol="false" tIns="0" lIns="0" bIns="0" rIns="0">
            <a:spAutoFit/>
          </a:bodyPr>
          <a:lstStyle/>
          <a:p>
            <a:pPr algn="l">
              <a:lnSpc>
                <a:spcPts val="2377"/>
              </a:lnSpc>
            </a:pPr>
            <a:r>
              <a:rPr lang="en-US" sz="1801" b="true">
                <a:solidFill>
                  <a:srgbClr val="2A78D6"/>
                </a:solidFill>
                <a:latin typeface="Inter Bold"/>
                <a:ea typeface="Inter Bold"/>
                <a:cs typeface="Inter Bold"/>
                <a:sym typeface="Inter Bold"/>
              </a:rPr>
              <a:t>2 · SOLUCIÓN Y DISEÑO</a:t>
            </a:r>
            <a:r>
              <a:rPr lang="en-US" sz="1801">
                <a:solidFill>
                  <a:srgbClr val="6B6A66"/>
                </a:solidFill>
                <a:latin typeface="Inter"/>
                <a:ea typeface="Inter"/>
                <a:cs typeface="Inter"/>
                <a:sym typeface="Inter"/>
              </a:rPr>
              <a:t> </a:t>
            </a:r>
          </a:p>
        </p:txBody>
      </p:sp>
      <p:sp>
        <p:nvSpPr>
          <p:cNvPr name="TextBox 5" id="5"/>
          <p:cNvSpPr txBox="true"/>
          <p:nvPr/>
        </p:nvSpPr>
        <p:spPr>
          <a:xfrm rot="0">
            <a:off x="823608" y="1178252"/>
            <a:ext cx="16609333" cy="1429826"/>
          </a:xfrm>
          <a:prstGeom prst="rect">
            <a:avLst/>
          </a:prstGeom>
        </p:spPr>
        <p:txBody>
          <a:bodyPr anchor="t" rtlCol="false" tIns="0" lIns="0" bIns="0" rIns="0">
            <a:spAutoFit/>
          </a:bodyPr>
          <a:lstStyle/>
          <a:p>
            <a:pPr algn="l">
              <a:lnSpc>
                <a:spcPts val="5944"/>
              </a:lnSpc>
            </a:pPr>
            <a:r>
              <a:rPr lang="en-US" sz="4503" b="true">
                <a:solidFill>
                  <a:srgbClr val="1F1F1D"/>
                </a:solidFill>
                <a:latin typeface="Inter Bold"/>
                <a:ea typeface="Inter Bold"/>
                <a:cs typeface="Inter Bold"/>
                <a:sym typeface="Inter Bold"/>
              </a:rPr>
              <a:t>Cada clip se reduce a la misma ventana y a 48 variables</a:t>
            </a:r>
          </a:p>
        </p:txBody>
      </p:sp>
      <p:sp>
        <p:nvSpPr>
          <p:cNvPr name="TextBox 6" id="6"/>
          <p:cNvSpPr txBox="true"/>
          <p:nvPr/>
        </p:nvSpPr>
        <p:spPr>
          <a:xfrm rot="0">
            <a:off x="16746607" y="9580131"/>
            <a:ext cx="823608" cy="440379"/>
          </a:xfrm>
          <a:prstGeom prst="rect">
            <a:avLst/>
          </a:prstGeom>
        </p:spPr>
        <p:txBody>
          <a:bodyPr anchor="t" rtlCol="false" tIns="0" lIns="0" bIns="0" rIns="0">
            <a:spAutoFit/>
          </a:bodyPr>
          <a:lstStyle/>
          <a:p>
            <a:pPr algn="r">
              <a:lnSpc>
                <a:spcPts val="2179"/>
              </a:lnSpc>
            </a:pPr>
            <a:r>
              <a:rPr lang="en-US" sz="1651">
                <a:solidFill>
                  <a:srgbClr val="6B6A66"/>
                </a:solidFill>
                <a:latin typeface="Inter"/>
                <a:ea typeface="Inter"/>
                <a:cs typeface="Inter"/>
                <a:sym typeface="Inter"/>
              </a:rPr>
              <a:t>5</a:t>
            </a:r>
          </a:p>
        </p:txBody>
      </p:sp>
      <p:sp>
        <p:nvSpPr>
          <p:cNvPr name="TextBox 7" id="7"/>
          <p:cNvSpPr txBox="true"/>
          <p:nvPr/>
        </p:nvSpPr>
        <p:spPr>
          <a:xfrm rot="0">
            <a:off x="823608" y="2648141"/>
            <a:ext cx="7686961" cy="577644"/>
          </a:xfrm>
          <a:prstGeom prst="rect">
            <a:avLst/>
          </a:prstGeom>
        </p:spPr>
        <p:txBody>
          <a:bodyPr anchor="t" rtlCol="false" tIns="0" lIns="0" bIns="0" rIns="0">
            <a:spAutoFit/>
          </a:bodyPr>
          <a:lstStyle/>
          <a:p>
            <a:pPr algn="l">
              <a:lnSpc>
                <a:spcPts val="3170"/>
              </a:lnSpc>
            </a:pPr>
            <a:r>
              <a:rPr lang="en-US" sz="2401" b="true">
                <a:solidFill>
                  <a:srgbClr val="1F1F1D"/>
                </a:solidFill>
                <a:latin typeface="Inter Bold"/>
                <a:ea typeface="Inter Bold"/>
                <a:cs typeface="Inter Bold"/>
                <a:sym typeface="Inter Bold"/>
              </a:rPr>
              <a:t>Ventana de 1.62 s · 16 cuadros</a:t>
            </a:r>
          </a:p>
        </p:txBody>
      </p:sp>
      <p:grpSp>
        <p:nvGrpSpPr>
          <p:cNvPr name="Group 8" id="8"/>
          <p:cNvGrpSpPr/>
          <p:nvPr/>
        </p:nvGrpSpPr>
        <p:grpSpPr>
          <a:xfrm rot="0">
            <a:off x="823608" y="3568951"/>
            <a:ext cx="7686961" cy="686333"/>
            <a:chOff x="0" y="0"/>
            <a:chExt cx="10249281" cy="915111"/>
          </a:xfrm>
        </p:grpSpPr>
        <p:sp>
          <p:nvSpPr>
            <p:cNvPr name="Freeform 9" id="9"/>
            <p:cNvSpPr/>
            <p:nvPr/>
          </p:nvSpPr>
          <p:spPr>
            <a:xfrm flipH="false" flipV="false" rot="0">
              <a:off x="0" y="0"/>
              <a:ext cx="10249408" cy="915162"/>
            </a:xfrm>
            <a:custGeom>
              <a:avLst/>
              <a:gdLst/>
              <a:ahLst/>
              <a:cxnLst/>
              <a:rect r="r" b="b" t="t" l="l"/>
              <a:pathLst>
                <a:path h="915162" w="10249408">
                  <a:moveTo>
                    <a:pt x="0" y="274574"/>
                  </a:moveTo>
                  <a:cubicBezTo>
                    <a:pt x="0" y="122936"/>
                    <a:pt x="122936" y="0"/>
                    <a:pt x="274574" y="0"/>
                  </a:cubicBezTo>
                  <a:lnTo>
                    <a:pt x="9974834" y="0"/>
                  </a:lnTo>
                  <a:cubicBezTo>
                    <a:pt x="10126472" y="0"/>
                    <a:pt x="10249408" y="122936"/>
                    <a:pt x="10249408" y="274574"/>
                  </a:cubicBezTo>
                  <a:lnTo>
                    <a:pt x="10249408" y="640588"/>
                  </a:lnTo>
                  <a:cubicBezTo>
                    <a:pt x="10249408" y="792226"/>
                    <a:pt x="10126472" y="915162"/>
                    <a:pt x="9974834" y="915162"/>
                  </a:cubicBezTo>
                  <a:lnTo>
                    <a:pt x="274574" y="915162"/>
                  </a:lnTo>
                  <a:cubicBezTo>
                    <a:pt x="122936" y="915162"/>
                    <a:pt x="0" y="792226"/>
                    <a:pt x="0" y="640588"/>
                  </a:cubicBezTo>
                  <a:close/>
                </a:path>
              </a:pathLst>
            </a:custGeom>
            <a:solidFill>
              <a:srgbClr val="E8F1FC"/>
            </a:solidFill>
          </p:spPr>
        </p:sp>
      </p:grpSp>
      <p:grpSp>
        <p:nvGrpSpPr>
          <p:cNvPr name="Group 10" id="10"/>
          <p:cNvGrpSpPr/>
          <p:nvPr/>
        </p:nvGrpSpPr>
        <p:grpSpPr>
          <a:xfrm rot="0">
            <a:off x="981466" y="3733667"/>
            <a:ext cx="96088" cy="356892"/>
            <a:chOff x="0" y="0"/>
            <a:chExt cx="128118" cy="475856"/>
          </a:xfrm>
        </p:grpSpPr>
        <p:sp>
          <p:nvSpPr>
            <p:cNvPr name="Freeform 11" id="11"/>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12" id="12"/>
          <p:cNvGrpSpPr/>
          <p:nvPr/>
        </p:nvGrpSpPr>
        <p:grpSpPr>
          <a:xfrm rot="0">
            <a:off x="1466469" y="3733667"/>
            <a:ext cx="96088" cy="356892"/>
            <a:chOff x="0" y="0"/>
            <a:chExt cx="128118" cy="475856"/>
          </a:xfrm>
        </p:grpSpPr>
        <p:sp>
          <p:nvSpPr>
            <p:cNvPr name="Freeform 13" id="13"/>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14" id="14"/>
          <p:cNvGrpSpPr/>
          <p:nvPr/>
        </p:nvGrpSpPr>
        <p:grpSpPr>
          <a:xfrm rot="0">
            <a:off x="1951482" y="3733667"/>
            <a:ext cx="96088" cy="356892"/>
            <a:chOff x="0" y="0"/>
            <a:chExt cx="128118" cy="475856"/>
          </a:xfrm>
        </p:grpSpPr>
        <p:sp>
          <p:nvSpPr>
            <p:cNvPr name="Freeform 15" id="15"/>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16" id="16"/>
          <p:cNvGrpSpPr/>
          <p:nvPr/>
        </p:nvGrpSpPr>
        <p:grpSpPr>
          <a:xfrm rot="0">
            <a:off x="2436495" y="3733667"/>
            <a:ext cx="96088" cy="356892"/>
            <a:chOff x="0" y="0"/>
            <a:chExt cx="128118" cy="475856"/>
          </a:xfrm>
        </p:grpSpPr>
        <p:sp>
          <p:nvSpPr>
            <p:cNvPr name="Freeform 17" id="17"/>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18" id="18"/>
          <p:cNvGrpSpPr/>
          <p:nvPr/>
        </p:nvGrpSpPr>
        <p:grpSpPr>
          <a:xfrm rot="0">
            <a:off x="2921508" y="3733667"/>
            <a:ext cx="96088" cy="356892"/>
            <a:chOff x="0" y="0"/>
            <a:chExt cx="128118" cy="475856"/>
          </a:xfrm>
        </p:grpSpPr>
        <p:sp>
          <p:nvSpPr>
            <p:cNvPr name="Freeform 19" id="19"/>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20" id="20"/>
          <p:cNvGrpSpPr/>
          <p:nvPr/>
        </p:nvGrpSpPr>
        <p:grpSpPr>
          <a:xfrm rot="0">
            <a:off x="3406511" y="3733667"/>
            <a:ext cx="96088" cy="356892"/>
            <a:chOff x="0" y="0"/>
            <a:chExt cx="128118" cy="475856"/>
          </a:xfrm>
        </p:grpSpPr>
        <p:sp>
          <p:nvSpPr>
            <p:cNvPr name="Freeform 21" id="21"/>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22" id="22"/>
          <p:cNvGrpSpPr/>
          <p:nvPr/>
        </p:nvGrpSpPr>
        <p:grpSpPr>
          <a:xfrm rot="0">
            <a:off x="3891524" y="3733667"/>
            <a:ext cx="96088" cy="356892"/>
            <a:chOff x="0" y="0"/>
            <a:chExt cx="128118" cy="475856"/>
          </a:xfrm>
        </p:grpSpPr>
        <p:sp>
          <p:nvSpPr>
            <p:cNvPr name="Freeform 23" id="23"/>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24" id="24"/>
          <p:cNvGrpSpPr/>
          <p:nvPr/>
        </p:nvGrpSpPr>
        <p:grpSpPr>
          <a:xfrm rot="0">
            <a:off x="4376537" y="3733667"/>
            <a:ext cx="96088" cy="356892"/>
            <a:chOff x="0" y="0"/>
            <a:chExt cx="128118" cy="475856"/>
          </a:xfrm>
        </p:grpSpPr>
        <p:sp>
          <p:nvSpPr>
            <p:cNvPr name="Freeform 25" id="25"/>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26" id="26"/>
          <p:cNvGrpSpPr/>
          <p:nvPr/>
        </p:nvGrpSpPr>
        <p:grpSpPr>
          <a:xfrm rot="0">
            <a:off x="4861550" y="3733667"/>
            <a:ext cx="96088" cy="356892"/>
            <a:chOff x="0" y="0"/>
            <a:chExt cx="128118" cy="475856"/>
          </a:xfrm>
        </p:grpSpPr>
        <p:sp>
          <p:nvSpPr>
            <p:cNvPr name="Freeform 27" id="27"/>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28" id="28"/>
          <p:cNvGrpSpPr/>
          <p:nvPr/>
        </p:nvGrpSpPr>
        <p:grpSpPr>
          <a:xfrm rot="0">
            <a:off x="5346563" y="3733667"/>
            <a:ext cx="96088" cy="356892"/>
            <a:chOff x="0" y="0"/>
            <a:chExt cx="128118" cy="475856"/>
          </a:xfrm>
        </p:grpSpPr>
        <p:sp>
          <p:nvSpPr>
            <p:cNvPr name="Freeform 29" id="29"/>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30" id="30"/>
          <p:cNvGrpSpPr/>
          <p:nvPr/>
        </p:nvGrpSpPr>
        <p:grpSpPr>
          <a:xfrm rot="0">
            <a:off x="5831567" y="3733667"/>
            <a:ext cx="96088" cy="356892"/>
            <a:chOff x="0" y="0"/>
            <a:chExt cx="128118" cy="475856"/>
          </a:xfrm>
        </p:grpSpPr>
        <p:sp>
          <p:nvSpPr>
            <p:cNvPr name="Freeform 31" id="31"/>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32" id="32"/>
          <p:cNvGrpSpPr/>
          <p:nvPr/>
        </p:nvGrpSpPr>
        <p:grpSpPr>
          <a:xfrm rot="0">
            <a:off x="6316580" y="3733667"/>
            <a:ext cx="96088" cy="356892"/>
            <a:chOff x="0" y="0"/>
            <a:chExt cx="128118" cy="475856"/>
          </a:xfrm>
        </p:grpSpPr>
        <p:sp>
          <p:nvSpPr>
            <p:cNvPr name="Freeform 33" id="33"/>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34" id="34"/>
          <p:cNvGrpSpPr/>
          <p:nvPr/>
        </p:nvGrpSpPr>
        <p:grpSpPr>
          <a:xfrm rot="0">
            <a:off x="6801593" y="3733667"/>
            <a:ext cx="96088" cy="356892"/>
            <a:chOff x="0" y="0"/>
            <a:chExt cx="128118" cy="475856"/>
          </a:xfrm>
        </p:grpSpPr>
        <p:sp>
          <p:nvSpPr>
            <p:cNvPr name="Freeform 35" id="35"/>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36" id="36"/>
          <p:cNvGrpSpPr/>
          <p:nvPr/>
        </p:nvGrpSpPr>
        <p:grpSpPr>
          <a:xfrm rot="0">
            <a:off x="7286606" y="3733667"/>
            <a:ext cx="96088" cy="356892"/>
            <a:chOff x="0" y="0"/>
            <a:chExt cx="128118" cy="475856"/>
          </a:xfrm>
        </p:grpSpPr>
        <p:sp>
          <p:nvSpPr>
            <p:cNvPr name="Freeform 37" id="37"/>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38" id="38"/>
          <p:cNvGrpSpPr/>
          <p:nvPr/>
        </p:nvGrpSpPr>
        <p:grpSpPr>
          <a:xfrm rot="0">
            <a:off x="7771609" y="3733667"/>
            <a:ext cx="96088" cy="356892"/>
            <a:chOff x="0" y="0"/>
            <a:chExt cx="128118" cy="475856"/>
          </a:xfrm>
        </p:grpSpPr>
        <p:sp>
          <p:nvSpPr>
            <p:cNvPr name="Freeform 39" id="39"/>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40" id="40"/>
          <p:cNvGrpSpPr/>
          <p:nvPr/>
        </p:nvGrpSpPr>
        <p:grpSpPr>
          <a:xfrm rot="0">
            <a:off x="8256622" y="3733667"/>
            <a:ext cx="96088" cy="356892"/>
            <a:chOff x="0" y="0"/>
            <a:chExt cx="128118" cy="475856"/>
          </a:xfrm>
        </p:grpSpPr>
        <p:sp>
          <p:nvSpPr>
            <p:cNvPr name="Freeform 41" id="41"/>
            <p:cNvSpPr/>
            <p:nvPr/>
          </p:nvSpPr>
          <p:spPr>
            <a:xfrm flipH="false" flipV="false" rot="0">
              <a:off x="0" y="0"/>
              <a:ext cx="128143" cy="475869"/>
            </a:xfrm>
            <a:custGeom>
              <a:avLst/>
              <a:gdLst/>
              <a:ahLst/>
              <a:cxnLst/>
              <a:rect r="r" b="b" t="t" l="l"/>
              <a:pathLst>
                <a:path h="475869" w="128143">
                  <a:moveTo>
                    <a:pt x="0" y="0"/>
                  </a:moveTo>
                  <a:lnTo>
                    <a:pt x="128143" y="0"/>
                  </a:lnTo>
                  <a:lnTo>
                    <a:pt x="128143" y="475869"/>
                  </a:lnTo>
                  <a:lnTo>
                    <a:pt x="0" y="475869"/>
                  </a:lnTo>
                  <a:close/>
                </a:path>
              </a:pathLst>
            </a:custGeom>
            <a:solidFill>
              <a:srgbClr val="2A78D6"/>
            </a:solidFill>
          </p:spPr>
        </p:sp>
      </p:grpSp>
      <p:grpSp>
        <p:nvGrpSpPr>
          <p:cNvPr name="Group 42" id="42"/>
          <p:cNvGrpSpPr/>
          <p:nvPr/>
        </p:nvGrpSpPr>
        <p:grpSpPr>
          <a:xfrm rot="0">
            <a:off x="7920571" y="3225784"/>
            <a:ext cx="41177" cy="1029500"/>
            <a:chOff x="0" y="0"/>
            <a:chExt cx="54902" cy="1372667"/>
          </a:xfrm>
        </p:grpSpPr>
        <p:sp>
          <p:nvSpPr>
            <p:cNvPr name="Freeform 43" id="43"/>
            <p:cNvSpPr/>
            <p:nvPr/>
          </p:nvSpPr>
          <p:spPr>
            <a:xfrm flipH="false" flipV="false" rot="0">
              <a:off x="0" y="0"/>
              <a:ext cx="54864" cy="1372616"/>
            </a:xfrm>
            <a:custGeom>
              <a:avLst/>
              <a:gdLst/>
              <a:ahLst/>
              <a:cxnLst/>
              <a:rect r="r" b="b" t="t" l="l"/>
              <a:pathLst>
                <a:path h="1372616" w="54864">
                  <a:moveTo>
                    <a:pt x="0" y="0"/>
                  </a:moveTo>
                  <a:lnTo>
                    <a:pt x="54864" y="0"/>
                  </a:lnTo>
                  <a:lnTo>
                    <a:pt x="54864" y="1372616"/>
                  </a:lnTo>
                  <a:lnTo>
                    <a:pt x="0" y="1372616"/>
                  </a:lnTo>
                  <a:close/>
                </a:path>
              </a:pathLst>
            </a:custGeom>
            <a:solidFill>
              <a:srgbClr val="EB6834"/>
            </a:solidFill>
          </p:spPr>
        </p:sp>
      </p:grpSp>
      <p:sp>
        <p:nvSpPr>
          <p:cNvPr name="TextBox 44" id="44"/>
          <p:cNvSpPr txBox="true"/>
          <p:nvPr/>
        </p:nvSpPr>
        <p:spPr>
          <a:xfrm rot="0">
            <a:off x="6705762" y="4304871"/>
            <a:ext cx="2470814" cy="430854"/>
          </a:xfrm>
          <a:prstGeom prst="rect">
            <a:avLst/>
          </a:prstGeom>
        </p:spPr>
        <p:txBody>
          <a:bodyPr anchor="t" rtlCol="false" tIns="0" lIns="0" bIns="0" rIns="0">
            <a:spAutoFit/>
          </a:bodyPr>
          <a:lstStyle/>
          <a:p>
            <a:pPr algn="ctr">
              <a:lnSpc>
                <a:spcPts val="2377"/>
              </a:lnSpc>
            </a:pPr>
            <a:r>
              <a:rPr lang="en-US" sz="1801" b="true">
                <a:solidFill>
                  <a:srgbClr val="EB6834"/>
                </a:solidFill>
                <a:latin typeface="Inter Bold"/>
                <a:ea typeface="Inter Bold"/>
                <a:cs typeface="Inter Bold"/>
                <a:sym typeface="Inter Bold"/>
              </a:rPr>
              <a:t>evento</a:t>
            </a:r>
          </a:p>
        </p:txBody>
      </p:sp>
      <p:sp>
        <p:nvSpPr>
          <p:cNvPr name="TextBox 45" id="45"/>
          <p:cNvSpPr txBox="true"/>
          <p:nvPr/>
        </p:nvSpPr>
        <p:spPr>
          <a:xfrm rot="0">
            <a:off x="823608" y="4295346"/>
            <a:ext cx="1372676" cy="440379"/>
          </a:xfrm>
          <a:prstGeom prst="rect">
            <a:avLst/>
          </a:prstGeom>
        </p:spPr>
        <p:txBody>
          <a:bodyPr anchor="t" rtlCol="false" tIns="0" lIns="0" bIns="0" rIns="0">
            <a:spAutoFit/>
          </a:bodyPr>
          <a:lstStyle/>
          <a:p>
            <a:pPr algn="l">
              <a:lnSpc>
                <a:spcPts val="2179"/>
              </a:lnSpc>
            </a:pPr>
            <a:r>
              <a:rPr lang="en-US" sz="1651">
                <a:solidFill>
                  <a:srgbClr val="6B6A66"/>
                </a:solidFill>
                <a:latin typeface="Inter"/>
                <a:ea typeface="Inter"/>
                <a:cs typeface="Inter"/>
                <a:sym typeface="Inter"/>
              </a:rPr>
              <a:t>−1.5 s</a:t>
            </a:r>
          </a:p>
        </p:txBody>
      </p:sp>
      <p:sp>
        <p:nvSpPr>
          <p:cNvPr name="TextBox 46" id="46"/>
          <p:cNvSpPr txBox="true"/>
          <p:nvPr/>
        </p:nvSpPr>
        <p:spPr>
          <a:xfrm rot="0">
            <a:off x="9196902" y="2657666"/>
            <a:ext cx="8236039" cy="2215324"/>
          </a:xfrm>
          <a:prstGeom prst="rect">
            <a:avLst/>
          </a:prstGeom>
        </p:spPr>
        <p:txBody>
          <a:bodyPr anchor="t" rtlCol="false" tIns="0" lIns="0" bIns="0" rIns="0">
            <a:spAutoFit/>
          </a:bodyPr>
          <a:lstStyle/>
          <a:p>
            <a:pPr algn="l">
              <a:lnSpc>
                <a:spcPts val="2774"/>
              </a:lnSpc>
            </a:pPr>
            <a:r>
              <a:rPr lang="en-US" sz="2101">
                <a:solidFill>
                  <a:srgbClr val="2A78D6"/>
                </a:solidFill>
                <a:latin typeface="Inter"/>
                <a:ea typeface="Inter"/>
                <a:cs typeface="Inter"/>
                <a:sym typeface="Inter"/>
              </a:rPr>
              <a:t>●  </a:t>
            </a:r>
            <a:r>
              <a:rPr lang="en-US" sz="2101" b="true">
                <a:solidFill>
                  <a:srgbClr val="1F1F1D"/>
                </a:solidFill>
                <a:latin typeface="Inter Bold"/>
                <a:ea typeface="Inter Bold"/>
                <a:cs typeface="Inter Bold"/>
                <a:sym typeface="Inter Bold"/>
              </a:rPr>
              <a:t>Ventana fija: </a:t>
            </a:r>
            <a:r>
              <a:rPr lang="en-US" sz="2101">
                <a:solidFill>
                  <a:srgbClr val="1F1F1D"/>
                </a:solidFill>
                <a:latin typeface="Inter"/>
                <a:ea typeface="Inter"/>
                <a:cs typeface="Inter"/>
                <a:sym typeface="Inter"/>
              </a:rPr>
              <a:t>el modelo nunca ve cuánto dura el clip</a:t>
            </a:r>
          </a:p>
          <a:p>
            <a:pPr algn="l">
              <a:lnSpc>
                <a:spcPts val="2774"/>
              </a:lnSpc>
            </a:pPr>
            <a:r>
              <a:rPr lang="en-US" sz="2101">
                <a:solidFill>
                  <a:srgbClr val="2A78D6"/>
                </a:solidFill>
                <a:latin typeface="Inter"/>
                <a:ea typeface="Inter"/>
                <a:cs typeface="Inter"/>
                <a:sym typeface="Inter"/>
              </a:rPr>
              <a:t>●  </a:t>
            </a:r>
            <a:r>
              <a:rPr lang="en-US" sz="2101" b="true">
                <a:solidFill>
                  <a:srgbClr val="1F1F1D"/>
                </a:solidFill>
                <a:latin typeface="Inter Bold"/>
                <a:ea typeface="Inter Bold"/>
                <a:cs typeface="Inter Bold"/>
                <a:sym typeface="Inter Bold"/>
              </a:rPr>
              <a:t>Flujo óptico: </a:t>
            </a:r>
            <a:r>
              <a:rPr lang="en-US" sz="2101">
                <a:solidFill>
                  <a:srgbClr val="1F1F1D"/>
                </a:solidFill>
                <a:latin typeface="Inter"/>
                <a:ea typeface="Inter"/>
                <a:cs typeface="Inter"/>
                <a:sym typeface="Inter"/>
              </a:rPr>
              <a:t>separa el paneo de la cámara del movimiento de los jugadores</a:t>
            </a:r>
          </a:p>
          <a:p>
            <a:pPr algn="l">
              <a:lnSpc>
                <a:spcPts val="2774"/>
              </a:lnSpc>
            </a:pPr>
            <a:r>
              <a:rPr lang="en-US" sz="2101">
                <a:solidFill>
                  <a:srgbClr val="2A78D6"/>
                </a:solidFill>
                <a:latin typeface="Inter"/>
                <a:ea typeface="Inter"/>
                <a:cs typeface="Inter"/>
                <a:sym typeface="Inter"/>
              </a:rPr>
              <a:t>●  </a:t>
            </a:r>
            <a:r>
              <a:rPr lang="en-US" sz="2101" b="true">
                <a:solidFill>
                  <a:srgbClr val="1F1F1D"/>
                </a:solidFill>
                <a:latin typeface="Inter Bold"/>
                <a:ea typeface="Inter Bold"/>
                <a:cs typeface="Inter Bold"/>
                <a:sym typeface="Inter Bold"/>
              </a:rPr>
              <a:t>YOLOv8 y ResNet18: </a:t>
            </a:r>
            <a:r>
              <a:rPr lang="en-US" sz="2101">
                <a:solidFill>
                  <a:srgbClr val="1F1F1D"/>
                </a:solidFill>
                <a:latin typeface="Inter"/>
                <a:ea typeface="Inter"/>
                <a:cs typeface="Inter"/>
                <a:sym typeface="Inter"/>
              </a:rPr>
              <a:t>jugadores, balón y apariencia de cada cuadro</a:t>
            </a:r>
          </a:p>
        </p:txBody>
      </p:sp>
      <p:grpSp>
        <p:nvGrpSpPr>
          <p:cNvPr name="Group 47" id="47"/>
          <p:cNvGrpSpPr/>
          <p:nvPr/>
        </p:nvGrpSpPr>
        <p:grpSpPr>
          <a:xfrm rot="0">
            <a:off x="823608" y="5010255"/>
            <a:ext cx="16650519" cy="3972982"/>
            <a:chOff x="0" y="0"/>
            <a:chExt cx="22200692" cy="5297310"/>
          </a:xfrm>
        </p:grpSpPr>
        <p:sp>
          <p:nvSpPr>
            <p:cNvPr name="Freeform 48" id="48" descr="27_variables_por_clase.png"/>
            <p:cNvSpPr/>
            <p:nvPr/>
          </p:nvSpPr>
          <p:spPr>
            <a:xfrm flipH="false" flipV="false" rot="0">
              <a:off x="0" y="0"/>
              <a:ext cx="22200743" cy="5297297"/>
            </a:xfrm>
            <a:custGeom>
              <a:avLst/>
              <a:gdLst/>
              <a:ahLst/>
              <a:cxnLst/>
              <a:rect r="r" b="b" t="t" l="l"/>
              <a:pathLst>
                <a:path h="5297297" w="22200743">
                  <a:moveTo>
                    <a:pt x="0" y="0"/>
                  </a:moveTo>
                  <a:lnTo>
                    <a:pt x="22200743" y="0"/>
                  </a:lnTo>
                  <a:lnTo>
                    <a:pt x="22200743" y="5297297"/>
                  </a:lnTo>
                  <a:lnTo>
                    <a:pt x="0" y="5297297"/>
                  </a:lnTo>
                  <a:lnTo>
                    <a:pt x="0" y="0"/>
                  </a:lnTo>
                  <a:close/>
                </a:path>
              </a:pathLst>
            </a:custGeom>
            <a:blipFill>
              <a:blip r:embed="rId3"/>
              <a:stretch>
                <a:fillRect l="0" t="0" r="0" b="0"/>
              </a:stretch>
            </a:blipFill>
          </p:spPr>
        </p:sp>
      </p:grpSp>
      <p:grpSp>
        <p:nvGrpSpPr>
          <p:cNvPr name="Group 49" id="49"/>
          <p:cNvGrpSpPr/>
          <p:nvPr/>
        </p:nvGrpSpPr>
        <p:grpSpPr>
          <a:xfrm rot="0">
            <a:off x="823608" y="9059637"/>
            <a:ext cx="16650519" cy="851059"/>
            <a:chOff x="0" y="0"/>
            <a:chExt cx="22200692" cy="1134745"/>
          </a:xfrm>
        </p:grpSpPr>
        <p:sp>
          <p:nvSpPr>
            <p:cNvPr name="Freeform 50" id="50"/>
            <p:cNvSpPr/>
            <p:nvPr/>
          </p:nvSpPr>
          <p:spPr>
            <a:xfrm flipH="false" flipV="false" rot="0">
              <a:off x="0" y="0"/>
              <a:ext cx="22200743" cy="1134745"/>
            </a:xfrm>
            <a:custGeom>
              <a:avLst/>
              <a:gdLst/>
              <a:ahLst/>
              <a:cxnLst/>
              <a:rect r="r" b="b" t="t" l="l"/>
              <a:pathLst>
                <a:path h="1134745" w="22200743">
                  <a:moveTo>
                    <a:pt x="0" y="226949"/>
                  </a:moveTo>
                  <a:cubicBezTo>
                    <a:pt x="0" y="101600"/>
                    <a:pt x="101600" y="0"/>
                    <a:pt x="226949" y="0"/>
                  </a:cubicBezTo>
                  <a:lnTo>
                    <a:pt x="21973794" y="0"/>
                  </a:lnTo>
                  <a:cubicBezTo>
                    <a:pt x="22099143" y="0"/>
                    <a:pt x="22200743" y="101600"/>
                    <a:pt x="22200743" y="226949"/>
                  </a:cubicBezTo>
                  <a:lnTo>
                    <a:pt x="22200743" y="907796"/>
                  </a:lnTo>
                  <a:cubicBezTo>
                    <a:pt x="22200743" y="1033145"/>
                    <a:pt x="22099143" y="1134745"/>
                    <a:pt x="21973794" y="1134745"/>
                  </a:cubicBezTo>
                  <a:lnTo>
                    <a:pt x="226949" y="1134745"/>
                  </a:lnTo>
                  <a:cubicBezTo>
                    <a:pt x="101600" y="1134745"/>
                    <a:pt x="0" y="1033145"/>
                    <a:pt x="0" y="907796"/>
                  </a:cubicBezTo>
                  <a:close/>
                </a:path>
              </a:pathLst>
            </a:custGeom>
            <a:solidFill>
              <a:srgbClr val="E8F1FC"/>
            </a:solidFill>
          </p:spPr>
        </p:sp>
      </p:grpSp>
      <p:grpSp>
        <p:nvGrpSpPr>
          <p:cNvPr name="Group 51" id="51"/>
          <p:cNvGrpSpPr/>
          <p:nvPr/>
        </p:nvGrpSpPr>
        <p:grpSpPr>
          <a:xfrm rot="0">
            <a:off x="1166774" y="9059637"/>
            <a:ext cx="16060264" cy="851059"/>
            <a:chOff x="0" y="0"/>
            <a:chExt cx="21413686" cy="1134745"/>
          </a:xfrm>
        </p:grpSpPr>
        <p:sp>
          <p:nvSpPr>
            <p:cNvPr name="Freeform 52" id="52"/>
            <p:cNvSpPr/>
            <p:nvPr/>
          </p:nvSpPr>
          <p:spPr>
            <a:xfrm flipH="false" flipV="false" rot="0">
              <a:off x="0" y="0"/>
              <a:ext cx="21413690" cy="1134743"/>
            </a:xfrm>
            <a:custGeom>
              <a:avLst/>
              <a:gdLst/>
              <a:ahLst/>
              <a:cxnLst/>
              <a:rect r="r" b="b" t="t" l="l"/>
              <a:pathLst>
                <a:path h="1134743" w="21413690">
                  <a:moveTo>
                    <a:pt x="0" y="0"/>
                  </a:moveTo>
                  <a:lnTo>
                    <a:pt x="21413690" y="0"/>
                  </a:lnTo>
                  <a:lnTo>
                    <a:pt x="21413690" y="1134743"/>
                  </a:lnTo>
                  <a:lnTo>
                    <a:pt x="0" y="1134743"/>
                  </a:lnTo>
                  <a:close/>
                </a:path>
              </a:pathLst>
            </a:custGeom>
            <a:blipFill>
              <a:blip r:embed="rId4">
                <a:alphaModFix amt="0"/>
              </a:blip>
              <a:stretch>
                <a:fillRect l="0" t="-317701" r="0" b="-317701"/>
              </a:stretch>
            </a:blipFill>
          </p:spPr>
        </p:sp>
        <p:sp>
          <p:nvSpPr>
            <p:cNvPr name="TextBox 53" id="53"/>
            <p:cNvSpPr txBox="true"/>
            <p:nvPr/>
          </p:nvSpPr>
          <p:spPr>
            <a:xfrm>
              <a:off x="0" y="-28575"/>
              <a:ext cx="21413686" cy="1163320"/>
            </a:xfrm>
            <a:prstGeom prst="rect">
              <a:avLst/>
            </a:prstGeom>
          </p:spPr>
          <p:txBody>
            <a:bodyPr anchor="ctr" rtlCol="false" tIns="0" lIns="0" bIns="0" rIns="0"/>
            <a:lstStyle/>
            <a:p>
              <a:pPr algn="l">
                <a:lnSpc>
                  <a:spcPts val="3170"/>
                </a:lnSpc>
              </a:pPr>
              <a:r>
                <a:rPr lang="en-US" sz="2401" b="true">
                  <a:solidFill>
                    <a:srgbClr val="174A8B"/>
                  </a:solidFill>
                  <a:latin typeface="Inter Bold"/>
                  <a:ea typeface="Inter Bold"/>
                  <a:cs typeface="Inter Bold"/>
                  <a:sym typeface="Inter Bold"/>
                </a:rPr>
                <a:t>El saque de banda es la jugada más quieta. Pase, disputa y fondo se parecen mucho.</a:t>
              </a: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CFCFB"/>
        </a:solidFill>
      </p:bgPr>
    </p:bg>
    <p:spTree>
      <p:nvGrpSpPr>
        <p:cNvPr id="1" name=""/>
        <p:cNvGrpSpPr/>
        <p:nvPr/>
      </p:nvGrpSpPr>
      <p:grpSpPr>
        <a:xfrm>
          <a:off x="0" y="0"/>
          <a:ext cx="0" cy="0"/>
          <a:chOff x="0" y="0"/>
          <a:chExt cx="0" cy="0"/>
        </a:xfrm>
      </p:grpSpPr>
      <p:grpSp>
        <p:nvGrpSpPr>
          <p:cNvPr name="Group 2" id="2"/>
          <p:cNvGrpSpPr/>
          <p:nvPr/>
        </p:nvGrpSpPr>
        <p:grpSpPr>
          <a:xfrm rot="0">
            <a:off x="823608" y="617706"/>
            <a:ext cx="109814" cy="439255"/>
            <a:chOff x="0" y="0"/>
            <a:chExt cx="146418" cy="585673"/>
          </a:xfrm>
        </p:grpSpPr>
        <p:sp>
          <p:nvSpPr>
            <p:cNvPr name="Freeform 3" id="3"/>
            <p:cNvSpPr/>
            <p:nvPr/>
          </p:nvSpPr>
          <p:spPr>
            <a:xfrm flipH="false" flipV="false" rot="0">
              <a:off x="0" y="0"/>
              <a:ext cx="146431" cy="585724"/>
            </a:xfrm>
            <a:custGeom>
              <a:avLst/>
              <a:gdLst/>
              <a:ahLst/>
              <a:cxnLst/>
              <a:rect r="r" b="b" t="t" l="l"/>
              <a:pathLst>
                <a:path h="585724" w="146431">
                  <a:moveTo>
                    <a:pt x="0" y="0"/>
                  </a:moveTo>
                  <a:lnTo>
                    <a:pt x="146431" y="0"/>
                  </a:lnTo>
                  <a:lnTo>
                    <a:pt x="146431" y="585724"/>
                  </a:lnTo>
                  <a:lnTo>
                    <a:pt x="0" y="585724"/>
                  </a:lnTo>
                  <a:close/>
                </a:path>
              </a:pathLst>
            </a:custGeom>
            <a:solidFill>
              <a:srgbClr val="2A78D6"/>
            </a:solidFill>
          </p:spPr>
        </p:sp>
      </p:grpSp>
      <p:sp>
        <p:nvSpPr>
          <p:cNvPr name="TextBox 4" id="4"/>
          <p:cNvSpPr txBox="true"/>
          <p:nvPr/>
        </p:nvSpPr>
        <p:spPr>
          <a:xfrm rot="0">
            <a:off x="1028700" y="681831"/>
            <a:ext cx="12354049" cy="286872"/>
          </a:xfrm>
          <a:prstGeom prst="rect">
            <a:avLst/>
          </a:prstGeom>
        </p:spPr>
        <p:txBody>
          <a:bodyPr anchor="t" rtlCol="false" tIns="0" lIns="0" bIns="0" rIns="0">
            <a:spAutoFit/>
          </a:bodyPr>
          <a:lstStyle/>
          <a:p>
            <a:pPr algn="l">
              <a:lnSpc>
                <a:spcPts val="2377"/>
              </a:lnSpc>
            </a:pPr>
            <a:r>
              <a:rPr lang="en-US" sz="1801" b="true">
                <a:solidFill>
                  <a:srgbClr val="2A78D6"/>
                </a:solidFill>
                <a:latin typeface="Inter Bold"/>
                <a:ea typeface="Inter Bold"/>
                <a:cs typeface="Inter Bold"/>
                <a:sym typeface="Inter Bold"/>
              </a:rPr>
              <a:t>2 · SOLUCIÓN Y DISEÑO</a:t>
            </a:r>
            <a:r>
              <a:rPr lang="en-US" sz="1801">
                <a:solidFill>
                  <a:srgbClr val="6B6A66"/>
                </a:solidFill>
                <a:latin typeface="Inter"/>
                <a:ea typeface="Inter"/>
                <a:cs typeface="Inter"/>
                <a:sym typeface="Inter"/>
              </a:rPr>
              <a:t>  </a:t>
            </a:r>
          </a:p>
        </p:txBody>
      </p:sp>
      <p:sp>
        <p:nvSpPr>
          <p:cNvPr name="TextBox 5" id="5"/>
          <p:cNvSpPr txBox="true"/>
          <p:nvPr/>
        </p:nvSpPr>
        <p:spPr>
          <a:xfrm rot="0">
            <a:off x="823608" y="1178252"/>
            <a:ext cx="16609333" cy="1429826"/>
          </a:xfrm>
          <a:prstGeom prst="rect">
            <a:avLst/>
          </a:prstGeom>
        </p:spPr>
        <p:txBody>
          <a:bodyPr anchor="t" rtlCol="false" tIns="0" lIns="0" bIns="0" rIns="0">
            <a:spAutoFit/>
          </a:bodyPr>
          <a:lstStyle/>
          <a:p>
            <a:pPr algn="l">
              <a:lnSpc>
                <a:spcPts val="5944"/>
              </a:lnSpc>
            </a:pPr>
            <a:r>
              <a:rPr lang="en-US" sz="4503" b="true">
                <a:solidFill>
                  <a:srgbClr val="1F1F1D"/>
                </a:solidFill>
                <a:latin typeface="Inter Bold"/>
                <a:ea typeface="Inter Bold"/>
                <a:cs typeface="Inter Bold"/>
                <a:sym typeface="Inter Bold"/>
              </a:rPr>
              <a:t>Cuatro algoritmos de familias distintas, y por qué</a:t>
            </a:r>
          </a:p>
        </p:txBody>
      </p:sp>
      <p:sp>
        <p:nvSpPr>
          <p:cNvPr name="TextBox 6" id="6"/>
          <p:cNvSpPr txBox="true"/>
          <p:nvPr/>
        </p:nvSpPr>
        <p:spPr>
          <a:xfrm rot="0">
            <a:off x="16746607" y="9580131"/>
            <a:ext cx="823608" cy="440379"/>
          </a:xfrm>
          <a:prstGeom prst="rect">
            <a:avLst/>
          </a:prstGeom>
        </p:spPr>
        <p:txBody>
          <a:bodyPr anchor="t" rtlCol="false" tIns="0" lIns="0" bIns="0" rIns="0">
            <a:spAutoFit/>
          </a:bodyPr>
          <a:lstStyle/>
          <a:p>
            <a:pPr algn="r">
              <a:lnSpc>
                <a:spcPts val="2179"/>
              </a:lnSpc>
            </a:pPr>
            <a:r>
              <a:rPr lang="en-US" sz="1651">
                <a:solidFill>
                  <a:srgbClr val="6B6A66"/>
                </a:solidFill>
                <a:latin typeface="Inter"/>
                <a:ea typeface="Inter"/>
                <a:cs typeface="Inter"/>
                <a:sym typeface="Inter"/>
              </a:rPr>
              <a:t>6</a:t>
            </a:r>
          </a:p>
        </p:txBody>
      </p:sp>
      <p:grpSp>
        <p:nvGrpSpPr>
          <p:cNvPr name="Group 7" id="7"/>
          <p:cNvGrpSpPr/>
          <p:nvPr/>
        </p:nvGrpSpPr>
        <p:grpSpPr>
          <a:xfrm rot="0">
            <a:off x="823608" y="2813980"/>
            <a:ext cx="3980755" cy="4529823"/>
            <a:chOff x="0" y="0"/>
            <a:chExt cx="5307673" cy="6039764"/>
          </a:xfrm>
        </p:grpSpPr>
        <p:sp>
          <p:nvSpPr>
            <p:cNvPr name="Freeform 8" id="8"/>
            <p:cNvSpPr/>
            <p:nvPr/>
          </p:nvSpPr>
          <p:spPr>
            <a:xfrm flipH="false" flipV="false" rot="0">
              <a:off x="0" y="0"/>
              <a:ext cx="5307711" cy="6039866"/>
            </a:xfrm>
            <a:custGeom>
              <a:avLst/>
              <a:gdLst/>
              <a:ahLst/>
              <a:cxnLst/>
              <a:rect r="r" b="b" t="t" l="l"/>
              <a:pathLst>
                <a:path h="6039866" w="5307711">
                  <a:moveTo>
                    <a:pt x="0" y="318516"/>
                  </a:moveTo>
                  <a:cubicBezTo>
                    <a:pt x="0" y="142621"/>
                    <a:pt x="142621" y="0"/>
                    <a:pt x="318516" y="0"/>
                  </a:cubicBezTo>
                  <a:lnTo>
                    <a:pt x="4989195" y="0"/>
                  </a:lnTo>
                  <a:cubicBezTo>
                    <a:pt x="5165090" y="0"/>
                    <a:pt x="5307711" y="142621"/>
                    <a:pt x="5307711" y="318516"/>
                  </a:cubicBezTo>
                  <a:lnTo>
                    <a:pt x="5307711" y="5721350"/>
                  </a:lnTo>
                  <a:cubicBezTo>
                    <a:pt x="5307711" y="5897245"/>
                    <a:pt x="5165090" y="6039866"/>
                    <a:pt x="4989195" y="6039866"/>
                  </a:cubicBezTo>
                  <a:lnTo>
                    <a:pt x="318516" y="6039866"/>
                  </a:lnTo>
                  <a:cubicBezTo>
                    <a:pt x="142621" y="6039739"/>
                    <a:pt x="0" y="5897118"/>
                    <a:pt x="0" y="5721350"/>
                  </a:cubicBezTo>
                  <a:close/>
                </a:path>
              </a:pathLst>
            </a:custGeom>
            <a:solidFill>
              <a:srgbClr val="F0EFEC"/>
            </a:solidFill>
          </p:spPr>
        </p:sp>
      </p:grpSp>
      <p:grpSp>
        <p:nvGrpSpPr>
          <p:cNvPr name="Group 9" id="9"/>
          <p:cNvGrpSpPr/>
          <p:nvPr/>
        </p:nvGrpSpPr>
        <p:grpSpPr>
          <a:xfrm rot="0">
            <a:off x="823608" y="3157147"/>
            <a:ext cx="96088" cy="686333"/>
            <a:chOff x="0" y="0"/>
            <a:chExt cx="128118" cy="915111"/>
          </a:xfrm>
        </p:grpSpPr>
        <p:sp>
          <p:nvSpPr>
            <p:cNvPr name="Freeform 10" id="10"/>
            <p:cNvSpPr/>
            <p:nvPr/>
          </p:nvSpPr>
          <p:spPr>
            <a:xfrm flipH="false" flipV="false" rot="0">
              <a:off x="0" y="0"/>
              <a:ext cx="128143" cy="915162"/>
            </a:xfrm>
            <a:custGeom>
              <a:avLst/>
              <a:gdLst/>
              <a:ahLst/>
              <a:cxnLst/>
              <a:rect r="r" b="b" t="t" l="l"/>
              <a:pathLst>
                <a:path h="915162" w="128143">
                  <a:moveTo>
                    <a:pt x="0" y="0"/>
                  </a:moveTo>
                  <a:lnTo>
                    <a:pt x="128143" y="0"/>
                  </a:lnTo>
                  <a:lnTo>
                    <a:pt x="128143" y="915162"/>
                  </a:lnTo>
                  <a:lnTo>
                    <a:pt x="0" y="915162"/>
                  </a:lnTo>
                  <a:close/>
                </a:path>
              </a:pathLst>
            </a:custGeom>
            <a:solidFill>
              <a:srgbClr val="2A78D6"/>
            </a:solidFill>
          </p:spPr>
        </p:sp>
      </p:grpSp>
      <p:sp>
        <p:nvSpPr>
          <p:cNvPr name="TextBox 11" id="11"/>
          <p:cNvSpPr txBox="true"/>
          <p:nvPr/>
        </p:nvSpPr>
        <p:spPr>
          <a:xfrm rot="0">
            <a:off x="1131756" y="3245823"/>
            <a:ext cx="3501704" cy="470882"/>
          </a:xfrm>
          <a:prstGeom prst="rect">
            <a:avLst/>
          </a:prstGeom>
        </p:spPr>
        <p:txBody>
          <a:bodyPr anchor="t" rtlCol="false" tIns="0" lIns="0" bIns="0" rIns="0">
            <a:spAutoFit/>
          </a:bodyPr>
          <a:lstStyle/>
          <a:p>
            <a:pPr algn="l">
              <a:lnSpc>
                <a:spcPts val="3764"/>
              </a:lnSpc>
            </a:pPr>
            <a:r>
              <a:rPr lang="en-US" sz="2852" b="true">
                <a:solidFill>
                  <a:srgbClr val="1F1F1D"/>
                </a:solidFill>
                <a:latin typeface="Inter Bold"/>
                <a:ea typeface="Inter Bold"/>
                <a:cs typeface="Inter Bold"/>
                <a:sym typeface="Inter Bold"/>
              </a:rPr>
              <a:t>Regresión logística</a:t>
            </a:r>
          </a:p>
        </p:txBody>
      </p:sp>
      <p:sp>
        <p:nvSpPr>
          <p:cNvPr name="TextBox 12" id="12"/>
          <p:cNvSpPr txBox="true"/>
          <p:nvPr/>
        </p:nvSpPr>
        <p:spPr>
          <a:xfrm rot="0">
            <a:off x="1235402" y="3952170"/>
            <a:ext cx="3294412" cy="3185722"/>
          </a:xfrm>
          <a:prstGeom prst="rect">
            <a:avLst/>
          </a:prstGeom>
        </p:spPr>
        <p:txBody>
          <a:bodyPr anchor="t" rtlCol="false" tIns="0" lIns="0" bIns="0" rIns="0">
            <a:spAutoFit/>
          </a:bodyPr>
          <a:lstStyle/>
          <a:p>
            <a:pPr algn="l">
              <a:lnSpc>
                <a:spcPts val="2485"/>
              </a:lnSpc>
            </a:pPr>
            <a:r>
              <a:rPr lang="en-US" sz="1801" b="true">
                <a:solidFill>
                  <a:srgbClr val="2A78D6"/>
                </a:solidFill>
                <a:latin typeface="Inter Bold"/>
                <a:ea typeface="Inter Bold"/>
                <a:cs typeface="Inter Bold"/>
                <a:sym typeface="Inter Bold"/>
              </a:rPr>
              <a:t>LÍNEA BASE</a:t>
            </a:r>
          </a:p>
          <a:p>
            <a:pPr algn="l">
              <a:lnSpc>
                <a:spcPts val="2900"/>
              </a:lnSpc>
            </a:pPr>
            <a:r>
              <a:rPr lang="en-US" sz="2101">
                <a:solidFill>
                  <a:srgbClr val="6B6A66"/>
                </a:solidFill>
                <a:latin typeface="Inter"/>
                <a:ea typeface="Inter"/>
                <a:cs typeface="Inter"/>
                <a:sym typeface="Inter"/>
              </a:rPr>
              <a:t>Si los modelos complejos no la superan, la complejidad no se justifica.</a:t>
            </a:r>
          </a:p>
        </p:txBody>
      </p:sp>
      <p:grpSp>
        <p:nvGrpSpPr>
          <p:cNvPr name="Group 13" id="13"/>
          <p:cNvGrpSpPr/>
          <p:nvPr/>
        </p:nvGrpSpPr>
        <p:grpSpPr>
          <a:xfrm rot="0">
            <a:off x="5051431" y="2813980"/>
            <a:ext cx="3980755" cy="4529823"/>
            <a:chOff x="0" y="0"/>
            <a:chExt cx="5307673" cy="6039764"/>
          </a:xfrm>
        </p:grpSpPr>
        <p:sp>
          <p:nvSpPr>
            <p:cNvPr name="Freeform 14" id="14"/>
            <p:cNvSpPr/>
            <p:nvPr/>
          </p:nvSpPr>
          <p:spPr>
            <a:xfrm flipH="false" flipV="false" rot="0">
              <a:off x="0" y="0"/>
              <a:ext cx="5307711" cy="6039866"/>
            </a:xfrm>
            <a:custGeom>
              <a:avLst/>
              <a:gdLst/>
              <a:ahLst/>
              <a:cxnLst/>
              <a:rect r="r" b="b" t="t" l="l"/>
              <a:pathLst>
                <a:path h="6039866" w="5307711">
                  <a:moveTo>
                    <a:pt x="0" y="318516"/>
                  </a:moveTo>
                  <a:cubicBezTo>
                    <a:pt x="0" y="142621"/>
                    <a:pt x="142621" y="0"/>
                    <a:pt x="318516" y="0"/>
                  </a:cubicBezTo>
                  <a:lnTo>
                    <a:pt x="4989195" y="0"/>
                  </a:lnTo>
                  <a:cubicBezTo>
                    <a:pt x="5165090" y="0"/>
                    <a:pt x="5307711" y="142621"/>
                    <a:pt x="5307711" y="318516"/>
                  </a:cubicBezTo>
                  <a:lnTo>
                    <a:pt x="5307711" y="5721350"/>
                  </a:lnTo>
                  <a:cubicBezTo>
                    <a:pt x="5307711" y="5897245"/>
                    <a:pt x="5165090" y="6039866"/>
                    <a:pt x="4989195" y="6039866"/>
                  </a:cubicBezTo>
                  <a:lnTo>
                    <a:pt x="318516" y="6039866"/>
                  </a:lnTo>
                  <a:cubicBezTo>
                    <a:pt x="142621" y="6039739"/>
                    <a:pt x="0" y="5897118"/>
                    <a:pt x="0" y="5721350"/>
                  </a:cubicBezTo>
                  <a:close/>
                </a:path>
              </a:pathLst>
            </a:custGeom>
            <a:solidFill>
              <a:srgbClr val="F0EFEC"/>
            </a:solidFill>
          </p:spPr>
        </p:sp>
      </p:grpSp>
      <p:grpSp>
        <p:nvGrpSpPr>
          <p:cNvPr name="Group 15" id="15"/>
          <p:cNvGrpSpPr/>
          <p:nvPr/>
        </p:nvGrpSpPr>
        <p:grpSpPr>
          <a:xfrm rot="0">
            <a:off x="5051431" y="3157147"/>
            <a:ext cx="96088" cy="686333"/>
            <a:chOff x="0" y="0"/>
            <a:chExt cx="128118" cy="915111"/>
          </a:xfrm>
        </p:grpSpPr>
        <p:sp>
          <p:nvSpPr>
            <p:cNvPr name="Freeform 16" id="16"/>
            <p:cNvSpPr/>
            <p:nvPr/>
          </p:nvSpPr>
          <p:spPr>
            <a:xfrm flipH="false" flipV="false" rot="0">
              <a:off x="0" y="0"/>
              <a:ext cx="128143" cy="915162"/>
            </a:xfrm>
            <a:custGeom>
              <a:avLst/>
              <a:gdLst/>
              <a:ahLst/>
              <a:cxnLst/>
              <a:rect r="r" b="b" t="t" l="l"/>
              <a:pathLst>
                <a:path h="915162" w="128143">
                  <a:moveTo>
                    <a:pt x="0" y="0"/>
                  </a:moveTo>
                  <a:lnTo>
                    <a:pt x="128143" y="0"/>
                  </a:lnTo>
                  <a:lnTo>
                    <a:pt x="128143" y="915162"/>
                  </a:lnTo>
                  <a:lnTo>
                    <a:pt x="0" y="915162"/>
                  </a:lnTo>
                  <a:close/>
                </a:path>
              </a:pathLst>
            </a:custGeom>
            <a:solidFill>
              <a:srgbClr val="2A78D6"/>
            </a:solidFill>
          </p:spPr>
        </p:sp>
      </p:grpSp>
      <p:sp>
        <p:nvSpPr>
          <p:cNvPr name="TextBox 17" id="17"/>
          <p:cNvSpPr txBox="true"/>
          <p:nvPr/>
        </p:nvSpPr>
        <p:spPr>
          <a:xfrm rot="0">
            <a:off x="5460978" y="3245823"/>
            <a:ext cx="3294412" cy="861708"/>
          </a:xfrm>
          <a:prstGeom prst="rect">
            <a:avLst/>
          </a:prstGeom>
        </p:spPr>
        <p:txBody>
          <a:bodyPr anchor="t" rtlCol="false" tIns="0" lIns="0" bIns="0" rIns="0">
            <a:spAutoFit/>
          </a:bodyPr>
          <a:lstStyle/>
          <a:p>
            <a:pPr algn="l">
              <a:lnSpc>
                <a:spcPts val="3764"/>
              </a:lnSpc>
            </a:pPr>
            <a:r>
              <a:rPr lang="en-US" sz="2852" b="true">
                <a:solidFill>
                  <a:srgbClr val="1F1F1D"/>
                </a:solidFill>
                <a:latin typeface="Inter Bold"/>
                <a:ea typeface="Inter Bold"/>
                <a:cs typeface="Inter Bold"/>
                <a:sym typeface="Inter Bold"/>
              </a:rPr>
              <a:t>Random Forest</a:t>
            </a:r>
          </a:p>
        </p:txBody>
      </p:sp>
      <p:sp>
        <p:nvSpPr>
          <p:cNvPr name="TextBox 18" id="18"/>
          <p:cNvSpPr txBox="true"/>
          <p:nvPr/>
        </p:nvSpPr>
        <p:spPr>
          <a:xfrm rot="0">
            <a:off x="5463235" y="3952170"/>
            <a:ext cx="3294412" cy="3185722"/>
          </a:xfrm>
          <a:prstGeom prst="rect">
            <a:avLst/>
          </a:prstGeom>
        </p:spPr>
        <p:txBody>
          <a:bodyPr anchor="t" rtlCol="false" tIns="0" lIns="0" bIns="0" rIns="0">
            <a:spAutoFit/>
          </a:bodyPr>
          <a:lstStyle/>
          <a:p>
            <a:pPr algn="l">
              <a:lnSpc>
                <a:spcPts val="2485"/>
              </a:lnSpc>
            </a:pPr>
            <a:r>
              <a:rPr lang="en-US" sz="1801" b="true">
                <a:solidFill>
                  <a:srgbClr val="2A78D6"/>
                </a:solidFill>
                <a:latin typeface="Inter Bold"/>
                <a:ea typeface="Inter Bold"/>
                <a:cs typeface="Inter Bold"/>
                <a:sym typeface="Inter Bold"/>
              </a:rPr>
              <a:t>BAGGING</a:t>
            </a:r>
          </a:p>
          <a:p>
            <a:pPr algn="l">
              <a:lnSpc>
                <a:spcPts val="2900"/>
              </a:lnSpc>
            </a:pPr>
            <a:r>
              <a:rPr lang="en-US" sz="2101">
                <a:solidFill>
                  <a:srgbClr val="6B6A66"/>
                </a:solidFill>
                <a:latin typeface="Inter"/>
                <a:ea typeface="Inter"/>
                <a:cs typeface="Inter"/>
                <a:sym typeface="Inter"/>
              </a:rPr>
              <a:t>Promedia muchos árboles: robusto y da importancia de variables.</a:t>
            </a:r>
          </a:p>
        </p:txBody>
      </p:sp>
      <p:grpSp>
        <p:nvGrpSpPr>
          <p:cNvPr name="Group 19" id="19"/>
          <p:cNvGrpSpPr/>
          <p:nvPr/>
        </p:nvGrpSpPr>
        <p:grpSpPr>
          <a:xfrm rot="0">
            <a:off x="9279265" y="2813980"/>
            <a:ext cx="3980755" cy="4529823"/>
            <a:chOff x="0" y="0"/>
            <a:chExt cx="5307673" cy="6039764"/>
          </a:xfrm>
        </p:grpSpPr>
        <p:sp>
          <p:nvSpPr>
            <p:cNvPr name="Freeform 20" id="20"/>
            <p:cNvSpPr/>
            <p:nvPr/>
          </p:nvSpPr>
          <p:spPr>
            <a:xfrm flipH="false" flipV="false" rot="0">
              <a:off x="0" y="0"/>
              <a:ext cx="5307711" cy="6039866"/>
            </a:xfrm>
            <a:custGeom>
              <a:avLst/>
              <a:gdLst/>
              <a:ahLst/>
              <a:cxnLst/>
              <a:rect r="r" b="b" t="t" l="l"/>
              <a:pathLst>
                <a:path h="6039866" w="5307711">
                  <a:moveTo>
                    <a:pt x="0" y="318516"/>
                  </a:moveTo>
                  <a:cubicBezTo>
                    <a:pt x="0" y="142621"/>
                    <a:pt x="142621" y="0"/>
                    <a:pt x="318516" y="0"/>
                  </a:cubicBezTo>
                  <a:lnTo>
                    <a:pt x="4989195" y="0"/>
                  </a:lnTo>
                  <a:cubicBezTo>
                    <a:pt x="5165090" y="0"/>
                    <a:pt x="5307711" y="142621"/>
                    <a:pt x="5307711" y="318516"/>
                  </a:cubicBezTo>
                  <a:lnTo>
                    <a:pt x="5307711" y="5721350"/>
                  </a:lnTo>
                  <a:cubicBezTo>
                    <a:pt x="5307711" y="5897245"/>
                    <a:pt x="5165090" y="6039866"/>
                    <a:pt x="4989195" y="6039866"/>
                  </a:cubicBezTo>
                  <a:lnTo>
                    <a:pt x="318516" y="6039866"/>
                  </a:lnTo>
                  <a:cubicBezTo>
                    <a:pt x="142621" y="6039739"/>
                    <a:pt x="0" y="5897118"/>
                    <a:pt x="0" y="5721350"/>
                  </a:cubicBezTo>
                  <a:close/>
                </a:path>
              </a:pathLst>
            </a:custGeom>
            <a:solidFill>
              <a:srgbClr val="F0EFEC"/>
            </a:solidFill>
          </p:spPr>
        </p:sp>
      </p:grpSp>
      <p:grpSp>
        <p:nvGrpSpPr>
          <p:cNvPr name="Group 21" id="21"/>
          <p:cNvGrpSpPr/>
          <p:nvPr/>
        </p:nvGrpSpPr>
        <p:grpSpPr>
          <a:xfrm rot="0">
            <a:off x="9279265" y="3157147"/>
            <a:ext cx="96088" cy="686333"/>
            <a:chOff x="0" y="0"/>
            <a:chExt cx="128118" cy="915111"/>
          </a:xfrm>
        </p:grpSpPr>
        <p:sp>
          <p:nvSpPr>
            <p:cNvPr name="Freeform 22" id="22"/>
            <p:cNvSpPr/>
            <p:nvPr/>
          </p:nvSpPr>
          <p:spPr>
            <a:xfrm flipH="false" flipV="false" rot="0">
              <a:off x="0" y="0"/>
              <a:ext cx="128143" cy="915162"/>
            </a:xfrm>
            <a:custGeom>
              <a:avLst/>
              <a:gdLst/>
              <a:ahLst/>
              <a:cxnLst/>
              <a:rect r="r" b="b" t="t" l="l"/>
              <a:pathLst>
                <a:path h="915162" w="128143">
                  <a:moveTo>
                    <a:pt x="0" y="0"/>
                  </a:moveTo>
                  <a:lnTo>
                    <a:pt x="128143" y="0"/>
                  </a:lnTo>
                  <a:lnTo>
                    <a:pt x="128143" y="915162"/>
                  </a:lnTo>
                  <a:lnTo>
                    <a:pt x="0" y="915162"/>
                  </a:lnTo>
                  <a:close/>
                </a:path>
              </a:pathLst>
            </a:custGeom>
            <a:solidFill>
              <a:srgbClr val="2A78D6"/>
            </a:solidFill>
          </p:spPr>
        </p:sp>
      </p:grpSp>
      <p:sp>
        <p:nvSpPr>
          <p:cNvPr name="TextBox 23" id="23"/>
          <p:cNvSpPr txBox="true"/>
          <p:nvPr/>
        </p:nvSpPr>
        <p:spPr>
          <a:xfrm rot="0">
            <a:off x="9691068" y="3245823"/>
            <a:ext cx="3294412" cy="861708"/>
          </a:xfrm>
          <a:prstGeom prst="rect">
            <a:avLst/>
          </a:prstGeom>
        </p:spPr>
        <p:txBody>
          <a:bodyPr anchor="t" rtlCol="false" tIns="0" lIns="0" bIns="0" rIns="0">
            <a:spAutoFit/>
          </a:bodyPr>
          <a:lstStyle/>
          <a:p>
            <a:pPr algn="l">
              <a:lnSpc>
                <a:spcPts val="3764"/>
              </a:lnSpc>
            </a:pPr>
            <a:r>
              <a:rPr lang="en-US" sz="2852" b="true">
                <a:solidFill>
                  <a:srgbClr val="1F1F1D"/>
                </a:solidFill>
                <a:latin typeface="Inter Bold"/>
                <a:ea typeface="Inter Bold"/>
                <a:cs typeface="Inter Bold"/>
                <a:sym typeface="Inter Bold"/>
              </a:rPr>
              <a:t>XGBoost</a:t>
            </a:r>
          </a:p>
        </p:txBody>
      </p:sp>
      <p:sp>
        <p:nvSpPr>
          <p:cNvPr name="TextBox 24" id="24"/>
          <p:cNvSpPr txBox="true"/>
          <p:nvPr/>
        </p:nvSpPr>
        <p:spPr>
          <a:xfrm rot="0">
            <a:off x="9691068" y="3952170"/>
            <a:ext cx="3294412" cy="3185722"/>
          </a:xfrm>
          <a:prstGeom prst="rect">
            <a:avLst/>
          </a:prstGeom>
        </p:spPr>
        <p:txBody>
          <a:bodyPr anchor="t" rtlCol="false" tIns="0" lIns="0" bIns="0" rIns="0">
            <a:spAutoFit/>
          </a:bodyPr>
          <a:lstStyle/>
          <a:p>
            <a:pPr algn="l">
              <a:lnSpc>
                <a:spcPts val="2485"/>
              </a:lnSpc>
            </a:pPr>
            <a:r>
              <a:rPr lang="en-US" sz="1801" b="true">
                <a:solidFill>
                  <a:srgbClr val="2A78D6"/>
                </a:solidFill>
                <a:latin typeface="Inter Bold"/>
                <a:ea typeface="Inter Bold"/>
                <a:cs typeface="Inter Bold"/>
                <a:sym typeface="Inter Bold"/>
              </a:rPr>
              <a:t>BOOSTING</a:t>
            </a:r>
          </a:p>
          <a:p>
            <a:pPr algn="l">
              <a:lnSpc>
                <a:spcPts val="2900"/>
              </a:lnSpc>
            </a:pPr>
            <a:r>
              <a:rPr lang="en-US" sz="2101">
                <a:solidFill>
                  <a:srgbClr val="6B6A66"/>
                </a:solidFill>
                <a:latin typeface="Inter"/>
                <a:ea typeface="Inter"/>
                <a:cs typeface="Inter"/>
                <a:sym typeface="Inter"/>
              </a:rPr>
              <a:t>Cada árbol corrige al anterior. Suele ser el más fuerte en datos tabulares.</a:t>
            </a:r>
          </a:p>
        </p:txBody>
      </p:sp>
      <p:grpSp>
        <p:nvGrpSpPr>
          <p:cNvPr name="Group 25" id="25"/>
          <p:cNvGrpSpPr/>
          <p:nvPr/>
        </p:nvGrpSpPr>
        <p:grpSpPr>
          <a:xfrm rot="0">
            <a:off x="13507098" y="2813980"/>
            <a:ext cx="3980755" cy="4529823"/>
            <a:chOff x="0" y="0"/>
            <a:chExt cx="5307673" cy="6039764"/>
          </a:xfrm>
        </p:grpSpPr>
        <p:sp>
          <p:nvSpPr>
            <p:cNvPr name="Freeform 26" id="26"/>
            <p:cNvSpPr/>
            <p:nvPr/>
          </p:nvSpPr>
          <p:spPr>
            <a:xfrm flipH="false" flipV="false" rot="0">
              <a:off x="0" y="0"/>
              <a:ext cx="5307711" cy="6039866"/>
            </a:xfrm>
            <a:custGeom>
              <a:avLst/>
              <a:gdLst/>
              <a:ahLst/>
              <a:cxnLst/>
              <a:rect r="r" b="b" t="t" l="l"/>
              <a:pathLst>
                <a:path h="6039866" w="5307711">
                  <a:moveTo>
                    <a:pt x="0" y="318516"/>
                  </a:moveTo>
                  <a:cubicBezTo>
                    <a:pt x="0" y="142621"/>
                    <a:pt x="142621" y="0"/>
                    <a:pt x="318516" y="0"/>
                  </a:cubicBezTo>
                  <a:lnTo>
                    <a:pt x="4989195" y="0"/>
                  </a:lnTo>
                  <a:cubicBezTo>
                    <a:pt x="5165090" y="0"/>
                    <a:pt x="5307711" y="142621"/>
                    <a:pt x="5307711" y="318516"/>
                  </a:cubicBezTo>
                  <a:lnTo>
                    <a:pt x="5307711" y="5721350"/>
                  </a:lnTo>
                  <a:cubicBezTo>
                    <a:pt x="5307711" y="5897245"/>
                    <a:pt x="5165090" y="6039866"/>
                    <a:pt x="4989195" y="6039866"/>
                  </a:cubicBezTo>
                  <a:lnTo>
                    <a:pt x="318516" y="6039866"/>
                  </a:lnTo>
                  <a:cubicBezTo>
                    <a:pt x="142621" y="6039739"/>
                    <a:pt x="0" y="5897118"/>
                    <a:pt x="0" y="5721350"/>
                  </a:cubicBezTo>
                  <a:close/>
                </a:path>
              </a:pathLst>
            </a:custGeom>
            <a:solidFill>
              <a:srgbClr val="F0EFEC"/>
            </a:solidFill>
          </p:spPr>
        </p:sp>
      </p:grpSp>
      <p:grpSp>
        <p:nvGrpSpPr>
          <p:cNvPr name="Group 27" id="27"/>
          <p:cNvGrpSpPr/>
          <p:nvPr/>
        </p:nvGrpSpPr>
        <p:grpSpPr>
          <a:xfrm rot="0">
            <a:off x="13507098" y="3157147"/>
            <a:ext cx="96088" cy="686333"/>
            <a:chOff x="0" y="0"/>
            <a:chExt cx="128118" cy="915111"/>
          </a:xfrm>
        </p:grpSpPr>
        <p:sp>
          <p:nvSpPr>
            <p:cNvPr name="Freeform 28" id="28"/>
            <p:cNvSpPr/>
            <p:nvPr/>
          </p:nvSpPr>
          <p:spPr>
            <a:xfrm flipH="false" flipV="false" rot="0">
              <a:off x="0" y="0"/>
              <a:ext cx="128143" cy="915162"/>
            </a:xfrm>
            <a:custGeom>
              <a:avLst/>
              <a:gdLst/>
              <a:ahLst/>
              <a:cxnLst/>
              <a:rect r="r" b="b" t="t" l="l"/>
              <a:pathLst>
                <a:path h="915162" w="128143">
                  <a:moveTo>
                    <a:pt x="0" y="0"/>
                  </a:moveTo>
                  <a:lnTo>
                    <a:pt x="128143" y="0"/>
                  </a:lnTo>
                  <a:lnTo>
                    <a:pt x="128143" y="915162"/>
                  </a:lnTo>
                  <a:lnTo>
                    <a:pt x="0" y="915162"/>
                  </a:lnTo>
                  <a:close/>
                </a:path>
              </a:pathLst>
            </a:custGeom>
            <a:solidFill>
              <a:srgbClr val="2A78D6"/>
            </a:solidFill>
          </p:spPr>
        </p:sp>
      </p:grpSp>
      <p:sp>
        <p:nvSpPr>
          <p:cNvPr name="TextBox 29" id="29"/>
          <p:cNvSpPr txBox="true"/>
          <p:nvPr/>
        </p:nvSpPr>
        <p:spPr>
          <a:xfrm rot="0">
            <a:off x="13918902" y="3245823"/>
            <a:ext cx="3294412" cy="861708"/>
          </a:xfrm>
          <a:prstGeom prst="rect">
            <a:avLst/>
          </a:prstGeom>
        </p:spPr>
        <p:txBody>
          <a:bodyPr anchor="t" rtlCol="false" tIns="0" lIns="0" bIns="0" rIns="0">
            <a:spAutoFit/>
          </a:bodyPr>
          <a:lstStyle/>
          <a:p>
            <a:pPr algn="l">
              <a:lnSpc>
                <a:spcPts val="3764"/>
              </a:lnSpc>
            </a:pPr>
            <a:r>
              <a:rPr lang="en-US" sz="2852" b="true">
                <a:solidFill>
                  <a:srgbClr val="1F1F1D"/>
                </a:solidFill>
                <a:latin typeface="Inter Bold"/>
                <a:ea typeface="Inter Bold"/>
                <a:cs typeface="Inter Bold"/>
                <a:sym typeface="Inter Bold"/>
              </a:rPr>
              <a:t>GRU</a:t>
            </a:r>
          </a:p>
        </p:txBody>
      </p:sp>
      <p:sp>
        <p:nvSpPr>
          <p:cNvPr name="TextBox 30" id="30"/>
          <p:cNvSpPr txBox="true"/>
          <p:nvPr/>
        </p:nvSpPr>
        <p:spPr>
          <a:xfrm rot="0">
            <a:off x="13918902" y="3952170"/>
            <a:ext cx="3294412" cy="3185722"/>
          </a:xfrm>
          <a:prstGeom prst="rect">
            <a:avLst/>
          </a:prstGeom>
        </p:spPr>
        <p:txBody>
          <a:bodyPr anchor="t" rtlCol="false" tIns="0" lIns="0" bIns="0" rIns="0">
            <a:spAutoFit/>
          </a:bodyPr>
          <a:lstStyle/>
          <a:p>
            <a:pPr algn="l">
              <a:lnSpc>
                <a:spcPts val="2485"/>
              </a:lnSpc>
            </a:pPr>
            <a:r>
              <a:rPr lang="en-US" sz="1801" b="true">
                <a:solidFill>
                  <a:srgbClr val="2A78D6"/>
                </a:solidFill>
                <a:latin typeface="Inter Bold"/>
                <a:ea typeface="Inter Bold"/>
                <a:cs typeface="Inter Bold"/>
                <a:sym typeface="Inter Bold"/>
              </a:rPr>
              <a:t>RED RECURRENTE</a:t>
            </a:r>
          </a:p>
          <a:p>
            <a:pPr algn="l">
              <a:lnSpc>
                <a:spcPts val="2900"/>
              </a:lnSpc>
            </a:pPr>
            <a:r>
              <a:rPr lang="en-US" sz="2101">
                <a:solidFill>
                  <a:srgbClr val="6B6A66"/>
                </a:solidFill>
                <a:latin typeface="Inter"/>
                <a:ea typeface="Inter"/>
                <a:cs typeface="Inter"/>
                <a:sym typeface="Inter"/>
              </a:rPr>
              <a:t>ResNet18 resume cada cuadro y la GRU los recorre en orden: ve cuándo ocurre el cambio.</a:t>
            </a:r>
          </a:p>
        </p:txBody>
      </p:sp>
      <p:sp>
        <p:nvSpPr>
          <p:cNvPr name="TextBox 31" id="31"/>
          <p:cNvSpPr txBox="true"/>
          <p:nvPr/>
        </p:nvSpPr>
        <p:spPr>
          <a:xfrm rot="0">
            <a:off x="823608" y="7698448"/>
            <a:ext cx="16609333" cy="1292552"/>
          </a:xfrm>
          <a:prstGeom prst="rect">
            <a:avLst/>
          </a:prstGeom>
        </p:spPr>
        <p:txBody>
          <a:bodyPr anchor="t" rtlCol="false" tIns="0" lIns="0" bIns="0" rIns="0">
            <a:spAutoFit/>
          </a:bodyPr>
          <a:lstStyle/>
          <a:p>
            <a:pPr algn="l">
              <a:lnSpc>
                <a:spcPts val="3242"/>
              </a:lnSpc>
            </a:pPr>
            <a:r>
              <a:rPr lang="en-US" sz="2251">
                <a:solidFill>
                  <a:srgbClr val="6B6A66"/>
                </a:solidFill>
                <a:latin typeface="Inter"/>
                <a:ea typeface="Inter"/>
                <a:cs typeface="Inter"/>
                <a:sym typeface="Inter"/>
              </a:rPr>
              <a:t>Los tres primeros usan las 48 variables y la GRU la secuencia de cuadros. Descartamos redes 3D: piden GPU y muchos más datos. Hiperparámetros elegidos con búsqueda en malla y validación por partido.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CFCFB"/>
        </a:solidFill>
      </p:bgPr>
    </p:bg>
    <p:spTree>
      <p:nvGrpSpPr>
        <p:cNvPr id="1" name=""/>
        <p:cNvGrpSpPr/>
        <p:nvPr/>
      </p:nvGrpSpPr>
      <p:grpSpPr>
        <a:xfrm>
          <a:off x="0" y="0"/>
          <a:ext cx="0" cy="0"/>
          <a:chOff x="0" y="0"/>
          <a:chExt cx="0" cy="0"/>
        </a:xfrm>
      </p:grpSpPr>
      <p:grpSp>
        <p:nvGrpSpPr>
          <p:cNvPr name="Group 2" id="2"/>
          <p:cNvGrpSpPr/>
          <p:nvPr/>
        </p:nvGrpSpPr>
        <p:grpSpPr>
          <a:xfrm rot="0">
            <a:off x="823608" y="617706"/>
            <a:ext cx="109814" cy="439255"/>
            <a:chOff x="0" y="0"/>
            <a:chExt cx="146418" cy="585673"/>
          </a:xfrm>
        </p:grpSpPr>
        <p:sp>
          <p:nvSpPr>
            <p:cNvPr name="Freeform 3" id="3"/>
            <p:cNvSpPr/>
            <p:nvPr/>
          </p:nvSpPr>
          <p:spPr>
            <a:xfrm flipH="false" flipV="false" rot="0">
              <a:off x="0" y="0"/>
              <a:ext cx="146431" cy="585724"/>
            </a:xfrm>
            <a:custGeom>
              <a:avLst/>
              <a:gdLst/>
              <a:ahLst/>
              <a:cxnLst/>
              <a:rect r="r" b="b" t="t" l="l"/>
              <a:pathLst>
                <a:path h="585724" w="146431">
                  <a:moveTo>
                    <a:pt x="0" y="0"/>
                  </a:moveTo>
                  <a:lnTo>
                    <a:pt x="146431" y="0"/>
                  </a:lnTo>
                  <a:lnTo>
                    <a:pt x="146431" y="585724"/>
                  </a:lnTo>
                  <a:lnTo>
                    <a:pt x="0" y="585724"/>
                  </a:lnTo>
                  <a:close/>
                </a:path>
              </a:pathLst>
            </a:custGeom>
            <a:solidFill>
              <a:srgbClr val="2A78D6"/>
            </a:solidFill>
          </p:spPr>
        </p:sp>
      </p:grpSp>
      <p:sp>
        <p:nvSpPr>
          <p:cNvPr name="TextBox 4" id="4"/>
          <p:cNvSpPr txBox="true"/>
          <p:nvPr/>
        </p:nvSpPr>
        <p:spPr>
          <a:xfrm rot="0">
            <a:off x="1028700" y="684372"/>
            <a:ext cx="12354049" cy="286872"/>
          </a:xfrm>
          <a:prstGeom prst="rect">
            <a:avLst/>
          </a:prstGeom>
        </p:spPr>
        <p:txBody>
          <a:bodyPr anchor="t" rtlCol="false" tIns="0" lIns="0" bIns="0" rIns="0">
            <a:spAutoFit/>
          </a:bodyPr>
          <a:lstStyle/>
          <a:p>
            <a:pPr algn="l">
              <a:lnSpc>
                <a:spcPts val="2377"/>
              </a:lnSpc>
            </a:pPr>
            <a:r>
              <a:rPr lang="en-US" sz="1801" b="true">
                <a:solidFill>
                  <a:srgbClr val="2A78D6"/>
                </a:solidFill>
                <a:latin typeface="Inter Bold"/>
                <a:ea typeface="Inter Bold"/>
                <a:cs typeface="Inter Bold"/>
                <a:sym typeface="Inter Bold"/>
              </a:rPr>
              <a:t>2 · SOLUCIÓN Y DISEÑO</a:t>
            </a:r>
          </a:p>
        </p:txBody>
      </p:sp>
      <p:sp>
        <p:nvSpPr>
          <p:cNvPr name="TextBox 5" id="5"/>
          <p:cNvSpPr txBox="true"/>
          <p:nvPr/>
        </p:nvSpPr>
        <p:spPr>
          <a:xfrm rot="0">
            <a:off x="823608" y="1178252"/>
            <a:ext cx="16609333" cy="1429826"/>
          </a:xfrm>
          <a:prstGeom prst="rect">
            <a:avLst/>
          </a:prstGeom>
        </p:spPr>
        <p:txBody>
          <a:bodyPr anchor="t" rtlCol="false" tIns="0" lIns="0" bIns="0" rIns="0">
            <a:spAutoFit/>
          </a:bodyPr>
          <a:lstStyle/>
          <a:p>
            <a:pPr algn="l">
              <a:lnSpc>
                <a:spcPts val="5944"/>
              </a:lnSpc>
            </a:pPr>
            <a:r>
              <a:rPr lang="en-US" sz="4503" b="true">
                <a:solidFill>
                  <a:srgbClr val="1F1F1D"/>
                </a:solidFill>
                <a:latin typeface="Inter Bold"/>
                <a:ea typeface="Inter Bold"/>
                <a:cs typeface="Inter Bold"/>
                <a:sym typeface="Inter Bold"/>
              </a:rPr>
              <a:t>Validamos siempre con un partido que el modelo no vio</a:t>
            </a:r>
          </a:p>
        </p:txBody>
      </p:sp>
      <p:sp>
        <p:nvSpPr>
          <p:cNvPr name="TextBox 6" id="6"/>
          <p:cNvSpPr txBox="true"/>
          <p:nvPr/>
        </p:nvSpPr>
        <p:spPr>
          <a:xfrm rot="0">
            <a:off x="16746607" y="9580131"/>
            <a:ext cx="823608" cy="440379"/>
          </a:xfrm>
          <a:prstGeom prst="rect">
            <a:avLst/>
          </a:prstGeom>
        </p:spPr>
        <p:txBody>
          <a:bodyPr anchor="t" rtlCol="false" tIns="0" lIns="0" bIns="0" rIns="0">
            <a:spAutoFit/>
          </a:bodyPr>
          <a:lstStyle/>
          <a:p>
            <a:pPr algn="r">
              <a:lnSpc>
                <a:spcPts val="2179"/>
              </a:lnSpc>
            </a:pPr>
            <a:r>
              <a:rPr lang="en-US" sz="1651">
                <a:solidFill>
                  <a:srgbClr val="6B6A66"/>
                </a:solidFill>
                <a:latin typeface="Inter"/>
                <a:ea typeface="Inter"/>
                <a:cs typeface="Inter"/>
                <a:sym typeface="Inter"/>
              </a:rPr>
              <a:t>7</a:t>
            </a:r>
          </a:p>
        </p:txBody>
      </p:sp>
      <p:grpSp>
        <p:nvGrpSpPr>
          <p:cNvPr name="Group 7" id="7"/>
          <p:cNvGrpSpPr/>
          <p:nvPr/>
        </p:nvGrpSpPr>
        <p:grpSpPr>
          <a:xfrm rot="0">
            <a:off x="823608" y="3294412"/>
            <a:ext cx="1894284" cy="1509941"/>
            <a:chOff x="0" y="0"/>
            <a:chExt cx="2525712" cy="2013255"/>
          </a:xfrm>
        </p:grpSpPr>
        <p:sp>
          <p:nvSpPr>
            <p:cNvPr name="Freeform 8" id="8"/>
            <p:cNvSpPr/>
            <p:nvPr/>
          </p:nvSpPr>
          <p:spPr>
            <a:xfrm flipH="false" flipV="false" rot="0">
              <a:off x="0" y="0"/>
              <a:ext cx="2525649" cy="2013204"/>
            </a:xfrm>
            <a:custGeom>
              <a:avLst/>
              <a:gdLst/>
              <a:ahLst/>
              <a:cxnLst/>
              <a:rect r="r" b="b" t="t" l="l"/>
              <a:pathLst>
                <a:path h="2013204" w="2525649">
                  <a:moveTo>
                    <a:pt x="0" y="241554"/>
                  </a:moveTo>
                  <a:cubicBezTo>
                    <a:pt x="0" y="108204"/>
                    <a:pt x="108204" y="0"/>
                    <a:pt x="241554" y="0"/>
                  </a:cubicBezTo>
                  <a:lnTo>
                    <a:pt x="2284095" y="0"/>
                  </a:lnTo>
                  <a:cubicBezTo>
                    <a:pt x="2417572" y="0"/>
                    <a:pt x="2525649" y="108204"/>
                    <a:pt x="2525649" y="241554"/>
                  </a:cubicBezTo>
                  <a:lnTo>
                    <a:pt x="2525649" y="1771650"/>
                  </a:lnTo>
                  <a:cubicBezTo>
                    <a:pt x="2525649" y="1905127"/>
                    <a:pt x="2417445" y="2013204"/>
                    <a:pt x="2284095" y="2013204"/>
                  </a:cubicBezTo>
                  <a:lnTo>
                    <a:pt x="241554" y="2013204"/>
                  </a:lnTo>
                  <a:cubicBezTo>
                    <a:pt x="108204" y="2013204"/>
                    <a:pt x="0" y="1905127"/>
                    <a:pt x="0" y="1771650"/>
                  </a:cubicBezTo>
                  <a:close/>
                </a:path>
              </a:pathLst>
            </a:custGeom>
            <a:solidFill>
              <a:srgbClr val="DBE8F8"/>
            </a:solidFill>
          </p:spPr>
        </p:sp>
      </p:grpSp>
      <p:grpSp>
        <p:nvGrpSpPr>
          <p:cNvPr name="Group 9" id="9"/>
          <p:cNvGrpSpPr/>
          <p:nvPr/>
        </p:nvGrpSpPr>
        <p:grpSpPr>
          <a:xfrm rot="0">
            <a:off x="823608" y="3294412"/>
            <a:ext cx="1894284" cy="1509941"/>
            <a:chOff x="0" y="0"/>
            <a:chExt cx="2525712" cy="2013255"/>
          </a:xfrm>
        </p:grpSpPr>
        <p:sp>
          <p:nvSpPr>
            <p:cNvPr name="Freeform 10" id="10"/>
            <p:cNvSpPr/>
            <p:nvPr/>
          </p:nvSpPr>
          <p:spPr>
            <a:xfrm flipH="false" flipV="false" rot="0">
              <a:off x="0" y="0"/>
              <a:ext cx="2525717" cy="2013253"/>
            </a:xfrm>
            <a:custGeom>
              <a:avLst/>
              <a:gdLst/>
              <a:ahLst/>
              <a:cxnLst/>
              <a:rect r="r" b="b" t="t" l="l"/>
              <a:pathLst>
                <a:path h="2013253" w="2525717">
                  <a:moveTo>
                    <a:pt x="0" y="0"/>
                  </a:moveTo>
                  <a:lnTo>
                    <a:pt x="2525717" y="0"/>
                  </a:lnTo>
                  <a:lnTo>
                    <a:pt x="2525717" y="2013253"/>
                  </a:lnTo>
                  <a:lnTo>
                    <a:pt x="0" y="2013253"/>
                  </a:lnTo>
                  <a:close/>
                </a:path>
              </a:pathLst>
            </a:custGeom>
            <a:blipFill>
              <a:blip r:embed="rId3">
                <a:alphaModFix amt="0"/>
              </a:blip>
              <a:stretch>
                <a:fillRect l="-52271" t="0" r="-52270" b="0"/>
              </a:stretch>
            </a:blipFill>
          </p:spPr>
        </p:sp>
        <p:sp>
          <p:nvSpPr>
            <p:cNvPr name="TextBox 11" id="11"/>
            <p:cNvSpPr txBox="true"/>
            <p:nvPr/>
          </p:nvSpPr>
          <p:spPr>
            <a:xfrm>
              <a:off x="0" y="-28575"/>
              <a:ext cx="2525712" cy="2041830"/>
            </a:xfrm>
            <a:prstGeom prst="rect">
              <a:avLst/>
            </a:prstGeom>
          </p:spPr>
          <p:txBody>
            <a:bodyPr anchor="ctr" rtlCol="false" tIns="0" lIns="0" bIns="0" rIns="0"/>
            <a:lstStyle/>
            <a:p>
              <a:pPr algn="ctr">
                <a:lnSpc>
                  <a:spcPts val="2576"/>
                </a:lnSpc>
              </a:pPr>
              <a:r>
                <a:rPr lang="en-US" sz="1951" b="true">
                  <a:solidFill>
                    <a:srgbClr val="174A8B"/>
                  </a:solidFill>
                  <a:latin typeface="Inter Bold"/>
                  <a:ea typeface="Inter Bold"/>
                  <a:cs typeface="Inter Bold"/>
                  <a:sym typeface="Inter Bold"/>
                </a:rPr>
                <a:t>1606b0e6</a:t>
              </a:r>
            </a:p>
            <a:p>
              <a:pPr algn="ctr">
                <a:lnSpc>
                  <a:spcPts val="2179"/>
                </a:lnSpc>
              </a:pPr>
              <a:r>
                <a:rPr lang="en-US" sz="1651">
                  <a:solidFill>
                    <a:srgbClr val="174A8B"/>
                  </a:solidFill>
                  <a:latin typeface="Inter"/>
                  <a:ea typeface="Inter"/>
                  <a:cs typeface="Inter"/>
                  <a:sym typeface="Inter"/>
                </a:rPr>
                <a:t>entrenamiento</a:t>
              </a:r>
            </a:p>
          </p:txBody>
        </p:sp>
      </p:grpSp>
      <p:grpSp>
        <p:nvGrpSpPr>
          <p:cNvPr name="Group 12" id="12"/>
          <p:cNvGrpSpPr/>
          <p:nvPr/>
        </p:nvGrpSpPr>
        <p:grpSpPr>
          <a:xfrm rot="0">
            <a:off x="2896343" y="3294412"/>
            <a:ext cx="1894284" cy="1509941"/>
            <a:chOff x="0" y="0"/>
            <a:chExt cx="2525712" cy="2013255"/>
          </a:xfrm>
        </p:grpSpPr>
        <p:sp>
          <p:nvSpPr>
            <p:cNvPr name="Freeform 13" id="13"/>
            <p:cNvSpPr/>
            <p:nvPr/>
          </p:nvSpPr>
          <p:spPr>
            <a:xfrm flipH="false" flipV="false" rot="0">
              <a:off x="0" y="0"/>
              <a:ext cx="2525649" cy="2013204"/>
            </a:xfrm>
            <a:custGeom>
              <a:avLst/>
              <a:gdLst/>
              <a:ahLst/>
              <a:cxnLst/>
              <a:rect r="r" b="b" t="t" l="l"/>
              <a:pathLst>
                <a:path h="2013204" w="2525649">
                  <a:moveTo>
                    <a:pt x="0" y="241554"/>
                  </a:moveTo>
                  <a:cubicBezTo>
                    <a:pt x="0" y="108204"/>
                    <a:pt x="108204" y="0"/>
                    <a:pt x="241554" y="0"/>
                  </a:cubicBezTo>
                  <a:lnTo>
                    <a:pt x="2284095" y="0"/>
                  </a:lnTo>
                  <a:cubicBezTo>
                    <a:pt x="2417572" y="0"/>
                    <a:pt x="2525649" y="108204"/>
                    <a:pt x="2525649" y="241554"/>
                  </a:cubicBezTo>
                  <a:lnTo>
                    <a:pt x="2525649" y="1771650"/>
                  </a:lnTo>
                  <a:cubicBezTo>
                    <a:pt x="2525649" y="1905127"/>
                    <a:pt x="2417445" y="2013204"/>
                    <a:pt x="2284095" y="2013204"/>
                  </a:cubicBezTo>
                  <a:lnTo>
                    <a:pt x="241554" y="2013204"/>
                  </a:lnTo>
                  <a:cubicBezTo>
                    <a:pt x="108204" y="2013204"/>
                    <a:pt x="0" y="1905127"/>
                    <a:pt x="0" y="1771650"/>
                  </a:cubicBezTo>
                  <a:close/>
                </a:path>
              </a:pathLst>
            </a:custGeom>
            <a:solidFill>
              <a:srgbClr val="DBE8F8"/>
            </a:solidFill>
          </p:spPr>
        </p:sp>
      </p:grpSp>
      <p:grpSp>
        <p:nvGrpSpPr>
          <p:cNvPr name="Group 14" id="14"/>
          <p:cNvGrpSpPr/>
          <p:nvPr/>
        </p:nvGrpSpPr>
        <p:grpSpPr>
          <a:xfrm rot="0">
            <a:off x="2896343" y="3294412"/>
            <a:ext cx="1894284" cy="1509941"/>
            <a:chOff x="0" y="0"/>
            <a:chExt cx="2525712" cy="2013255"/>
          </a:xfrm>
        </p:grpSpPr>
        <p:sp>
          <p:nvSpPr>
            <p:cNvPr name="Freeform 15" id="15"/>
            <p:cNvSpPr/>
            <p:nvPr/>
          </p:nvSpPr>
          <p:spPr>
            <a:xfrm flipH="false" flipV="false" rot="0">
              <a:off x="0" y="0"/>
              <a:ext cx="2525717" cy="2013253"/>
            </a:xfrm>
            <a:custGeom>
              <a:avLst/>
              <a:gdLst/>
              <a:ahLst/>
              <a:cxnLst/>
              <a:rect r="r" b="b" t="t" l="l"/>
              <a:pathLst>
                <a:path h="2013253" w="2525717">
                  <a:moveTo>
                    <a:pt x="0" y="0"/>
                  </a:moveTo>
                  <a:lnTo>
                    <a:pt x="2525717" y="0"/>
                  </a:lnTo>
                  <a:lnTo>
                    <a:pt x="2525717" y="2013253"/>
                  </a:lnTo>
                  <a:lnTo>
                    <a:pt x="0" y="2013253"/>
                  </a:lnTo>
                  <a:close/>
                </a:path>
              </a:pathLst>
            </a:custGeom>
            <a:blipFill>
              <a:blip r:embed="rId3">
                <a:alphaModFix amt="0"/>
              </a:blip>
              <a:stretch>
                <a:fillRect l="-52271" t="0" r="-52270" b="0"/>
              </a:stretch>
            </a:blipFill>
          </p:spPr>
        </p:sp>
        <p:sp>
          <p:nvSpPr>
            <p:cNvPr name="TextBox 16" id="16"/>
            <p:cNvSpPr txBox="true"/>
            <p:nvPr/>
          </p:nvSpPr>
          <p:spPr>
            <a:xfrm>
              <a:off x="0" y="-28575"/>
              <a:ext cx="2525712" cy="2041830"/>
            </a:xfrm>
            <a:prstGeom prst="rect">
              <a:avLst/>
            </a:prstGeom>
          </p:spPr>
          <p:txBody>
            <a:bodyPr anchor="ctr" rtlCol="false" tIns="0" lIns="0" bIns="0" rIns="0"/>
            <a:lstStyle/>
            <a:p>
              <a:pPr algn="ctr">
                <a:lnSpc>
                  <a:spcPts val="2576"/>
                </a:lnSpc>
              </a:pPr>
              <a:r>
                <a:rPr lang="en-US" sz="1951" b="true">
                  <a:solidFill>
                    <a:srgbClr val="174A8B"/>
                  </a:solidFill>
                  <a:latin typeface="Inter Bold"/>
                  <a:ea typeface="Inter Bold"/>
                  <a:cs typeface="Inter Bold"/>
                  <a:sym typeface="Inter Bold"/>
                </a:rPr>
                <a:t>35bd9041</a:t>
              </a:r>
            </a:p>
            <a:p>
              <a:pPr algn="ctr">
                <a:lnSpc>
                  <a:spcPts val="2179"/>
                </a:lnSpc>
              </a:pPr>
              <a:r>
                <a:rPr lang="en-US" sz="1651">
                  <a:solidFill>
                    <a:srgbClr val="174A8B"/>
                  </a:solidFill>
                  <a:latin typeface="Inter"/>
                  <a:ea typeface="Inter"/>
                  <a:cs typeface="Inter"/>
                  <a:sym typeface="Inter"/>
                </a:rPr>
                <a:t>entrenamiento</a:t>
              </a:r>
            </a:p>
          </p:txBody>
        </p:sp>
      </p:grpSp>
      <p:grpSp>
        <p:nvGrpSpPr>
          <p:cNvPr name="Group 17" id="17"/>
          <p:cNvGrpSpPr/>
          <p:nvPr/>
        </p:nvGrpSpPr>
        <p:grpSpPr>
          <a:xfrm rot="0">
            <a:off x="4969078" y="3294412"/>
            <a:ext cx="1894284" cy="1509941"/>
            <a:chOff x="0" y="0"/>
            <a:chExt cx="2525712" cy="2013255"/>
          </a:xfrm>
        </p:grpSpPr>
        <p:sp>
          <p:nvSpPr>
            <p:cNvPr name="Freeform 18" id="18"/>
            <p:cNvSpPr/>
            <p:nvPr/>
          </p:nvSpPr>
          <p:spPr>
            <a:xfrm flipH="false" flipV="false" rot="0">
              <a:off x="0" y="0"/>
              <a:ext cx="2525649" cy="2013204"/>
            </a:xfrm>
            <a:custGeom>
              <a:avLst/>
              <a:gdLst/>
              <a:ahLst/>
              <a:cxnLst/>
              <a:rect r="r" b="b" t="t" l="l"/>
              <a:pathLst>
                <a:path h="2013204" w="2525649">
                  <a:moveTo>
                    <a:pt x="0" y="241554"/>
                  </a:moveTo>
                  <a:cubicBezTo>
                    <a:pt x="0" y="108204"/>
                    <a:pt x="108204" y="0"/>
                    <a:pt x="241554" y="0"/>
                  </a:cubicBezTo>
                  <a:lnTo>
                    <a:pt x="2284095" y="0"/>
                  </a:lnTo>
                  <a:cubicBezTo>
                    <a:pt x="2417572" y="0"/>
                    <a:pt x="2525649" y="108204"/>
                    <a:pt x="2525649" y="241554"/>
                  </a:cubicBezTo>
                  <a:lnTo>
                    <a:pt x="2525649" y="1771650"/>
                  </a:lnTo>
                  <a:cubicBezTo>
                    <a:pt x="2525649" y="1905127"/>
                    <a:pt x="2417445" y="2013204"/>
                    <a:pt x="2284095" y="2013204"/>
                  </a:cubicBezTo>
                  <a:lnTo>
                    <a:pt x="241554" y="2013204"/>
                  </a:lnTo>
                  <a:cubicBezTo>
                    <a:pt x="108204" y="2013204"/>
                    <a:pt x="0" y="1905127"/>
                    <a:pt x="0" y="1771650"/>
                  </a:cubicBezTo>
                  <a:close/>
                </a:path>
              </a:pathLst>
            </a:custGeom>
            <a:solidFill>
              <a:srgbClr val="DBE8F8"/>
            </a:solidFill>
          </p:spPr>
        </p:sp>
      </p:grpSp>
      <p:grpSp>
        <p:nvGrpSpPr>
          <p:cNvPr name="Group 19" id="19"/>
          <p:cNvGrpSpPr/>
          <p:nvPr/>
        </p:nvGrpSpPr>
        <p:grpSpPr>
          <a:xfrm rot="0">
            <a:off x="4969078" y="3294412"/>
            <a:ext cx="1894284" cy="1509941"/>
            <a:chOff x="0" y="0"/>
            <a:chExt cx="2525712" cy="2013255"/>
          </a:xfrm>
        </p:grpSpPr>
        <p:sp>
          <p:nvSpPr>
            <p:cNvPr name="Freeform 20" id="20"/>
            <p:cNvSpPr/>
            <p:nvPr/>
          </p:nvSpPr>
          <p:spPr>
            <a:xfrm flipH="false" flipV="false" rot="0">
              <a:off x="0" y="0"/>
              <a:ext cx="2525717" cy="2013253"/>
            </a:xfrm>
            <a:custGeom>
              <a:avLst/>
              <a:gdLst/>
              <a:ahLst/>
              <a:cxnLst/>
              <a:rect r="r" b="b" t="t" l="l"/>
              <a:pathLst>
                <a:path h="2013253" w="2525717">
                  <a:moveTo>
                    <a:pt x="0" y="0"/>
                  </a:moveTo>
                  <a:lnTo>
                    <a:pt x="2525717" y="0"/>
                  </a:lnTo>
                  <a:lnTo>
                    <a:pt x="2525717" y="2013253"/>
                  </a:lnTo>
                  <a:lnTo>
                    <a:pt x="0" y="2013253"/>
                  </a:lnTo>
                  <a:close/>
                </a:path>
              </a:pathLst>
            </a:custGeom>
            <a:blipFill>
              <a:blip r:embed="rId3">
                <a:alphaModFix amt="0"/>
              </a:blip>
              <a:stretch>
                <a:fillRect l="-52271" t="0" r="-52270" b="0"/>
              </a:stretch>
            </a:blipFill>
          </p:spPr>
        </p:sp>
        <p:sp>
          <p:nvSpPr>
            <p:cNvPr name="TextBox 21" id="21"/>
            <p:cNvSpPr txBox="true"/>
            <p:nvPr/>
          </p:nvSpPr>
          <p:spPr>
            <a:xfrm>
              <a:off x="0" y="-28575"/>
              <a:ext cx="2525712" cy="2041830"/>
            </a:xfrm>
            <a:prstGeom prst="rect">
              <a:avLst/>
            </a:prstGeom>
          </p:spPr>
          <p:txBody>
            <a:bodyPr anchor="ctr" rtlCol="false" tIns="0" lIns="0" bIns="0" rIns="0"/>
            <a:lstStyle/>
            <a:p>
              <a:pPr algn="ctr">
                <a:lnSpc>
                  <a:spcPts val="2576"/>
                </a:lnSpc>
              </a:pPr>
              <a:r>
                <a:rPr lang="en-US" sz="1951" b="true">
                  <a:solidFill>
                    <a:srgbClr val="174A8B"/>
                  </a:solidFill>
                  <a:latin typeface="Inter Bold"/>
                  <a:ea typeface="Inter Bold"/>
                  <a:cs typeface="Inter Bold"/>
                  <a:sym typeface="Inter Bold"/>
                </a:rPr>
                <a:t>407c5a9e</a:t>
              </a:r>
            </a:p>
            <a:p>
              <a:pPr algn="ctr">
                <a:lnSpc>
                  <a:spcPts val="2179"/>
                </a:lnSpc>
              </a:pPr>
              <a:r>
                <a:rPr lang="en-US" sz="1651">
                  <a:solidFill>
                    <a:srgbClr val="174A8B"/>
                  </a:solidFill>
                  <a:latin typeface="Inter"/>
                  <a:ea typeface="Inter"/>
                  <a:cs typeface="Inter"/>
                  <a:sym typeface="Inter"/>
                </a:rPr>
                <a:t>entrenamiento</a:t>
              </a:r>
            </a:p>
          </p:txBody>
        </p:sp>
      </p:grpSp>
      <p:grpSp>
        <p:nvGrpSpPr>
          <p:cNvPr name="Group 22" id="22"/>
          <p:cNvGrpSpPr/>
          <p:nvPr/>
        </p:nvGrpSpPr>
        <p:grpSpPr>
          <a:xfrm rot="0">
            <a:off x="7041813" y="3294412"/>
            <a:ext cx="1894284" cy="1509941"/>
            <a:chOff x="0" y="0"/>
            <a:chExt cx="2525712" cy="2013255"/>
          </a:xfrm>
        </p:grpSpPr>
        <p:sp>
          <p:nvSpPr>
            <p:cNvPr name="Freeform 23" id="23"/>
            <p:cNvSpPr/>
            <p:nvPr/>
          </p:nvSpPr>
          <p:spPr>
            <a:xfrm flipH="false" flipV="false" rot="0">
              <a:off x="0" y="0"/>
              <a:ext cx="2525649" cy="2013204"/>
            </a:xfrm>
            <a:custGeom>
              <a:avLst/>
              <a:gdLst/>
              <a:ahLst/>
              <a:cxnLst/>
              <a:rect r="r" b="b" t="t" l="l"/>
              <a:pathLst>
                <a:path h="2013204" w="2525649">
                  <a:moveTo>
                    <a:pt x="0" y="241554"/>
                  </a:moveTo>
                  <a:cubicBezTo>
                    <a:pt x="0" y="108204"/>
                    <a:pt x="108204" y="0"/>
                    <a:pt x="241554" y="0"/>
                  </a:cubicBezTo>
                  <a:lnTo>
                    <a:pt x="2284095" y="0"/>
                  </a:lnTo>
                  <a:cubicBezTo>
                    <a:pt x="2417572" y="0"/>
                    <a:pt x="2525649" y="108204"/>
                    <a:pt x="2525649" y="241554"/>
                  </a:cubicBezTo>
                  <a:lnTo>
                    <a:pt x="2525649" y="1771650"/>
                  </a:lnTo>
                  <a:cubicBezTo>
                    <a:pt x="2525649" y="1905127"/>
                    <a:pt x="2417445" y="2013204"/>
                    <a:pt x="2284095" y="2013204"/>
                  </a:cubicBezTo>
                  <a:lnTo>
                    <a:pt x="241554" y="2013204"/>
                  </a:lnTo>
                  <a:cubicBezTo>
                    <a:pt x="108204" y="2013204"/>
                    <a:pt x="0" y="1905127"/>
                    <a:pt x="0" y="1771650"/>
                  </a:cubicBezTo>
                  <a:close/>
                </a:path>
              </a:pathLst>
            </a:custGeom>
            <a:solidFill>
              <a:srgbClr val="DBE8F8"/>
            </a:solidFill>
          </p:spPr>
        </p:sp>
      </p:grpSp>
      <p:grpSp>
        <p:nvGrpSpPr>
          <p:cNvPr name="Group 24" id="24"/>
          <p:cNvGrpSpPr/>
          <p:nvPr/>
        </p:nvGrpSpPr>
        <p:grpSpPr>
          <a:xfrm rot="0">
            <a:off x="7041813" y="3294412"/>
            <a:ext cx="1894284" cy="1509941"/>
            <a:chOff x="0" y="0"/>
            <a:chExt cx="2525712" cy="2013255"/>
          </a:xfrm>
        </p:grpSpPr>
        <p:sp>
          <p:nvSpPr>
            <p:cNvPr name="Freeform 25" id="25"/>
            <p:cNvSpPr/>
            <p:nvPr/>
          </p:nvSpPr>
          <p:spPr>
            <a:xfrm flipH="false" flipV="false" rot="0">
              <a:off x="0" y="0"/>
              <a:ext cx="2525717" cy="2013253"/>
            </a:xfrm>
            <a:custGeom>
              <a:avLst/>
              <a:gdLst/>
              <a:ahLst/>
              <a:cxnLst/>
              <a:rect r="r" b="b" t="t" l="l"/>
              <a:pathLst>
                <a:path h="2013253" w="2525717">
                  <a:moveTo>
                    <a:pt x="0" y="0"/>
                  </a:moveTo>
                  <a:lnTo>
                    <a:pt x="2525717" y="0"/>
                  </a:lnTo>
                  <a:lnTo>
                    <a:pt x="2525717" y="2013253"/>
                  </a:lnTo>
                  <a:lnTo>
                    <a:pt x="0" y="2013253"/>
                  </a:lnTo>
                  <a:close/>
                </a:path>
              </a:pathLst>
            </a:custGeom>
            <a:blipFill>
              <a:blip r:embed="rId3">
                <a:alphaModFix amt="0"/>
              </a:blip>
              <a:stretch>
                <a:fillRect l="-52271" t="0" r="-52270" b="0"/>
              </a:stretch>
            </a:blipFill>
          </p:spPr>
        </p:sp>
        <p:sp>
          <p:nvSpPr>
            <p:cNvPr name="TextBox 26" id="26"/>
            <p:cNvSpPr txBox="true"/>
            <p:nvPr/>
          </p:nvSpPr>
          <p:spPr>
            <a:xfrm>
              <a:off x="0" y="-28575"/>
              <a:ext cx="2525712" cy="2041830"/>
            </a:xfrm>
            <a:prstGeom prst="rect">
              <a:avLst/>
            </a:prstGeom>
          </p:spPr>
          <p:txBody>
            <a:bodyPr anchor="ctr" rtlCol="false" tIns="0" lIns="0" bIns="0" rIns="0"/>
            <a:lstStyle/>
            <a:p>
              <a:pPr algn="ctr">
                <a:lnSpc>
                  <a:spcPts val="2576"/>
                </a:lnSpc>
              </a:pPr>
              <a:r>
                <a:rPr lang="en-US" sz="1951" b="true">
                  <a:solidFill>
                    <a:srgbClr val="174A8B"/>
                  </a:solidFill>
                  <a:latin typeface="Inter Bold"/>
                  <a:ea typeface="Inter Bold"/>
                  <a:cs typeface="Inter Bold"/>
                  <a:sym typeface="Inter Bold"/>
                </a:rPr>
                <a:t>4ffd5986</a:t>
              </a:r>
            </a:p>
            <a:p>
              <a:pPr algn="ctr">
                <a:lnSpc>
                  <a:spcPts val="2179"/>
                </a:lnSpc>
              </a:pPr>
              <a:r>
                <a:rPr lang="en-US" sz="1651">
                  <a:solidFill>
                    <a:srgbClr val="174A8B"/>
                  </a:solidFill>
                  <a:latin typeface="Inter"/>
                  <a:ea typeface="Inter"/>
                  <a:cs typeface="Inter"/>
                  <a:sym typeface="Inter"/>
                </a:rPr>
                <a:t>entrenamiento</a:t>
              </a:r>
            </a:p>
          </p:txBody>
        </p:sp>
      </p:grpSp>
      <p:grpSp>
        <p:nvGrpSpPr>
          <p:cNvPr name="Group 27" id="27"/>
          <p:cNvGrpSpPr/>
          <p:nvPr/>
        </p:nvGrpSpPr>
        <p:grpSpPr>
          <a:xfrm rot="0">
            <a:off x="9114549" y="3294412"/>
            <a:ext cx="1894284" cy="1509941"/>
            <a:chOff x="0" y="0"/>
            <a:chExt cx="2525712" cy="2013255"/>
          </a:xfrm>
        </p:grpSpPr>
        <p:sp>
          <p:nvSpPr>
            <p:cNvPr name="Freeform 28" id="28"/>
            <p:cNvSpPr/>
            <p:nvPr/>
          </p:nvSpPr>
          <p:spPr>
            <a:xfrm flipH="false" flipV="false" rot="0">
              <a:off x="0" y="0"/>
              <a:ext cx="2525649" cy="2013204"/>
            </a:xfrm>
            <a:custGeom>
              <a:avLst/>
              <a:gdLst/>
              <a:ahLst/>
              <a:cxnLst/>
              <a:rect r="r" b="b" t="t" l="l"/>
              <a:pathLst>
                <a:path h="2013204" w="2525649">
                  <a:moveTo>
                    <a:pt x="0" y="241554"/>
                  </a:moveTo>
                  <a:cubicBezTo>
                    <a:pt x="0" y="108204"/>
                    <a:pt x="108204" y="0"/>
                    <a:pt x="241554" y="0"/>
                  </a:cubicBezTo>
                  <a:lnTo>
                    <a:pt x="2284095" y="0"/>
                  </a:lnTo>
                  <a:cubicBezTo>
                    <a:pt x="2417572" y="0"/>
                    <a:pt x="2525649" y="108204"/>
                    <a:pt x="2525649" y="241554"/>
                  </a:cubicBezTo>
                  <a:lnTo>
                    <a:pt x="2525649" y="1771650"/>
                  </a:lnTo>
                  <a:cubicBezTo>
                    <a:pt x="2525649" y="1905127"/>
                    <a:pt x="2417445" y="2013204"/>
                    <a:pt x="2284095" y="2013204"/>
                  </a:cubicBezTo>
                  <a:lnTo>
                    <a:pt x="241554" y="2013204"/>
                  </a:lnTo>
                  <a:cubicBezTo>
                    <a:pt x="108204" y="2013204"/>
                    <a:pt x="0" y="1905127"/>
                    <a:pt x="0" y="1771650"/>
                  </a:cubicBezTo>
                  <a:close/>
                </a:path>
              </a:pathLst>
            </a:custGeom>
            <a:solidFill>
              <a:srgbClr val="DBE8F8"/>
            </a:solidFill>
          </p:spPr>
        </p:sp>
      </p:grpSp>
      <p:grpSp>
        <p:nvGrpSpPr>
          <p:cNvPr name="Group 29" id="29"/>
          <p:cNvGrpSpPr/>
          <p:nvPr/>
        </p:nvGrpSpPr>
        <p:grpSpPr>
          <a:xfrm rot="0">
            <a:off x="9114549" y="3294412"/>
            <a:ext cx="1894284" cy="1509941"/>
            <a:chOff x="0" y="0"/>
            <a:chExt cx="2525712" cy="2013255"/>
          </a:xfrm>
        </p:grpSpPr>
        <p:sp>
          <p:nvSpPr>
            <p:cNvPr name="Freeform 30" id="30"/>
            <p:cNvSpPr/>
            <p:nvPr/>
          </p:nvSpPr>
          <p:spPr>
            <a:xfrm flipH="false" flipV="false" rot="0">
              <a:off x="0" y="0"/>
              <a:ext cx="2525717" cy="2013253"/>
            </a:xfrm>
            <a:custGeom>
              <a:avLst/>
              <a:gdLst/>
              <a:ahLst/>
              <a:cxnLst/>
              <a:rect r="r" b="b" t="t" l="l"/>
              <a:pathLst>
                <a:path h="2013253" w="2525717">
                  <a:moveTo>
                    <a:pt x="0" y="0"/>
                  </a:moveTo>
                  <a:lnTo>
                    <a:pt x="2525717" y="0"/>
                  </a:lnTo>
                  <a:lnTo>
                    <a:pt x="2525717" y="2013253"/>
                  </a:lnTo>
                  <a:lnTo>
                    <a:pt x="0" y="2013253"/>
                  </a:lnTo>
                  <a:close/>
                </a:path>
              </a:pathLst>
            </a:custGeom>
            <a:blipFill>
              <a:blip r:embed="rId3">
                <a:alphaModFix amt="0"/>
              </a:blip>
              <a:stretch>
                <a:fillRect l="-52271" t="0" r="-52270" b="0"/>
              </a:stretch>
            </a:blipFill>
          </p:spPr>
        </p:sp>
        <p:sp>
          <p:nvSpPr>
            <p:cNvPr name="TextBox 31" id="31"/>
            <p:cNvSpPr txBox="true"/>
            <p:nvPr/>
          </p:nvSpPr>
          <p:spPr>
            <a:xfrm>
              <a:off x="0" y="-28575"/>
              <a:ext cx="2525712" cy="2041830"/>
            </a:xfrm>
            <a:prstGeom prst="rect">
              <a:avLst/>
            </a:prstGeom>
          </p:spPr>
          <p:txBody>
            <a:bodyPr anchor="ctr" rtlCol="false" tIns="0" lIns="0" bIns="0" rIns="0"/>
            <a:lstStyle/>
            <a:p>
              <a:pPr algn="ctr">
                <a:lnSpc>
                  <a:spcPts val="2576"/>
                </a:lnSpc>
              </a:pPr>
              <a:r>
                <a:rPr lang="en-US" sz="1951" b="true">
                  <a:solidFill>
                    <a:srgbClr val="174A8B"/>
                  </a:solidFill>
                  <a:latin typeface="Inter Bold"/>
                  <a:ea typeface="Inter Bold"/>
                  <a:cs typeface="Inter Bold"/>
                  <a:sym typeface="Inter Bold"/>
                </a:rPr>
                <a:t>9a97dae4</a:t>
              </a:r>
            </a:p>
            <a:p>
              <a:pPr algn="ctr">
                <a:lnSpc>
                  <a:spcPts val="2179"/>
                </a:lnSpc>
              </a:pPr>
              <a:r>
                <a:rPr lang="en-US" sz="1651">
                  <a:solidFill>
                    <a:srgbClr val="174A8B"/>
                  </a:solidFill>
                  <a:latin typeface="Inter"/>
                  <a:ea typeface="Inter"/>
                  <a:cs typeface="Inter"/>
                  <a:sym typeface="Inter"/>
                </a:rPr>
                <a:t>entrenamiento</a:t>
              </a:r>
            </a:p>
          </p:txBody>
        </p:sp>
      </p:grpSp>
      <p:grpSp>
        <p:nvGrpSpPr>
          <p:cNvPr name="Group 32" id="32"/>
          <p:cNvGrpSpPr/>
          <p:nvPr/>
        </p:nvGrpSpPr>
        <p:grpSpPr>
          <a:xfrm rot="0">
            <a:off x="11187284" y="3294412"/>
            <a:ext cx="1894284" cy="1509941"/>
            <a:chOff x="0" y="0"/>
            <a:chExt cx="2525712" cy="2013255"/>
          </a:xfrm>
        </p:grpSpPr>
        <p:sp>
          <p:nvSpPr>
            <p:cNvPr name="Freeform 33" id="33"/>
            <p:cNvSpPr/>
            <p:nvPr/>
          </p:nvSpPr>
          <p:spPr>
            <a:xfrm flipH="false" flipV="false" rot="0">
              <a:off x="0" y="0"/>
              <a:ext cx="2525649" cy="2013204"/>
            </a:xfrm>
            <a:custGeom>
              <a:avLst/>
              <a:gdLst/>
              <a:ahLst/>
              <a:cxnLst/>
              <a:rect r="r" b="b" t="t" l="l"/>
              <a:pathLst>
                <a:path h="2013204" w="2525649">
                  <a:moveTo>
                    <a:pt x="0" y="241554"/>
                  </a:moveTo>
                  <a:cubicBezTo>
                    <a:pt x="0" y="108204"/>
                    <a:pt x="108204" y="0"/>
                    <a:pt x="241554" y="0"/>
                  </a:cubicBezTo>
                  <a:lnTo>
                    <a:pt x="2284095" y="0"/>
                  </a:lnTo>
                  <a:cubicBezTo>
                    <a:pt x="2417572" y="0"/>
                    <a:pt x="2525649" y="108204"/>
                    <a:pt x="2525649" y="241554"/>
                  </a:cubicBezTo>
                  <a:lnTo>
                    <a:pt x="2525649" y="1771650"/>
                  </a:lnTo>
                  <a:cubicBezTo>
                    <a:pt x="2525649" y="1905127"/>
                    <a:pt x="2417445" y="2013204"/>
                    <a:pt x="2284095" y="2013204"/>
                  </a:cubicBezTo>
                  <a:lnTo>
                    <a:pt x="241554" y="2013204"/>
                  </a:lnTo>
                  <a:cubicBezTo>
                    <a:pt x="108204" y="2013204"/>
                    <a:pt x="0" y="1905127"/>
                    <a:pt x="0" y="1771650"/>
                  </a:cubicBezTo>
                  <a:close/>
                </a:path>
              </a:pathLst>
            </a:custGeom>
            <a:solidFill>
              <a:srgbClr val="DBE8F8"/>
            </a:solidFill>
          </p:spPr>
        </p:sp>
      </p:grpSp>
      <p:grpSp>
        <p:nvGrpSpPr>
          <p:cNvPr name="Group 34" id="34"/>
          <p:cNvGrpSpPr/>
          <p:nvPr/>
        </p:nvGrpSpPr>
        <p:grpSpPr>
          <a:xfrm rot="0">
            <a:off x="11187284" y="3294412"/>
            <a:ext cx="1894284" cy="1509941"/>
            <a:chOff x="0" y="0"/>
            <a:chExt cx="2525712" cy="2013255"/>
          </a:xfrm>
        </p:grpSpPr>
        <p:sp>
          <p:nvSpPr>
            <p:cNvPr name="Freeform 35" id="35"/>
            <p:cNvSpPr/>
            <p:nvPr/>
          </p:nvSpPr>
          <p:spPr>
            <a:xfrm flipH="false" flipV="false" rot="0">
              <a:off x="0" y="0"/>
              <a:ext cx="2525717" cy="2013253"/>
            </a:xfrm>
            <a:custGeom>
              <a:avLst/>
              <a:gdLst/>
              <a:ahLst/>
              <a:cxnLst/>
              <a:rect r="r" b="b" t="t" l="l"/>
              <a:pathLst>
                <a:path h="2013253" w="2525717">
                  <a:moveTo>
                    <a:pt x="0" y="0"/>
                  </a:moveTo>
                  <a:lnTo>
                    <a:pt x="2525717" y="0"/>
                  </a:lnTo>
                  <a:lnTo>
                    <a:pt x="2525717" y="2013253"/>
                  </a:lnTo>
                  <a:lnTo>
                    <a:pt x="0" y="2013253"/>
                  </a:lnTo>
                  <a:close/>
                </a:path>
              </a:pathLst>
            </a:custGeom>
            <a:blipFill>
              <a:blip r:embed="rId3">
                <a:alphaModFix amt="0"/>
              </a:blip>
              <a:stretch>
                <a:fillRect l="-52271" t="0" r="-52270" b="0"/>
              </a:stretch>
            </a:blipFill>
          </p:spPr>
        </p:sp>
        <p:sp>
          <p:nvSpPr>
            <p:cNvPr name="TextBox 36" id="36"/>
            <p:cNvSpPr txBox="true"/>
            <p:nvPr/>
          </p:nvSpPr>
          <p:spPr>
            <a:xfrm>
              <a:off x="0" y="-28575"/>
              <a:ext cx="2525712" cy="2041830"/>
            </a:xfrm>
            <a:prstGeom prst="rect">
              <a:avLst/>
            </a:prstGeom>
          </p:spPr>
          <p:txBody>
            <a:bodyPr anchor="ctr" rtlCol="false" tIns="0" lIns="0" bIns="0" rIns="0"/>
            <a:lstStyle/>
            <a:p>
              <a:pPr algn="ctr">
                <a:lnSpc>
                  <a:spcPts val="2576"/>
                </a:lnSpc>
              </a:pPr>
              <a:r>
                <a:rPr lang="en-US" sz="1951" b="true">
                  <a:solidFill>
                    <a:srgbClr val="174A8B"/>
                  </a:solidFill>
                  <a:latin typeface="Inter Bold"/>
                  <a:ea typeface="Inter Bold"/>
                  <a:cs typeface="Inter Bold"/>
                  <a:sym typeface="Inter Bold"/>
                </a:rPr>
                <a:t>cfbe2e94</a:t>
              </a:r>
            </a:p>
            <a:p>
              <a:pPr algn="ctr">
                <a:lnSpc>
                  <a:spcPts val="2179"/>
                </a:lnSpc>
              </a:pPr>
              <a:r>
                <a:rPr lang="en-US" sz="1651">
                  <a:solidFill>
                    <a:srgbClr val="174A8B"/>
                  </a:solidFill>
                  <a:latin typeface="Inter"/>
                  <a:ea typeface="Inter"/>
                  <a:cs typeface="Inter"/>
                  <a:sym typeface="Inter"/>
                </a:rPr>
                <a:t>entrenamiento</a:t>
              </a:r>
            </a:p>
          </p:txBody>
        </p:sp>
      </p:grpSp>
      <p:grpSp>
        <p:nvGrpSpPr>
          <p:cNvPr name="Group 37" id="37"/>
          <p:cNvGrpSpPr/>
          <p:nvPr/>
        </p:nvGrpSpPr>
        <p:grpSpPr>
          <a:xfrm rot="0">
            <a:off x="13260019" y="3294412"/>
            <a:ext cx="1894284" cy="1509941"/>
            <a:chOff x="0" y="0"/>
            <a:chExt cx="2525712" cy="2013255"/>
          </a:xfrm>
        </p:grpSpPr>
        <p:sp>
          <p:nvSpPr>
            <p:cNvPr name="Freeform 38" id="38"/>
            <p:cNvSpPr/>
            <p:nvPr/>
          </p:nvSpPr>
          <p:spPr>
            <a:xfrm flipH="false" flipV="false" rot="0">
              <a:off x="0" y="0"/>
              <a:ext cx="2525649" cy="2013204"/>
            </a:xfrm>
            <a:custGeom>
              <a:avLst/>
              <a:gdLst/>
              <a:ahLst/>
              <a:cxnLst/>
              <a:rect r="r" b="b" t="t" l="l"/>
              <a:pathLst>
                <a:path h="2013204" w="2525649">
                  <a:moveTo>
                    <a:pt x="0" y="241554"/>
                  </a:moveTo>
                  <a:cubicBezTo>
                    <a:pt x="0" y="108204"/>
                    <a:pt x="108204" y="0"/>
                    <a:pt x="241554" y="0"/>
                  </a:cubicBezTo>
                  <a:lnTo>
                    <a:pt x="2284095" y="0"/>
                  </a:lnTo>
                  <a:cubicBezTo>
                    <a:pt x="2417572" y="0"/>
                    <a:pt x="2525649" y="108204"/>
                    <a:pt x="2525649" y="241554"/>
                  </a:cubicBezTo>
                  <a:lnTo>
                    <a:pt x="2525649" y="1771650"/>
                  </a:lnTo>
                  <a:cubicBezTo>
                    <a:pt x="2525649" y="1905127"/>
                    <a:pt x="2417445" y="2013204"/>
                    <a:pt x="2284095" y="2013204"/>
                  </a:cubicBezTo>
                  <a:lnTo>
                    <a:pt x="241554" y="2013204"/>
                  </a:lnTo>
                  <a:cubicBezTo>
                    <a:pt x="108204" y="2013204"/>
                    <a:pt x="0" y="1905127"/>
                    <a:pt x="0" y="1771650"/>
                  </a:cubicBezTo>
                  <a:close/>
                </a:path>
              </a:pathLst>
            </a:custGeom>
            <a:solidFill>
              <a:srgbClr val="DBE8F8"/>
            </a:solidFill>
          </p:spPr>
        </p:sp>
      </p:grpSp>
      <p:grpSp>
        <p:nvGrpSpPr>
          <p:cNvPr name="Group 39" id="39"/>
          <p:cNvGrpSpPr/>
          <p:nvPr/>
        </p:nvGrpSpPr>
        <p:grpSpPr>
          <a:xfrm rot="0">
            <a:off x="13260019" y="3294412"/>
            <a:ext cx="1894284" cy="1509941"/>
            <a:chOff x="0" y="0"/>
            <a:chExt cx="2525712" cy="2013255"/>
          </a:xfrm>
        </p:grpSpPr>
        <p:sp>
          <p:nvSpPr>
            <p:cNvPr name="Freeform 40" id="40"/>
            <p:cNvSpPr/>
            <p:nvPr/>
          </p:nvSpPr>
          <p:spPr>
            <a:xfrm flipH="false" flipV="false" rot="0">
              <a:off x="0" y="0"/>
              <a:ext cx="2525717" cy="2013253"/>
            </a:xfrm>
            <a:custGeom>
              <a:avLst/>
              <a:gdLst/>
              <a:ahLst/>
              <a:cxnLst/>
              <a:rect r="r" b="b" t="t" l="l"/>
              <a:pathLst>
                <a:path h="2013253" w="2525717">
                  <a:moveTo>
                    <a:pt x="0" y="0"/>
                  </a:moveTo>
                  <a:lnTo>
                    <a:pt x="2525717" y="0"/>
                  </a:lnTo>
                  <a:lnTo>
                    <a:pt x="2525717" y="2013253"/>
                  </a:lnTo>
                  <a:lnTo>
                    <a:pt x="0" y="2013253"/>
                  </a:lnTo>
                  <a:close/>
                </a:path>
              </a:pathLst>
            </a:custGeom>
            <a:blipFill>
              <a:blip r:embed="rId3">
                <a:alphaModFix amt="0"/>
              </a:blip>
              <a:stretch>
                <a:fillRect l="-52271" t="0" r="-52270" b="0"/>
              </a:stretch>
            </a:blipFill>
          </p:spPr>
        </p:sp>
        <p:sp>
          <p:nvSpPr>
            <p:cNvPr name="TextBox 41" id="41"/>
            <p:cNvSpPr txBox="true"/>
            <p:nvPr/>
          </p:nvSpPr>
          <p:spPr>
            <a:xfrm>
              <a:off x="0" y="-28575"/>
              <a:ext cx="2525712" cy="2041830"/>
            </a:xfrm>
            <a:prstGeom prst="rect">
              <a:avLst/>
            </a:prstGeom>
          </p:spPr>
          <p:txBody>
            <a:bodyPr anchor="ctr" rtlCol="false" tIns="0" lIns="0" bIns="0" rIns="0"/>
            <a:lstStyle/>
            <a:p>
              <a:pPr algn="ctr">
                <a:lnSpc>
                  <a:spcPts val="2576"/>
                </a:lnSpc>
              </a:pPr>
              <a:r>
                <a:rPr lang="en-US" sz="1951" b="true">
                  <a:solidFill>
                    <a:srgbClr val="174A8B"/>
                  </a:solidFill>
                  <a:latin typeface="Inter Bold"/>
                  <a:ea typeface="Inter Bold"/>
                  <a:cs typeface="Inter Bold"/>
                  <a:sym typeface="Inter Bold"/>
                </a:rPr>
                <a:t>ecf251d4</a:t>
              </a:r>
            </a:p>
            <a:p>
              <a:pPr algn="ctr">
                <a:lnSpc>
                  <a:spcPts val="2179"/>
                </a:lnSpc>
              </a:pPr>
              <a:r>
                <a:rPr lang="en-US" sz="1651">
                  <a:solidFill>
                    <a:srgbClr val="174A8B"/>
                  </a:solidFill>
                  <a:latin typeface="Inter"/>
                  <a:ea typeface="Inter"/>
                  <a:cs typeface="Inter"/>
                  <a:sym typeface="Inter"/>
                </a:rPr>
                <a:t>entrenamiento</a:t>
              </a:r>
            </a:p>
          </p:txBody>
        </p:sp>
      </p:grpSp>
      <p:grpSp>
        <p:nvGrpSpPr>
          <p:cNvPr name="Group 42" id="42"/>
          <p:cNvGrpSpPr/>
          <p:nvPr/>
        </p:nvGrpSpPr>
        <p:grpSpPr>
          <a:xfrm rot="0">
            <a:off x="15332754" y="3294412"/>
            <a:ext cx="1894284" cy="1509941"/>
            <a:chOff x="0" y="0"/>
            <a:chExt cx="2525712" cy="2013255"/>
          </a:xfrm>
        </p:grpSpPr>
        <p:sp>
          <p:nvSpPr>
            <p:cNvPr name="Freeform 43" id="43"/>
            <p:cNvSpPr/>
            <p:nvPr/>
          </p:nvSpPr>
          <p:spPr>
            <a:xfrm flipH="false" flipV="false" rot="0">
              <a:off x="0" y="0"/>
              <a:ext cx="2525649" cy="2013204"/>
            </a:xfrm>
            <a:custGeom>
              <a:avLst/>
              <a:gdLst/>
              <a:ahLst/>
              <a:cxnLst/>
              <a:rect r="r" b="b" t="t" l="l"/>
              <a:pathLst>
                <a:path h="2013204" w="2525649">
                  <a:moveTo>
                    <a:pt x="0" y="241554"/>
                  </a:moveTo>
                  <a:cubicBezTo>
                    <a:pt x="0" y="108204"/>
                    <a:pt x="108204" y="0"/>
                    <a:pt x="241554" y="0"/>
                  </a:cubicBezTo>
                  <a:lnTo>
                    <a:pt x="2284095" y="0"/>
                  </a:lnTo>
                  <a:cubicBezTo>
                    <a:pt x="2417572" y="0"/>
                    <a:pt x="2525649" y="108204"/>
                    <a:pt x="2525649" y="241554"/>
                  </a:cubicBezTo>
                  <a:lnTo>
                    <a:pt x="2525649" y="1771650"/>
                  </a:lnTo>
                  <a:cubicBezTo>
                    <a:pt x="2525649" y="1905127"/>
                    <a:pt x="2417445" y="2013204"/>
                    <a:pt x="2284095" y="2013204"/>
                  </a:cubicBezTo>
                  <a:lnTo>
                    <a:pt x="241554" y="2013204"/>
                  </a:lnTo>
                  <a:cubicBezTo>
                    <a:pt x="108204" y="2013204"/>
                    <a:pt x="0" y="1905127"/>
                    <a:pt x="0" y="1771650"/>
                  </a:cubicBezTo>
                  <a:close/>
                </a:path>
              </a:pathLst>
            </a:custGeom>
            <a:solidFill>
              <a:srgbClr val="EB6834"/>
            </a:solidFill>
          </p:spPr>
        </p:sp>
      </p:grpSp>
      <p:grpSp>
        <p:nvGrpSpPr>
          <p:cNvPr name="Group 44" id="44"/>
          <p:cNvGrpSpPr/>
          <p:nvPr/>
        </p:nvGrpSpPr>
        <p:grpSpPr>
          <a:xfrm rot="0">
            <a:off x="15332754" y="3294412"/>
            <a:ext cx="1894284" cy="1509941"/>
            <a:chOff x="0" y="0"/>
            <a:chExt cx="2525712" cy="2013255"/>
          </a:xfrm>
        </p:grpSpPr>
        <p:sp>
          <p:nvSpPr>
            <p:cNvPr name="Freeform 45" id="45"/>
            <p:cNvSpPr/>
            <p:nvPr/>
          </p:nvSpPr>
          <p:spPr>
            <a:xfrm flipH="false" flipV="false" rot="0">
              <a:off x="0" y="0"/>
              <a:ext cx="2525717" cy="2013253"/>
            </a:xfrm>
            <a:custGeom>
              <a:avLst/>
              <a:gdLst/>
              <a:ahLst/>
              <a:cxnLst/>
              <a:rect r="r" b="b" t="t" l="l"/>
              <a:pathLst>
                <a:path h="2013253" w="2525717">
                  <a:moveTo>
                    <a:pt x="0" y="0"/>
                  </a:moveTo>
                  <a:lnTo>
                    <a:pt x="2525717" y="0"/>
                  </a:lnTo>
                  <a:lnTo>
                    <a:pt x="2525717" y="2013253"/>
                  </a:lnTo>
                  <a:lnTo>
                    <a:pt x="0" y="2013253"/>
                  </a:lnTo>
                  <a:close/>
                </a:path>
              </a:pathLst>
            </a:custGeom>
            <a:blipFill>
              <a:blip r:embed="rId3">
                <a:alphaModFix amt="0"/>
              </a:blip>
              <a:stretch>
                <a:fillRect l="-52271" t="0" r="-52270" b="0"/>
              </a:stretch>
            </a:blipFill>
          </p:spPr>
        </p:sp>
        <p:sp>
          <p:nvSpPr>
            <p:cNvPr name="TextBox 46" id="46"/>
            <p:cNvSpPr txBox="true"/>
            <p:nvPr/>
          </p:nvSpPr>
          <p:spPr>
            <a:xfrm>
              <a:off x="0" y="-28575"/>
              <a:ext cx="2525712" cy="2041830"/>
            </a:xfrm>
            <a:prstGeom prst="rect">
              <a:avLst/>
            </a:prstGeom>
          </p:spPr>
          <p:txBody>
            <a:bodyPr anchor="ctr" rtlCol="false" tIns="0" lIns="0" bIns="0" rIns="0"/>
            <a:lstStyle/>
            <a:p>
              <a:pPr algn="ctr">
                <a:lnSpc>
                  <a:spcPts val="2576"/>
                </a:lnSpc>
              </a:pPr>
              <a:r>
                <a:rPr lang="en-US" sz="1951" b="true">
                  <a:solidFill>
                    <a:srgbClr val="FFFFFF"/>
                  </a:solidFill>
                  <a:latin typeface="Inter Bold"/>
                  <a:ea typeface="Inter Bold"/>
                  <a:cs typeface="Inter Bold"/>
                  <a:sym typeface="Inter Bold"/>
                </a:rPr>
                <a:t>3c993bd2</a:t>
              </a:r>
            </a:p>
            <a:p>
              <a:pPr algn="ctr">
                <a:lnSpc>
                  <a:spcPts val="2179"/>
                </a:lnSpc>
              </a:pPr>
              <a:r>
                <a:rPr lang="en-US" sz="1651">
                  <a:solidFill>
                    <a:srgbClr val="FFFFFF"/>
                  </a:solidFill>
                  <a:latin typeface="Inter"/>
                  <a:ea typeface="Inter"/>
                  <a:cs typeface="Inter"/>
                  <a:sym typeface="Inter"/>
                </a:rPr>
                <a:t>prueba</a:t>
              </a:r>
            </a:p>
          </p:txBody>
        </p:sp>
      </p:grpSp>
      <p:sp>
        <p:nvSpPr>
          <p:cNvPr name="TextBox 47" id="47"/>
          <p:cNvSpPr txBox="true"/>
          <p:nvPr/>
        </p:nvSpPr>
        <p:spPr>
          <a:xfrm rot="0">
            <a:off x="823608" y="4991205"/>
            <a:ext cx="14275794" cy="568119"/>
          </a:xfrm>
          <a:prstGeom prst="rect">
            <a:avLst/>
          </a:prstGeom>
        </p:spPr>
        <p:txBody>
          <a:bodyPr anchor="t" rtlCol="false" tIns="0" lIns="0" bIns="0" rIns="0">
            <a:spAutoFit/>
          </a:bodyPr>
          <a:lstStyle/>
          <a:p>
            <a:pPr algn="l">
              <a:lnSpc>
                <a:spcPts val="2774"/>
              </a:lnSpc>
            </a:pPr>
            <a:r>
              <a:rPr lang="en-US" sz="2101">
                <a:solidFill>
                  <a:srgbClr val="6B6A66"/>
                </a:solidFill>
                <a:latin typeface="Inter"/>
                <a:ea typeface="Inter"/>
                <a:cs typeface="Inter"/>
                <a:sym typeface="Inter"/>
              </a:rPr>
              <a:t>400 clips · 7 partidos → ajuste y entrenamiento</a:t>
            </a:r>
          </a:p>
        </p:txBody>
      </p:sp>
      <p:sp>
        <p:nvSpPr>
          <p:cNvPr name="TextBox 48" id="48"/>
          <p:cNvSpPr txBox="true"/>
          <p:nvPr/>
        </p:nvSpPr>
        <p:spPr>
          <a:xfrm rot="0">
            <a:off x="15236666" y="4991205"/>
            <a:ext cx="2196274" cy="568119"/>
          </a:xfrm>
          <a:prstGeom prst="rect">
            <a:avLst/>
          </a:prstGeom>
        </p:spPr>
        <p:txBody>
          <a:bodyPr anchor="t" rtlCol="false" tIns="0" lIns="0" bIns="0" rIns="0">
            <a:spAutoFit/>
          </a:bodyPr>
          <a:lstStyle/>
          <a:p>
            <a:pPr algn="ctr">
              <a:lnSpc>
                <a:spcPts val="2774"/>
              </a:lnSpc>
            </a:pPr>
            <a:r>
              <a:rPr lang="en-US" sz="2101">
                <a:solidFill>
                  <a:srgbClr val="6B6A66"/>
                </a:solidFill>
                <a:latin typeface="Inter"/>
                <a:ea typeface="Inter"/>
                <a:cs typeface="Inter"/>
                <a:sym typeface="Inter"/>
              </a:rPr>
              <a:t>362 clips</a:t>
            </a:r>
          </a:p>
        </p:txBody>
      </p:sp>
      <p:grpSp>
        <p:nvGrpSpPr>
          <p:cNvPr name="Group 49" id="49"/>
          <p:cNvGrpSpPr/>
          <p:nvPr/>
        </p:nvGrpSpPr>
        <p:grpSpPr>
          <a:xfrm rot="0">
            <a:off x="823608" y="6039755"/>
            <a:ext cx="8098765" cy="2882608"/>
            <a:chOff x="0" y="0"/>
            <a:chExt cx="10798353" cy="3843477"/>
          </a:xfrm>
        </p:grpSpPr>
        <p:sp>
          <p:nvSpPr>
            <p:cNvPr name="Freeform 50" id="50"/>
            <p:cNvSpPr/>
            <p:nvPr/>
          </p:nvSpPr>
          <p:spPr>
            <a:xfrm flipH="false" flipV="false" rot="0">
              <a:off x="0" y="0"/>
              <a:ext cx="10798428" cy="3843528"/>
            </a:xfrm>
            <a:custGeom>
              <a:avLst/>
              <a:gdLst/>
              <a:ahLst/>
              <a:cxnLst/>
              <a:rect r="r" b="b" t="t" l="l"/>
              <a:pathLst>
                <a:path h="3843528" w="10798428">
                  <a:moveTo>
                    <a:pt x="0" y="230632"/>
                  </a:moveTo>
                  <a:cubicBezTo>
                    <a:pt x="0" y="103251"/>
                    <a:pt x="103251" y="0"/>
                    <a:pt x="230632" y="0"/>
                  </a:cubicBezTo>
                  <a:lnTo>
                    <a:pt x="10567797" y="0"/>
                  </a:lnTo>
                  <a:cubicBezTo>
                    <a:pt x="10695178" y="0"/>
                    <a:pt x="10798428" y="103251"/>
                    <a:pt x="10798428" y="230632"/>
                  </a:cubicBezTo>
                  <a:lnTo>
                    <a:pt x="10798428" y="3612896"/>
                  </a:lnTo>
                  <a:cubicBezTo>
                    <a:pt x="10798428" y="3740277"/>
                    <a:pt x="10695178" y="3843528"/>
                    <a:pt x="10567797" y="3843528"/>
                  </a:cubicBezTo>
                  <a:lnTo>
                    <a:pt x="230632" y="3843528"/>
                  </a:lnTo>
                  <a:cubicBezTo>
                    <a:pt x="103251" y="3843528"/>
                    <a:pt x="0" y="3740277"/>
                    <a:pt x="0" y="3612896"/>
                  </a:cubicBezTo>
                  <a:close/>
                </a:path>
              </a:pathLst>
            </a:custGeom>
            <a:solidFill>
              <a:srgbClr val="F0EFEC"/>
            </a:solidFill>
          </p:spPr>
        </p:sp>
      </p:grpSp>
      <p:grpSp>
        <p:nvGrpSpPr>
          <p:cNvPr name="Group 51" id="51"/>
          <p:cNvGrpSpPr/>
          <p:nvPr/>
        </p:nvGrpSpPr>
        <p:grpSpPr>
          <a:xfrm rot="0">
            <a:off x="823608" y="6382931"/>
            <a:ext cx="96088" cy="686333"/>
            <a:chOff x="0" y="0"/>
            <a:chExt cx="128118" cy="915111"/>
          </a:xfrm>
        </p:grpSpPr>
        <p:sp>
          <p:nvSpPr>
            <p:cNvPr name="Freeform 52" id="52"/>
            <p:cNvSpPr/>
            <p:nvPr/>
          </p:nvSpPr>
          <p:spPr>
            <a:xfrm flipH="false" flipV="false" rot="0">
              <a:off x="0" y="0"/>
              <a:ext cx="128143" cy="915162"/>
            </a:xfrm>
            <a:custGeom>
              <a:avLst/>
              <a:gdLst/>
              <a:ahLst/>
              <a:cxnLst/>
              <a:rect r="r" b="b" t="t" l="l"/>
              <a:pathLst>
                <a:path h="915162" w="128143">
                  <a:moveTo>
                    <a:pt x="0" y="0"/>
                  </a:moveTo>
                  <a:lnTo>
                    <a:pt x="128143" y="0"/>
                  </a:lnTo>
                  <a:lnTo>
                    <a:pt x="128143" y="915162"/>
                  </a:lnTo>
                  <a:lnTo>
                    <a:pt x="0" y="915162"/>
                  </a:lnTo>
                  <a:close/>
                </a:path>
              </a:pathLst>
            </a:custGeom>
            <a:solidFill>
              <a:srgbClr val="2A78D6"/>
            </a:solidFill>
          </p:spPr>
        </p:sp>
      </p:grpSp>
      <p:sp>
        <p:nvSpPr>
          <p:cNvPr name="TextBox 53" id="53"/>
          <p:cNvSpPr txBox="true"/>
          <p:nvPr/>
        </p:nvSpPr>
        <p:spPr>
          <a:xfrm rot="0">
            <a:off x="1235402" y="6494275"/>
            <a:ext cx="7412431" cy="435070"/>
          </a:xfrm>
          <a:prstGeom prst="rect">
            <a:avLst/>
          </a:prstGeom>
        </p:spPr>
        <p:txBody>
          <a:bodyPr anchor="t" rtlCol="false" tIns="0" lIns="0" bIns="0" rIns="0">
            <a:spAutoFit/>
          </a:bodyPr>
          <a:lstStyle/>
          <a:p>
            <a:pPr algn="l">
              <a:lnSpc>
                <a:spcPts val="3566"/>
              </a:lnSpc>
            </a:pPr>
            <a:r>
              <a:rPr lang="en-US" sz="2702" b="true">
                <a:solidFill>
                  <a:srgbClr val="1F1F1D"/>
                </a:solidFill>
                <a:latin typeface="Inter Bold"/>
                <a:ea typeface="Inter Bold"/>
                <a:cs typeface="Inter Bold"/>
                <a:sym typeface="Inter Bold"/>
              </a:rPr>
              <a:t>¿Por qué por partido?</a:t>
            </a:r>
          </a:p>
        </p:txBody>
      </p:sp>
      <p:sp>
        <p:nvSpPr>
          <p:cNvPr name="TextBox 54" id="54"/>
          <p:cNvSpPr txBox="true"/>
          <p:nvPr/>
        </p:nvSpPr>
        <p:spPr>
          <a:xfrm rot="0">
            <a:off x="1235402" y="7168429"/>
            <a:ext cx="7412431" cy="1548041"/>
          </a:xfrm>
          <a:prstGeom prst="rect">
            <a:avLst/>
          </a:prstGeom>
        </p:spPr>
        <p:txBody>
          <a:bodyPr anchor="t" rtlCol="false" tIns="0" lIns="0" bIns="0" rIns="0">
            <a:spAutoFit/>
          </a:bodyPr>
          <a:lstStyle/>
          <a:p>
            <a:pPr algn="l">
              <a:lnSpc>
                <a:spcPts val="2900"/>
              </a:lnSpc>
            </a:pPr>
            <a:r>
              <a:rPr lang="en-US" sz="2101">
                <a:solidFill>
                  <a:srgbClr val="6B6A66"/>
                </a:solidFill>
                <a:latin typeface="Inter"/>
                <a:ea typeface="Inter"/>
                <a:cs typeface="Inter"/>
                <a:sym typeface="Inter"/>
              </a:rPr>
              <a:t>Las ventanas de un mismo partido comparten estadio, uniformes y luz. Mezclarlas haría que el modelo reconozca el partido y no la acción.</a:t>
            </a:r>
          </a:p>
        </p:txBody>
      </p:sp>
      <p:grpSp>
        <p:nvGrpSpPr>
          <p:cNvPr name="Group 55" id="55"/>
          <p:cNvGrpSpPr/>
          <p:nvPr/>
        </p:nvGrpSpPr>
        <p:grpSpPr>
          <a:xfrm rot="0">
            <a:off x="9375353" y="6039755"/>
            <a:ext cx="8098765" cy="2882608"/>
            <a:chOff x="0" y="0"/>
            <a:chExt cx="10798353" cy="3843477"/>
          </a:xfrm>
        </p:grpSpPr>
        <p:sp>
          <p:nvSpPr>
            <p:cNvPr name="Freeform 56" id="56"/>
            <p:cNvSpPr/>
            <p:nvPr/>
          </p:nvSpPr>
          <p:spPr>
            <a:xfrm flipH="false" flipV="false" rot="0">
              <a:off x="0" y="0"/>
              <a:ext cx="10798428" cy="3843528"/>
            </a:xfrm>
            <a:custGeom>
              <a:avLst/>
              <a:gdLst/>
              <a:ahLst/>
              <a:cxnLst/>
              <a:rect r="r" b="b" t="t" l="l"/>
              <a:pathLst>
                <a:path h="3843528" w="10798428">
                  <a:moveTo>
                    <a:pt x="0" y="230632"/>
                  </a:moveTo>
                  <a:cubicBezTo>
                    <a:pt x="0" y="103251"/>
                    <a:pt x="103251" y="0"/>
                    <a:pt x="230632" y="0"/>
                  </a:cubicBezTo>
                  <a:lnTo>
                    <a:pt x="10567797" y="0"/>
                  </a:lnTo>
                  <a:cubicBezTo>
                    <a:pt x="10695178" y="0"/>
                    <a:pt x="10798428" y="103251"/>
                    <a:pt x="10798428" y="230632"/>
                  </a:cubicBezTo>
                  <a:lnTo>
                    <a:pt x="10798428" y="3612896"/>
                  </a:lnTo>
                  <a:cubicBezTo>
                    <a:pt x="10798428" y="3740277"/>
                    <a:pt x="10695178" y="3843528"/>
                    <a:pt x="10567797" y="3843528"/>
                  </a:cubicBezTo>
                  <a:lnTo>
                    <a:pt x="230632" y="3843528"/>
                  </a:lnTo>
                  <a:cubicBezTo>
                    <a:pt x="103251" y="3843528"/>
                    <a:pt x="0" y="3740277"/>
                    <a:pt x="0" y="3612896"/>
                  </a:cubicBezTo>
                  <a:close/>
                </a:path>
              </a:pathLst>
            </a:custGeom>
            <a:solidFill>
              <a:srgbClr val="F0EFEC"/>
            </a:solidFill>
          </p:spPr>
        </p:sp>
      </p:grpSp>
      <p:grpSp>
        <p:nvGrpSpPr>
          <p:cNvPr name="Group 57" id="57"/>
          <p:cNvGrpSpPr/>
          <p:nvPr/>
        </p:nvGrpSpPr>
        <p:grpSpPr>
          <a:xfrm rot="0">
            <a:off x="9375353" y="6382931"/>
            <a:ext cx="96088" cy="686333"/>
            <a:chOff x="0" y="0"/>
            <a:chExt cx="128118" cy="915111"/>
          </a:xfrm>
        </p:grpSpPr>
        <p:sp>
          <p:nvSpPr>
            <p:cNvPr name="Freeform 58" id="58"/>
            <p:cNvSpPr/>
            <p:nvPr/>
          </p:nvSpPr>
          <p:spPr>
            <a:xfrm flipH="false" flipV="false" rot="0">
              <a:off x="0" y="0"/>
              <a:ext cx="128143" cy="915162"/>
            </a:xfrm>
            <a:custGeom>
              <a:avLst/>
              <a:gdLst/>
              <a:ahLst/>
              <a:cxnLst/>
              <a:rect r="r" b="b" t="t" l="l"/>
              <a:pathLst>
                <a:path h="915162" w="128143">
                  <a:moveTo>
                    <a:pt x="0" y="0"/>
                  </a:moveTo>
                  <a:lnTo>
                    <a:pt x="128143" y="0"/>
                  </a:lnTo>
                  <a:lnTo>
                    <a:pt x="128143" y="915162"/>
                  </a:lnTo>
                  <a:lnTo>
                    <a:pt x="0" y="915162"/>
                  </a:lnTo>
                  <a:close/>
                </a:path>
              </a:pathLst>
            </a:custGeom>
            <a:solidFill>
              <a:srgbClr val="EB6834"/>
            </a:solidFill>
          </p:spPr>
        </p:sp>
      </p:grpSp>
      <p:sp>
        <p:nvSpPr>
          <p:cNvPr name="TextBox 59" id="59"/>
          <p:cNvSpPr txBox="true"/>
          <p:nvPr/>
        </p:nvSpPr>
        <p:spPr>
          <a:xfrm rot="0">
            <a:off x="9787157" y="6494275"/>
            <a:ext cx="7412431" cy="435070"/>
          </a:xfrm>
          <a:prstGeom prst="rect">
            <a:avLst/>
          </a:prstGeom>
        </p:spPr>
        <p:txBody>
          <a:bodyPr anchor="t" rtlCol="false" tIns="0" lIns="0" bIns="0" rIns="0">
            <a:spAutoFit/>
          </a:bodyPr>
          <a:lstStyle/>
          <a:p>
            <a:pPr algn="l">
              <a:lnSpc>
                <a:spcPts val="3566"/>
              </a:lnSpc>
            </a:pPr>
            <a:r>
              <a:rPr lang="en-US" sz="2702" b="true">
                <a:solidFill>
                  <a:srgbClr val="1F1F1D"/>
                </a:solidFill>
                <a:latin typeface="Inter Bold"/>
                <a:ea typeface="Inter Bold"/>
                <a:cs typeface="Inter Bold"/>
                <a:sym typeface="Inter Bold"/>
              </a:rPr>
              <a:t>Prueba final una sola vez</a:t>
            </a:r>
          </a:p>
        </p:txBody>
      </p:sp>
      <p:sp>
        <p:nvSpPr>
          <p:cNvPr name="TextBox 60" id="60"/>
          <p:cNvSpPr txBox="true"/>
          <p:nvPr/>
        </p:nvSpPr>
        <p:spPr>
          <a:xfrm rot="0">
            <a:off x="9787157" y="7168429"/>
            <a:ext cx="7412431" cy="1548041"/>
          </a:xfrm>
          <a:prstGeom prst="rect">
            <a:avLst/>
          </a:prstGeom>
        </p:spPr>
        <p:txBody>
          <a:bodyPr anchor="t" rtlCol="false" tIns="0" lIns="0" bIns="0" rIns="0">
            <a:spAutoFit/>
          </a:bodyPr>
          <a:lstStyle/>
          <a:p>
            <a:pPr algn="l">
              <a:lnSpc>
                <a:spcPts val="2900"/>
              </a:lnSpc>
            </a:pPr>
            <a:r>
              <a:rPr lang="en-US" sz="2101">
                <a:solidFill>
                  <a:srgbClr val="6B6A66"/>
                </a:solidFill>
                <a:latin typeface="Inter"/>
                <a:ea typeface="Inter"/>
                <a:cs typeface="Inter"/>
                <a:sym typeface="Inter"/>
              </a:rPr>
              <a:t>GroupKFold por partido para ajustar, con F1 macro. El partido 3c993bd2 solo se usó al final.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CFCFB"/>
        </a:solidFill>
      </p:bgPr>
    </p:bg>
    <p:spTree>
      <p:nvGrpSpPr>
        <p:cNvPr id="1" name=""/>
        <p:cNvGrpSpPr/>
        <p:nvPr/>
      </p:nvGrpSpPr>
      <p:grpSpPr>
        <a:xfrm>
          <a:off x="0" y="0"/>
          <a:ext cx="0" cy="0"/>
          <a:chOff x="0" y="0"/>
          <a:chExt cx="0" cy="0"/>
        </a:xfrm>
      </p:grpSpPr>
      <p:grpSp>
        <p:nvGrpSpPr>
          <p:cNvPr name="Group 2" id="2"/>
          <p:cNvGrpSpPr/>
          <p:nvPr/>
        </p:nvGrpSpPr>
        <p:grpSpPr>
          <a:xfrm rot="0">
            <a:off x="823608" y="617706"/>
            <a:ext cx="109814" cy="439255"/>
            <a:chOff x="0" y="0"/>
            <a:chExt cx="146418" cy="585673"/>
          </a:xfrm>
        </p:grpSpPr>
        <p:sp>
          <p:nvSpPr>
            <p:cNvPr name="Freeform 3" id="3"/>
            <p:cNvSpPr/>
            <p:nvPr/>
          </p:nvSpPr>
          <p:spPr>
            <a:xfrm flipH="false" flipV="false" rot="0">
              <a:off x="0" y="0"/>
              <a:ext cx="146431" cy="585724"/>
            </a:xfrm>
            <a:custGeom>
              <a:avLst/>
              <a:gdLst/>
              <a:ahLst/>
              <a:cxnLst/>
              <a:rect r="r" b="b" t="t" l="l"/>
              <a:pathLst>
                <a:path h="585724" w="146431">
                  <a:moveTo>
                    <a:pt x="0" y="0"/>
                  </a:moveTo>
                  <a:lnTo>
                    <a:pt x="146431" y="0"/>
                  </a:lnTo>
                  <a:lnTo>
                    <a:pt x="146431" y="585724"/>
                  </a:lnTo>
                  <a:lnTo>
                    <a:pt x="0" y="585724"/>
                  </a:lnTo>
                  <a:close/>
                </a:path>
              </a:pathLst>
            </a:custGeom>
            <a:solidFill>
              <a:srgbClr val="2A78D6"/>
            </a:solidFill>
          </p:spPr>
        </p:sp>
      </p:grpSp>
      <p:sp>
        <p:nvSpPr>
          <p:cNvPr name="TextBox 4" id="4"/>
          <p:cNvSpPr txBox="true"/>
          <p:nvPr/>
        </p:nvSpPr>
        <p:spPr>
          <a:xfrm rot="0">
            <a:off x="1028700" y="684372"/>
            <a:ext cx="12354049" cy="286872"/>
          </a:xfrm>
          <a:prstGeom prst="rect">
            <a:avLst/>
          </a:prstGeom>
        </p:spPr>
        <p:txBody>
          <a:bodyPr anchor="t" rtlCol="false" tIns="0" lIns="0" bIns="0" rIns="0">
            <a:spAutoFit/>
          </a:bodyPr>
          <a:lstStyle/>
          <a:p>
            <a:pPr algn="l">
              <a:lnSpc>
                <a:spcPts val="2377"/>
              </a:lnSpc>
            </a:pPr>
            <a:r>
              <a:rPr lang="en-US" sz="1801" b="true">
                <a:solidFill>
                  <a:srgbClr val="2A78D6"/>
                </a:solidFill>
                <a:latin typeface="Inter Bold"/>
                <a:ea typeface="Inter Bold"/>
                <a:cs typeface="Inter Bold"/>
                <a:sym typeface="Inter Bold"/>
              </a:rPr>
              <a:t>3 · DEMO</a:t>
            </a:r>
            <a:r>
              <a:rPr lang="en-US" sz="1801">
                <a:solidFill>
                  <a:srgbClr val="6B6A66"/>
                </a:solidFill>
                <a:latin typeface="Inter"/>
                <a:ea typeface="Inter"/>
                <a:cs typeface="Inter"/>
                <a:sym typeface="Inter"/>
              </a:rPr>
              <a:t> </a:t>
            </a:r>
          </a:p>
        </p:txBody>
      </p:sp>
      <p:sp>
        <p:nvSpPr>
          <p:cNvPr name="TextBox 5" id="5"/>
          <p:cNvSpPr txBox="true"/>
          <p:nvPr/>
        </p:nvSpPr>
        <p:spPr>
          <a:xfrm rot="0">
            <a:off x="823608" y="1178252"/>
            <a:ext cx="16609333" cy="1429826"/>
          </a:xfrm>
          <a:prstGeom prst="rect">
            <a:avLst/>
          </a:prstGeom>
        </p:spPr>
        <p:txBody>
          <a:bodyPr anchor="t" rtlCol="false" tIns="0" lIns="0" bIns="0" rIns="0">
            <a:spAutoFit/>
          </a:bodyPr>
          <a:lstStyle/>
          <a:p>
            <a:pPr algn="l">
              <a:lnSpc>
                <a:spcPts val="5944"/>
              </a:lnSpc>
            </a:pPr>
            <a:r>
              <a:rPr lang="en-US" sz="4503" b="true">
                <a:solidFill>
                  <a:srgbClr val="1F1F1D"/>
                </a:solidFill>
                <a:latin typeface="Inter Bold"/>
                <a:ea typeface="Inter Bold"/>
                <a:cs typeface="Inter Bold"/>
                <a:sym typeface="Inter Bold"/>
              </a:rPr>
              <a:t>Demo: la aplicación funcionando</a:t>
            </a:r>
          </a:p>
        </p:txBody>
      </p:sp>
      <p:sp>
        <p:nvSpPr>
          <p:cNvPr name="TextBox 6" id="6"/>
          <p:cNvSpPr txBox="true"/>
          <p:nvPr/>
        </p:nvSpPr>
        <p:spPr>
          <a:xfrm rot="0">
            <a:off x="16746607" y="9580131"/>
            <a:ext cx="823608" cy="440379"/>
          </a:xfrm>
          <a:prstGeom prst="rect">
            <a:avLst/>
          </a:prstGeom>
        </p:spPr>
        <p:txBody>
          <a:bodyPr anchor="t" rtlCol="false" tIns="0" lIns="0" bIns="0" rIns="0">
            <a:spAutoFit/>
          </a:bodyPr>
          <a:lstStyle/>
          <a:p>
            <a:pPr algn="r">
              <a:lnSpc>
                <a:spcPts val="2179"/>
              </a:lnSpc>
            </a:pPr>
            <a:r>
              <a:rPr lang="en-US" sz="1651">
                <a:solidFill>
                  <a:srgbClr val="6B6A66"/>
                </a:solidFill>
                <a:latin typeface="Inter"/>
                <a:ea typeface="Inter"/>
                <a:cs typeface="Inter"/>
                <a:sym typeface="Inter"/>
              </a:rPr>
              <a:t>8</a:t>
            </a:r>
          </a:p>
        </p:txBody>
      </p:sp>
      <p:grpSp>
        <p:nvGrpSpPr>
          <p:cNvPr name="Group 7" id="7"/>
          <p:cNvGrpSpPr/>
          <p:nvPr/>
        </p:nvGrpSpPr>
        <p:grpSpPr>
          <a:xfrm rot="0">
            <a:off x="823608" y="2745343"/>
            <a:ext cx="6314294" cy="6314294"/>
            <a:chOff x="0" y="0"/>
            <a:chExt cx="8419059" cy="8419059"/>
          </a:xfrm>
        </p:grpSpPr>
        <p:sp>
          <p:nvSpPr>
            <p:cNvPr name="Freeform 8" id="8"/>
            <p:cNvSpPr/>
            <p:nvPr/>
          </p:nvSpPr>
          <p:spPr>
            <a:xfrm flipH="false" flipV="false" rot="0">
              <a:off x="0" y="0"/>
              <a:ext cx="8419085" cy="8419085"/>
            </a:xfrm>
            <a:custGeom>
              <a:avLst/>
              <a:gdLst/>
              <a:ahLst/>
              <a:cxnLst/>
              <a:rect r="r" b="b" t="t" l="l"/>
              <a:pathLst>
                <a:path h="8419085" w="8419085">
                  <a:moveTo>
                    <a:pt x="0" y="421005"/>
                  </a:moveTo>
                  <a:cubicBezTo>
                    <a:pt x="0" y="188468"/>
                    <a:pt x="188468" y="0"/>
                    <a:pt x="421005" y="0"/>
                  </a:cubicBezTo>
                  <a:lnTo>
                    <a:pt x="7998079" y="0"/>
                  </a:lnTo>
                  <a:cubicBezTo>
                    <a:pt x="8230616" y="0"/>
                    <a:pt x="8419085" y="188468"/>
                    <a:pt x="8419085" y="421005"/>
                  </a:cubicBezTo>
                  <a:lnTo>
                    <a:pt x="8419085" y="7998079"/>
                  </a:lnTo>
                  <a:cubicBezTo>
                    <a:pt x="8419085" y="8230616"/>
                    <a:pt x="8230616" y="8419085"/>
                    <a:pt x="7998079" y="8419085"/>
                  </a:cubicBezTo>
                  <a:lnTo>
                    <a:pt x="421005" y="8419085"/>
                  </a:lnTo>
                  <a:cubicBezTo>
                    <a:pt x="188468" y="8419084"/>
                    <a:pt x="0" y="8230616"/>
                    <a:pt x="0" y="7998079"/>
                  </a:cubicBezTo>
                  <a:close/>
                </a:path>
              </a:pathLst>
            </a:custGeom>
            <a:solidFill>
              <a:srgbClr val="F0EFEC"/>
            </a:solidFill>
          </p:spPr>
        </p:sp>
      </p:grpSp>
      <p:sp>
        <p:nvSpPr>
          <p:cNvPr name="TextBox 9" id="9"/>
          <p:cNvSpPr txBox="true"/>
          <p:nvPr/>
        </p:nvSpPr>
        <p:spPr>
          <a:xfrm rot="0">
            <a:off x="1235402" y="2991307"/>
            <a:ext cx="5490686" cy="714908"/>
          </a:xfrm>
          <a:prstGeom prst="rect">
            <a:avLst/>
          </a:prstGeom>
        </p:spPr>
        <p:txBody>
          <a:bodyPr anchor="t" rtlCol="false" tIns="0" lIns="0" bIns="0" rIns="0">
            <a:spAutoFit/>
          </a:bodyPr>
          <a:lstStyle/>
          <a:p>
            <a:pPr algn="l">
              <a:lnSpc>
                <a:spcPts val="3566"/>
              </a:lnSpc>
            </a:pPr>
            <a:r>
              <a:rPr lang="en-US" sz="2702" b="true">
                <a:solidFill>
                  <a:srgbClr val="1F1F1D"/>
                </a:solidFill>
                <a:latin typeface="Inter Bold"/>
                <a:ea typeface="Inter Bold"/>
                <a:cs typeface="Inter Bold"/>
                <a:sym typeface="Inter Bold"/>
              </a:rPr>
              <a:t>Lo que vamos a mostrar</a:t>
            </a:r>
          </a:p>
        </p:txBody>
      </p:sp>
      <p:grpSp>
        <p:nvGrpSpPr>
          <p:cNvPr name="Group 10" id="10"/>
          <p:cNvGrpSpPr/>
          <p:nvPr/>
        </p:nvGrpSpPr>
        <p:grpSpPr>
          <a:xfrm rot="0">
            <a:off x="1235402" y="3980755"/>
            <a:ext cx="617706" cy="617706"/>
            <a:chOff x="0" y="0"/>
            <a:chExt cx="823608" cy="823608"/>
          </a:xfrm>
        </p:grpSpPr>
        <p:sp>
          <p:nvSpPr>
            <p:cNvPr name="Freeform 11" id="11"/>
            <p:cNvSpPr/>
            <p:nvPr/>
          </p:nvSpPr>
          <p:spPr>
            <a:xfrm flipH="false" flipV="false" rot="0">
              <a:off x="0" y="0"/>
              <a:ext cx="823595" cy="823595"/>
            </a:xfrm>
            <a:custGeom>
              <a:avLst/>
              <a:gdLst/>
              <a:ahLst/>
              <a:cxnLst/>
              <a:rect r="r" b="b" t="t" l="l"/>
              <a:pathLst>
                <a:path h="823595" w="823595">
                  <a:moveTo>
                    <a:pt x="0" y="411861"/>
                  </a:moveTo>
                  <a:cubicBezTo>
                    <a:pt x="0" y="184404"/>
                    <a:pt x="184404" y="0"/>
                    <a:pt x="411861" y="0"/>
                  </a:cubicBezTo>
                  <a:cubicBezTo>
                    <a:pt x="639318" y="0"/>
                    <a:pt x="823595" y="184404"/>
                    <a:pt x="823595" y="411861"/>
                  </a:cubicBezTo>
                  <a:cubicBezTo>
                    <a:pt x="823595" y="639318"/>
                    <a:pt x="639191" y="823595"/>
                    <a:pt x="411861" y="823595"/>
                  </a:cubicBezTo>
                  <a:cubicBezTo>
                    <a:pt x="184531" y="823595"/>
                    <a:pt x="0" y="639191"/>
                    <a:pt x="0" y="411861"/>
                  </a:cubicBezTo>
                  <a:close/>
                </a:path>
              </a:pathLst>
            </a:custGeom>
            <a:solidFill>
              <a:srgbClr val="2A78D6"/>
            </a:solidFill>
          </p:spPr>
        </p:sp>
      </p:grpSp>
      <p:grpSp>
        <p:nvGrpSpPr>
          <p:cNvPr name="Group 12" id="12"/>
          <p:cNvGrpSpPr/>
          <p:nvPr/>
        </p:nvGrpSpPr>
        <p:grpSpPr>
          <a:xfrm rot="0">
            <a:off x="1235402" y="3980755"/>
            <a:ext cx="617706" cy="617706"/>
            <a:chOff x="0" y="0"/>
            <a:chExt cx="823608" cy="823608"/>
          </a:xfrm>
        </p:grpSpPr>
        <p:sp>
          <p:nvSpPr>
            <p:cNvPr name="Freeform 13" id="13"/>
            <p:cNvSpPr/>
            <p:nvPr/>
          </p:nvSpPr>
          <p:spPr>
            <a:xfrm flipH="false" flipV="false" rot="0">
              <a:off x="0" y="0"/>
              <a:ext cx="823603" cy="823603"/>
            </a:xfrm>
            <a:custGeom>
              <a:avLst/>
              <a:gdLst/>
              <a:ahLst/>
              <a:cxnLst/>
              <a:rect r="r" b="b" t="t" l="l"/>
              <a:pathLst>
                <a:path h="823603" w="823603">
                  <a:moveTo>
                    <a:pt x="0" y="0"/>
                  </a:moveTo>
                  <a:lnTo>
                    <a:pt x="823603" y="0"/>
                  </a:lnTo>
                  <a:lnTo>
                    <a:pt x="823603" y="823603"/>
                  </a:lnTo>
                  <a:lnTo>
                    <a:pt x="0" y="823603"/>
                  </a:lnTo>
                  <a:close/>
                </a:path>
              </a:pathLst>
            </a:custGeom>
            <a:blipFill>
              <a:blip r:embed="rId3">
                <a:alphaModFix amt="0"/>
              </a:blip>
              <a:stretch>
                <a:fillRect l="-78303" t="0" r="-78304" b="0"/>
              </a:stretch>
            </a:blipFill>
          </p:spPr>
        </p:sp>
        <p:sp>
          <p:nvSpPr>
            <p:cNvPr name="TextBox 14" id="14"/>
            <p:cNvSpPr txBox="true"/>
            <p:nvPr/>
          </p:nvSpPr>
          <p:spPr>
            <a:xfrm>
              <a:off x="0" y="-19050"/>
              <a:ext cx="823608" cy="842658"/>
            </a:xfrm>
            <a:prstGeom prst="rect">
              <a:avLst/>
            </a:prstGeom>
          </p:spPr>
          <p:txBody>
            <a:bodyPr anchor="ctr" rtlCol="false" tIns="0" lIns="0" bIns="0" rIns="0"/>
            <a:lstStyle/>
            <a:p>
              <a:pPr algn="ctr">
                <a:lnSpc>
                  <a:spcPts val="2774"/>
                </a:lnSpc>
              </a:pPr>
              <a:r>
                <a:rPr lang="en-US" sz="2101" b="true">
                  <a:solidFill>
                    <a:srgbClr val="FFFFFF"/>
                  </a:solidFill>
                  <a:latin typeface="Inter Bold"/>
                  <a:ea typeface="Inter Bold"/>
                  <a:cs typeface="Inter Bold"/>
                  <a:sym typeface="Inter Bold"/>
                </a:rPr>
                <a:t>1</a:t>
              </a:r>
            </a:p>
          </p:txBody>
        </p:sp>
      </p:grpSp>
      <p:sp>
        <p:nvSpPr>
          <p:cNvPr name="TextBox 15" id="15"/>
          <p:cNvSpPr txBox="true"/>
          <p:nvPr/>
        </p:nvSpPr>
        <p:spPr>
          <a:xfrm rot="0">
            <a:off x="2059010" y="3924719"/>
            <a:ext cx="4804353" cy="1058075"/>
          </a:xfrm>
          <a:prstGeom prst="rect">
            <a:avLst/>
          </a:prstGeom>
        </p:spPr>
        <p:txBody>
          <a:bodyPr anchor="t" rtlCol="false" tIns="0" lIns="0" bIns="0" rIns="0">
            <a:spAutoFit/>
          </a:bodyPr>
          <a:lstStyle/>
          <a:p>
            <a:pPr algn="l">
              <a:lnSpc>
                <a:spcPts val="2972"/>
              </a:lnSpc>
            </a:pPr>
            <a:r>
              <a:rPr lang="en-US" sz="2251">
                <a:solidFill>
                  <a:srgbClr val="1F1F1D"/>
                </a:solidFill>
                <a:latin typeface="Inter"/>
                <a:ea typeface="Inter"/>
                <a:cs typeface="Inter"/>
                <a:sym typeface="Inter"/>
              </a:rPr>
              <a:t>Explorar las variables por clase y por partido</a:t>
            </a:r>
          </a:p>
        </p:txBody>
      </p:sp>
      <p:grpSp>
        <p:nvGrpSpPr>
          <p:cNvPr name="Group 16" id="16"/>
          <p:cNvGrpSpPr/>
          <p:nvPr/>
        </p:nvGrpSpPr>
        <p:grpSpPr>
          <a:xfrm rot="0">
            <a:off x="1235402" y="5147520"/>
            <a:ext cx="617706" cy="617706"/>
            <a:chOff x="0" y="0"/>
            <a:chExt cx="823608" cy="823608"/>
          </a:xfrm>
        </p:grpSpPr>
        <p:sp>
          <p:nvSpPr>
            <p:cNvPr name="Freeform 17" id="17"/>
            <p:cNvSpPr/>
            <p:nvPr/>
          </p:nvSpPr>
          <p:spPr>
            <a:xfrm flipH="false" flipV="false" rot="0">
              <a:off x="0" y="0"/>
              <a:ext cx="823595" cy="823595"/>
            </a:xfrm>
            <a:custGeom>
              <a:avLst/>
              <a:gdLst/>
              <a:ahLst/>
              <a:cxnLst/>
              <a:rect r="r" b="b" t="t" l="l"/>
              <a:pathLst>
                <a:path h="823595" w="823595">
                  <a:moveTo>
                    <a:pt x="0" y="411861"/>
                  </a:moveTo>
                  <a:cubicBezTo>
                    <a:pt x="0" y="184404"/>
                    <a:pt x="184404" y="0"/>
                    <a:pt x="411861" y="0"/>
                  </a:cubicBezTo>
                  <a:cubicBezTo>
                    <a:pt x="639318" y="0"/>
                    <a:pt x="823595" y="184404"/>
                    <a:pt x="823595" y="411861"/>
                  </a:cubicBezTo>
                  <a:cubicBezTo>
                    <a:pt x="823595" y="639318"/>
                    <a:pt x="639191" y="823595"/>
                    <a:pt x="411861" y="823595"/>
                  </a:cubicBezTo>
                  <a:cubicBezTo>
                    <a:pt x="184531" y="823595"/>
                    <a:pt x="0" y="639191"/>
                    <a:pt x="0" y="411861"/>
                  </a:cubicBezTo>
                  <a:close/>
                </a:path>
              </a:pathLst>
            </a:custGeom>
            <a:solidFill>
              <a:srgbClr val="2A78D6"/>
            </a:solidFill>
          </p:spPr>
        </p:sp>
      </p:grpSp>
      <p:grpSp>
        <p:nvGrpSpPr>
          <p:cNvPr name="Group 18" id="18"/>
          <p:cNvGrpSpPr/>
          <p:nvPr/>
        </p:nvGrpSpPr>
        <p:grpSpPr>
          <a:xfrm rot="0">
            <a:off x="1235402" y="5147520"/>
            <a:ext cx="617706" cy="617706"/>
            <a:chOff x="0" y="0"/>
            <a:chExt cx="823608" cy="823608"/>
          </a:xfrm>
        </p:grpSpPr>
        <p:sp>
          <p:nvSpPr>
            <p:cNvPr name="Freeform 19" id="19"/>
            <p:cNvSpPr/>
            <p:nvPr/>
          </p:nvSpPr>
          <p:spPr>
            <a:xfrm flipH="false" flipV="false" rot="0">
              <a:off x="0" y="0"/>
              <a:ext cx="823603" cy="823603"/>
            </a:xfrm>
            <a:custGeom>
              <a:avLst/>
              <a:gdLst/>
              <a:ahLst/>
              <a:cxnLst/>
              <a:rect r="r" b="b" t="t" l="l"/>
              <a:pathLst>
                <a:path h="823603" w="823603">
                  <a:moveTo>
                    <a:pt x="0" y="0"/>
                  </a:moveTo>
                  <a:lnTo>
                    <a:pt x="823603" y="0"/>
                  </a:lnTo>
                  <a:lnTo>
                    <a:pt x="823603" y="823603"/>
                  </a:lnTo>
                  <a:lnTo>
                    <a:pt x="0" y="823603"/>
                  </a:lnTo>
                  <a:close/>
                </a:path>
              </a:pathLst>
            </a:custGeom>
            <a:blipFill>
              <a:blip r:embed="rId3">
                <a:alphaModFix amt="0"/>
              </a:blip>
              <a:stretch>
                <a:fillRect l="-78303" t="0" r="-78304" b="0"/>
              </a:stretch>
            </a:blipFill>
          </p:spPr>
        </p:sp>
        <p:sp>
          <p:nvSpPr>
            <p:cNvPr name="TextBox 20" id="20"/>
            <p:cNvSpPr txBox="true"/>
            <p:nvPr/>
          </p:nvSpPr>
          <p:spPr>
            <a:xfrm>
              <a:off x="0" y="-19050"/>
              <a:ext cx="823608" cy="842658"/>
            </a:xfrm>
            <a:prstGeom prst="rect">
              <a:avLst/>
            </a:prstGeom>
          </p:spPr>
          <p:txBody>
            <a:bodyPr anchor="ctr" rtlCol="false" tIns="0" lIns="0" bIns="0" rIns="0"/>
            <a:lstStyle/>
            <a:p>
              <a:pPr algn="ctr">
                <a:lnSpc>
                  <a:spcPts val="2774"/>
                </a:lnSpc>
              </a:pPr>
              <a:r>
                <a:rPr lang="en-US" sz="2101" b="true">
                  <a:solidFill>
                    <a:srgbClr val="FFFFFF"/>
                  </a:solidFill>
                  <a:latin typeface="Inter Bold"/>
                  <a:ea typeface="Inter Bold"/>
                  <a:cs typeface="Inter Bold"/>
                  <a:sym typeface="Inter Bold"/>
                </a:rPr>
                <a:t>2</a:t>
              </a:r>
            </a:p>
          </p:txBody>
        </p:sp>
      </p:grpSp>
      <p:sp>
        <p:nvSpPr>
          <p:cNvPr name="TextBox 21" id="21"/>
          <p:cNvSpPr txBox="true"/>
          <p:nvPr/>
        </p:nvSpPr>
        <p:spPr>
          <a:xfrm rot="0">
            <a:off x="2059010" y="5091493"/>
            <a:ext cx="4804353" cy="1058075"/>
          </a:xfrm>
          <a:prstGeom prst="rect">
            <a:avLst/>
          </a:prstGeom>
        </p:spPr>
        <p:txBody>
          <a:bodyPr anchor="t" rtlCol="false" tIns="0" lIns="0" bIns="0" rIns="0">
            <a:spAutoFit/>
          </a:bodyPr>
          <a:lstStyle/>
          <a:p>
            <a:pPr algn="l">
              <a:lnSpc>
                <a:spcPts val="2972"/>
              </a:lnSpc>
            </a:pPr>
            <a:r>
              <a:rPr lang="en-US" sz="2251">
                <a:solidFill>
                  <a:srgbClr val="1F1F1D"/>
                </a:solidFill>
                <a:latin typeface="Inter"/>
                <a:ea typeface="Inter"/>
                <a:cs typeface="Inter"/>
                <a:sym typeface="Inter"/>
              </a:rPr>
              <a:t>Clasificar un video de ejemplo con los 4 modelos</a:t>
            </a:r>
          </a:p>
        </p:txBody>
      </p:sp>
      <p:grpSp>
        <p:nvGrpSpPr>
          <p:cNvPr name="Group 22" id="22"/>
          <p:cNvGrpSpPr/>
          <p:nvPr/>
        </p:nvGrpSpPr>
        <p:grpSpPr>
          <a:xfrm rot="0">
            <a:off x="1235402" y="6314294"/>
            <a:ext cx="617706" cy="617706"/>
            <a:chOff x="0" y="0"/>
            <a:chExt cx="823608" cy="823608"/>
          </a:xfrm>
        </p:grpSpPr>
        <p:sp>
          <p:nvSpPr>
            <p:cNvPr name="Freeform 23" id="23"/>
            <p:cNvSpPr/>
            <p:nvPr/>
          </p:nvSpPr>
          <p:spPr>
            <a:xfrm flipH="false" flipV="false" rot="0">
              <a:off x="0" y="0"/>
              <a:ext cx="823595" cy="823595"/>
            </a:xfrm>
            <a:custGeom>
              <a:avLst/>
              <a:gdLst/>
              <a:ahLst/>
              <a:cxnLst/>
              <a:rect r="r" b="b" t="t" l="l"/>
              <a:pathLst>
                <a:path h="823595" w="823595">
                  <a:moveTo>
                    <a:pt x="0" y="411861"/>
                  </a:moveTo>
                  <a:cubicBezTo>
                    <a:pt x="0" y="184404"/>
                    <a:pt x="184404" y="0"/>
                    <a:pt x="411861" y="0"/>
                  </a:cubicBezTo>
                  <a:cubicBezTo>
                    <a:pt x="639318" y="0"/>
                    <a:pt x="823595" y="184404"/>
                    <a:pt x="823595" y="411861"/>
                  </a:cubicBezTo>
                  <a:cubicBezTo>
                    <a:pt x="823595" y="639318"/>
                    <a:pt x="639191" y="823595"/>
                    <a:pt x="411861" y="823595"/>
                  </a:cubicBezTo>
                  <a:cubicBezTo>
                    <a:pt x="184531" y="823595"/>
                    <a:pt x="0" y="639191"/>
                    <a:pt x="0" y="411861"/>
                  </a:cubicBezTo>
                  <a:close/>
                </a:path>
              </a:pathLst>
            </a:custGeom>
            <a:solidFill>
              <a:srgbClr val="2A78D6"/>
            </a:solidFill>
          </p:spPr>
        </p:sp>
      </p:grpSp>
      <p:grpSp>
        <p:nvGrpSpPr>
          <p:cNvPr name="Group 24" id="24"/>
          <p:cNvGrpSpPr/>
          <p:nvPr/>
        </p:nvGrpSpPr>
        <p:grpSpPr>
          <a:xfrm rot="0">
            <a:off x="1235402" y="6314294"/>
            <a:ext cx="617706" cy="617706"/>
            <a:chOff x="0" y="0"/>
            <a:chExt cx="823608" cy="823608"/>
          </a:xfrm>
        </p:grpSpPr>
        <p:sp>
          <p:nvSpPr>
            <p:cNvPr name="Freeform 25" id="25"/>
            <p:cNvSpPr/>
            <p:nvPr/>
          </p:nvSpPr>
          <p:spPr>
            <a:xfrm flipH="false" flipV="false" rot="0">
              <a:off x="0" y="0"/>
              <a:ext cx="823603" cy="823603"/>
            </a:xfrm>
            <a:custGeom>
              <a:avLst/>
              <a:gdLst/>
              <a:ahLst/>
              <a:cxnLst/>
              <a:rect r="r" b="b" t="t" l="l"/>
              <a:pathLst>
                <a:path h="823603" w="823603">
                  <a:moveTo>
                    <a:pt x="0" y="0"/>
                  </a:moveTo>
                  <a:lnTo>
                    <a:pt x="823603" y="0"/>
                  </a:lnTo>
                  <a:lnTo>
                    <a:pt x="823603" y="823603"/>
                  </a:lnTo>
                  <a:lnTo>
                    <a:pt x="0" y="823603"/>
                  </a:lnTo>
                  <a:close/>
                </a:path>
              </a:pathLst>
            </a:custGeom>
            <a:blipFill>
              <a:blip r:embed="rId3">
                <a:alphaModFix amt="0"/>
              </a:blip>
              <a:stretch>
                <a:fillRect l="-78303" t="0" r="-78304" b="0"/>
              </a:stretch>
            </a:blipFill>
          </p:spPr>
        </p:sp>
        <p:sp>
          <p:nvSpPr>
            <p:cNvPr name="TextBox 26" id="26"/>
            <p:cNvSpPr txBox="true"/>
            <p:nvPr/>
          </p:nvSpPr>
          <p:spPr>
            <a:xfrm>
              <a:off x="0" y="-19050"/>
              <a:ext cx="823608" cy="842658"/>
            </a:xfrm>
            <a:prstGeom prst="rect">
              <a:avLst/>
            </a:prstGeom>
          </p:spPr>
          <p:txBody>
            <a:bodyPr anchor="ctr" rtlCol="false" tIns="0" lIns="0" bIns="0" rIns="0"/>
            <a:lstStyle/>
            <a:p>
              <a:pPr algn="ctr">
                <a:lnSpc>
                  <a:spcPts val="2774"/>
                </a:lnSpc>
              </a:pPr>
              <a:r>
                <a:rPr lang="en-US" sz="2101" b="true">
                  <a:solidFill>
                    <a:srgbClr val="FFFFFF"/>
                  </a:solidFill>
                  <a:latin typeface="Inter Bold"/>
                  <a:ea typeface="Inter Bold"/>
                  <a:cs typeface="Inter Bold"/>
                  <a:sym typeface="Inter Bold"/>
                </a:rPr>
                <a:t>3</a:t>
              </a:r>
            </a:p>
          </p:txBody>
        </p:sp>
      </p:grpSp>
      <p:sp>
        <p:nvSpPr>
          <p:cNvPr name="TextBox 27" id="27"/>
          <p:cNvSpPr txBox="true"/>
          <p:nvPr/>
        </p:nvSpPr>
        <p:spPr>
          <a:xfrm rot="0">
            <a:off x="2059010" y="6258268"/>
            <a:ext cx="4804353" cy="1058075"/>
          </a:xfrm>
          <a:prstGeom prst="rect">
            <a:avLst/>
          </a:prstGeom>
        </p:spPr>
        <p:txBody>
          <a:bodyPr anchor="t" rtlCol="false" tIns="0" lIns="0" bIns="0" rIns="0">
            <a:spAutoFit/>
          </a:bodyPr>
          <a:lstStyle/>
          <a:p>
            <a:pPr algn="l">
              <a:lnSpc>
                <a:spcPts val="2972"/>
              </a:lnSpc>
            </a:pPr>
            <a:r>
              <a:rPr lang="en-US" sz="2251">
                <a:solidFill>
                  <a:srgbClr val="1F1F1D"/>
                </a:solidFill>
                <a:latin typeface="Inter"/>
                <a:ea typeface="Inter"/>
                <a:cs typeface="Inter"/>
                <a:sym typeface="Inter"/>
              </a:rPr>
              <a:t>Recorrer un video completo: línea de tiempo</a:t>
            </a:r>
          </a:p>
        </p:txBody>
      </p:sp>
      <p:grpSp>
        <p:nvGrpSpPr>
          <p:cNvPr name="Group 28" id="28"/>
          <p:cNvGrpSpPr/>
          <p:nvPr/>
        </p:nvGrpSpPr>
        <p:grpSpPr>
          <a:xfrm rot="0">
            <a:off x="1235402" y="7481059"/>
            <a:ext cx="617706" cy="617706"/>
            <a:chOff x="0" y="0"/>
            <a:chExt cx="823608" cy="823608"/>
          </a:xfrm>
        </p:grpSpPr>
        <p:sp>
          <p:nvSpPr>
            <p:cNvPr name="Freeform 29" id="29"/>
            <p:cNvSpPr/>
            <p:nvPr/>
          </p:nvSpPr>
          <p:spPr>
            <a:xfrm flipH="false" flipV="false" rot="0">
              <a:off x="0" y="0"/>
              <a:ext cx="823595" cy="823595"/>
            </a:xfrm>
            <a:custGeom>
              <a:avLst/>
              <a:gdLst/>
              <a:ahLst/>
              <a:cxnLst/>
              <a:rect r="r" b="b" t="t" l="l"/>
              <a:pathLst>
                <a:path h="823595" w="823595">
                  <a:moveTo>
                    <a:pt x="0" y="411861"/>
                  </a:moveTo>
                  <a:cubicBezTo>
                    <a:pt x="0" y="184404"/>
                    <a:pt x="184404" y="0"/>
                    <a:pt x="411861" y="0"/>
                  </a:cubicBezTo>
                  <a:cubicBezTo>
                    <a:pt x="639318" y="0"/>
                    <a:pt x="823595" y="184404"/>
                    <a:pt x="823595" y="411861"/>
                  </a:cubicBezTo>
                  <a:cubicBezTo>
                    <a:pt x="823595" y="639318"/>
                    <a:pt x="639191" y="823595"/>
                    <a:pt x="411861" y="823595"/>
                  </a:cubicBezTo>
                  <a:cubicBezTo>
                    <a:pt x="184531" y="823595"/>
                    <a:pt x="0" y="639191"/>
                    <a:pt x="0" y="411861"/>
                  </a:cubicBezTo>
                  <a:close/>
                </a:path>
              </a:pathLst>
            </a:custGeom>
            <a:solidFill>
              <a:srgbClr val="2A78D6"/>
            </a:solidFill>
          </p:spPr>
        </p:sp>
      </p:grpSp>
      <p:grpSp>
        <p:nvGrpSpPr>
          <p:cNvPr name="Group 30" id="30"/>
          <p:cNvGrpSpPr/>
          <p:nvPr/>
        </p:nvGrpSpPr>
        <p:grpSpPr>
          <a:xfrm rot="0">
            <a:off x="1235402" y="7481059"/>
            <a:ext cx="617706" cy="617706"/>
            <a:chOff x="0" y="0"/>
            <a:chExt cx="823608" cy="823608"/>
          </a:xfrm>
        </p:grpSpPr>
        <p:sp>
          <p:nvSpPr>
            <p:cNvPr name="Freeform 31" id="31"/>
            <p:cNvSpPr/>
            <p:nvPr/>
          </p:nvSpPr>
          <p:spPr>
            <a:xfrm flipH="false" flipV="false" rot="0">
              <a:off x="0" y="0"/>
              <a:ext cx="823603" cy="823603"/>
            </a:xfrm>
            <a:custGeom>
              <a:avLst/>
              <a:gdLst/>
              <a:ahLst/>
              <a:cxnLst/>
              <a:rect r="r" b="b" t="t" l="l"/>
              <a:pathLst>
                <a:path h="823603" w="823603">
                  <a:moveTo>
                    <a:pt x="0" y="0"/>
                  </a:moveTo>
                  <a:lnTo>
                    <a:pt x="823603" y="0"/>
                  </a:lnTo>
                  <a:lnTo>
                    <a:pt x="823603" y="823603"/>
                  </a:lnTo>
                  <a:lnTo>
                    <a:pt x="0" y="823603"/>
                  </a:lnTo>
                  <a:close/>
                </a:path>
              </a:pathLst>
            </a:custGeom>
            <a:blipFill>
              <a:blip r:embed="rId3">
                <a:alphaModFix amt="0"/>
              </a:blip>
              <a:stretch>
                <a:fillRect l="-78303" t="0" r="-78304" b="0"/>
              </a:stretch>
            </a:blipFill>
          </p:spPr>
        </p:sp>
        <p:sp>
          <p:nvSpPr>
            <p:cNvPr name="TextBox 32" id="32"/>
            <p:cNvSpPr txBox="true"/>
            <p:nvPr/>
          </p:nvSpPr>
          <p:spPr>
            <a:xfrm>
              <a:off x="0" y="-19050"/>
              <a:ext cx="823608" cy="842658"/>
            </a:xfrm>
            <a:prstGeom prst="rect">
              <a:avLst/>
            </a:prstGeom>
          </p:spPr>
          <p:txBody>
            <a:bodyPr anchor="ctr" rtlCol="false" tIns="0" lIns="0" bIns="0" rIns="0"/>
            <a:lstStyle/>
            <a:p>
              <a:pPr algn="ctr">
                <a:lnSpc>
                  <a:spcPts val="2774"/>
                </a:lnSpc>
              </a:pPr>
              <a:r>
                <a:rPr lang="en-US" sz="2101" b="true">
                  <a:solidFill>
                    <a:srgbClr val="FFFFFF"/>
                  </a:solidFill>
                  <a:latin typeface="Inter Bold"/>
                  <a:ea typeface="Inter Bold"/>
                  <a:cs typeface="Inter Bold"/>
                  <a:sym typeface="Inter Bold"/>
                </a:rPr>
                <a:t>4</a:t>
              </a:r>
            </a:p>
          </p:txBody>
        </p:sp>
      </p:grpSp>
      <p:sp>
        <p:nvSpPr>
          <p:cNvPr name="TextBox 33" id="33"/>
          <p:cNvSpPr txBox="true"/>
          <p:nvPr/>
        </p:nvSpPr>
        <p:spPr>
          <a:xfrm rot="0">
            <a:off x="2059010" y="7425033"/>
            <a:ext cx="4804353" cy="1058075"/>
          </a:xfrm>
          <a:prstGeom prst="rect">
            <a:avLst/>
          </a:prstGeom>
        </p:spPr>
        <p:txBody>
          <a:bodyPr anchor="t" rtlCol="false" tIns="0" lIns="0" bIns="0" rIns="0">
            <a:spAutoFit/>
          </a:bodyPr>
          <a:lstStyle/>
          <a:p>
            <a:pPr algn="l">
              <a:lnSpc>
                <a:spcPts val="2972"/>
              </a:lnSpc>
            </a:pPr>
            <a:r>
              <a:rPr lang="en-US" sz="2251">
                <a:solidFill>
                  <a:srgbClr val="1F1F1D"/>
                </a:solidFill>
                <a:latin typeface="Inter"/>
                <a:ea typeface="Inter"/>
                <a:cs typeface="Inter"/>
                <a:sym typeface="Inter"/>
              </a:rPr>
              <a:t>Rendimiento interactivo… y ocultarlo</a:t>
            </a:r>
          </a:p>
        </p:txBody>
      </p:sp>
      <p:grpSp>
        <p:nvGrpSpPr>
          <p:cNvPr name="Group 34" id="34"/>
          <p:cNvGrpSpPr/>
          <p:nvPr/>
        </p:nvGrpSpPr>
        <p:grpSpPr>
          <a:xfrm rot="0">
            <a:off x="7549696" y="2745343"/>
            <a:ext cx="4804353" cy="5559323"/>
            <a:chOff x="0" y="0"/>
            <a:chExt cx="6405804" cy="7412431"/>
          </a:xfrm>
        </p:grpSpPr>
        <p:sp>
          <p:nvSpPr>
            <p:cNvPr name="Freeform 35" id="35"/>
            <p:cNvSpPr/>
            <p:nvPr/>
          </p:nvSpPr>
          <p:spPr>
            <a:xfrm flipH="false" flipV="false" rot="0">
              <a:off x="0" y="0"/>
              <a:ext cx="6405880" cy="7412482"/>
            </a:xfrm>
            <a:custGeom>
              <a:avLst/>
              <a:gdLst/>
              <a:ahLst/>
              <a:cxnLst/>
              <a:rect r="r" b="b" t="t" l="l"/>
              <a:pathLst>
                <a:path h="7412482" w="6405880">
                  <a:moveTo>
                    <a:pt x="0" y="256286"/>
                  </a:moveTo>
                  <a:cubicBezTo>
                    <a:pt x="0" y="114681"/>
                    <a:pt x="114681" y="0"/>
                    <a:pt x="256286" y="0"/>
                  </a:cubicBezTo>
                  <a:lnTo>
                    <a:pt x="6149594" y="0"/>
                  </a:lnTo>
                  <a:cubicBezTo>
                    <a:pt x="6291072" y="0"/>
                    <a:pt x="6405880" y="114681"/>
                    <a:pt x="6405880" y="256286"/>
                  </a:cubicBezTo>
                  <a:lnTo>
                    <a:pt x="6405880" y="7156196"/>
                  </a:lnTo>
                  <a:cubicBezTo>
                    <a:pt x="6405880" y="7297674"/>
                    <a:pt x="6291199" y="7412482"/>
                    <a:pt x="6149594" y="7412482"/>
                  </a:cubicBezTo>
                  <a:lnTo>
                    <a:pt x="256286" y="7412482"/>
                  </a:lnTo>
                  <a:cubicBezTo>
                    <a:pt x="114681" y="7412482"/>
                    <a:pt x="0" y="7297674"/>
                    <a:pt x="0" y="7156196"/>
                  </a:cubicBezTo>
                  <a:close/>
                </a:path>
              </a:pathLst>
            </a:custGeom>
            <a:solidFill>
              <a:srgbClr val="F0EFEC"/>
            </a:solidFill>
          </p:spPr>
        </p:sp>
      </p:grpSp>
      <p:grpSp>
        <p:nvGrpSpPr>
          <p:cNvPr name="Group 36" id="36"/>
          <p:cNvGrpSpPr/>
          <p:nvPr/>
        </p:nvGrpSpPr>
        <p:grpSpPr>
          <a:xfrm rot="0">
            <a:off x="7686961" y="2882608"/>
            <a:ext cx="4529823" cy="3703549"/>
            <a:chOff x="0" y="0"/>
            <a:chExt cx="6039764" cy="4938065"/>
          </a:xfrm>
        </p:grpSpPr>
        <p:sp>
          <p:nvSpPr>
            <p:cNvPr name="Freeform 37" id="37" descr="app_clasificar.png"/>
            <p:cNvSpPr/>
            <p:nvPr/>
          </p:nvSpPr>
          <p:spPr>
            <a:xfrm flipH="false" flipV="false" rot="0">
              <a:off x="0" y="0"/>
              <a:ext cx="6039739" cy="4938014"/>
            </a:xfrm>
            <a:custGeom>
              <a:avLst/>
              <a:gdLst/>
              <a:ahLst/>
              <a:cxnLst/>
              <a:rect r="r" b="b" t="t" l="l"/>
              <a:pathLst>
                <a:path h="4938014" w="6039739">
                  <a:moveTo>
                    <a:pt x="0" y="0"/>
                  </a:moveTo>
                  <a:lnTo>
                    <a:pt x="6039739" y="0"/>
                  </a:lnTo>
                  <a:lnTo>
                    <a:pt x="6039739" y="4938014"/>
                  </a:lnTo>
                  <a:lnTo>
                    <a:pt x="0" y="4938014"/>
                  </a:lnTo>
                  <a:lnTo>
                    <a:pt x="0" y="0"/>
                  </a:lnTo>
                  <a:close/>
                </a:path>
              </a:pathLst>
            </a:custGeom>
            <a:blipFill>
              <a:blip r:embed="rId4"/>
              <a:stretch>
                <a:fillRect l="0" t="0" r="0" b="-1"/>
              </a:stretch>
            </a:blipFill>
          </p:spPr>
        </p:sp>
      </p:grpSp>
      <p:sp>
        <p:nvSpPr>
          <p:cNvPr name="TextBox 38" id="38"/>
          <p:cNvSpPr txBox="true"/>
          <p:nvPr/>
        </p:nvSpPr>
        <p:spPr>
          <a:xfrm rot="0">
            <a:off x="7549696" y="7699572"/>
            <a:ext cx="4804353" cy="509006"/>
          </a:xfrm>
          <a:prstGeom prst="rect">
            <a:avLst/>
          </a:prstGeom>
        </p:spPr>
        <p:txBody>
          <a:bodyPr anchor="t" rtlCol="false" tIns="0" lIns="0" bIns="0" rIns="0">
            <a:spAutoFit/>
          </a:bodyPr>
          <a:lstStyle/>
          <a:p>
            <a:pPr algn="ctr">
              <a:lnSpc>
                <a:spcPts val="2576"/>
              </a:lnSpc>
            </a:pPr>
            <a:r>
              <a:rPr lang="en-US" sz="1951" b="true">
                <a:solidFill>
                  <a:srgbClr val="1F1F1D"/>
                </a:solidFill>
                <a:latin typeface="Inter Bold"/>
                <a:ea typeface="Inter Bold"/>
                <a:cs typeface="Inter Bold"/>
                <a:sym typeface="Inter Bold"/>
              </a:rPr>
              <a:t>Clasificar video</a:t>
            </a:r>
          </a:p>
        </p:txBody>
      </p:sp>
      <p:grpSp>
        <p:nvGrpSpPr>
          <p:cNvPr name="Group 39" id="39"/>
          <p:cNvGrpSpPr/>
          <p:nvPr/>
        </p:nvGrpSpPr>
        <p:grpSpPr>
          <a:xfrm rot="0">
            <a:off x="12559951" y="2745343"/>
            <a:ext cx="4804353" cy="5559323"/>
            <a:chOff x="0" y="0"/>
            <a:chExt cx="6405804" cy="7412431"/>
          </a:xfrm>
        </p:grpSpPr>
        <p:sp>
          <p:nvSpPr>
            <p:cNvPr name="Freeform 40" id="40"/>
            <p:cNvSpPr/>
            <p:nvPr/>
          </p:nvSpPr>
          <p:spPr>
            <a:xfrm flipH="false" flipV="false" rot="0">
              <a:off x="0" y="0"/>
              <a:ext cx="6405880" cy="7412482"/>
            </a:xfrm>
            <a:custGeom>
              <a:avLst/>
              <a:gdLst/>
              <a:ahLst/>
              <a:cxnLst/>
              <a:rect r="r" b="b" t="t" l="l"/>
              <a:pathLst>
                <a:path h="7412482" w="6405880">
                  <a:moveTo>
                    <a:pt x="0" y="256286"/>
                  </a:moveTo>
                  <a:cubicBezTo>
                    <a:pt x="0" y="114681"/>
                    <a:pt x="114681" y="0"/>
                    <a:pt x="256286" y="0"/>
                  </a:cubicBezTo>
                  <a:lnTo>
                    <a:pt x="6149594" y="0"/>
                  </a:lnTo>
                  <a:cubicBezTo>
                    <a:pt x="6291072" y="0"/>
                    <a:pt x="6405880" y="114681"/>
                    <a:pt x="6405880" y="256286"/>
                  </a:cubicBezTo>
                  <a:lnTo>
                    <a:pt x="6405880" y="7156196"/>
                  </a:lnTo>
                  <a:cubicBezTo>
                    <a:pt x="6405880" y="7297674"/>
                    <a:pt x="6291199" y="7412482"/>
                    <a:pt x="6149594" y="7412482"/>
                  </a:cubicBezTo>
                  <a:lnTo>
                    <a:pt x="256286" y="7412482"/>
                  </a:lnTo>
                  <a:cubicBezTo>
                    <a:pt x="114681" y="7412482"/>
                    <a:pt x="0" y="7297674"/>
                    <a:pt x="0" y="7156196"/>
                  </a:cubicBezTo>
                  <a:close/>
                </a:path>
              </a:pathLst>
            </a:custGeom>
            <a:solidFill>
              <a:srgbClr val="F0EFEC"/>
            </a:solidFill>
          </p:spPr>
        </p:sp>
      </p:grpSp>
      <p:grpSp>
        <p:nvGrpSpPr>
          <p:cNvPr name="Group 41" id="41"/>
          <p:cNvGrpSpPr/>
          <p:nvPr/>
        </p:nvGrpSpPr>
        <p:grpSpPr>
          <a:xfrm rot="0">
            <a:off x="12697216" y="2882608"/>
            <a:ext cx="4529823" cy="4028599"/>
            <a:chOff x="0" y="0"/>
            <a:chExt cx="6039764" cy="5371465"/>
          </a:xfrm>
        </p:grpSpPr>
        <p:sp>
          <p:nvSpPr>
            <p:cNvPr name="Freeform 42" id="42" descr="app_rendimiento.png"/>
            <p:cNvSpPr/>
            <p:nvPr/>
          </p:nvSpPr>
          <p:spPr>
            <a:xfrm flipH="false" flipV="false" rot="0">
              <a:off x="0" y="0"/>
              <a:ext cx="6039739" cy="5371465"/>
            </a:xfrm>
            <a:custGeom>
              <a:avLst/>
              <a:gdLst/>
              <a:ahLst/>
              <a:cxnLst/>
              <a:rect r="r" b="b" t="t" l="l"/>
              <a:pathLst>
                <a:path h="5371465" w="6039739">
                  <a:moveTo>
                    <a:pt x="0" y="0"/>
                  </a:moveTo>
                  <a:lnTo>
                    <a:pt x="6039739" y="0"/>
                  </a:lnTo>
                  <a:lnTo>
                    <a:pt x="6039739" y="5371465"/>
                  </a:lnTo>
                  <a:lnTo>
                    <a:pt x="0" y="5371465"/>
                  </a:lnTo>
                  <a:lnTo>
                    <a:pt x="0" y="0"/>
                  </a:lnTo>
                  <a:close/>
                </a:path>
              </a:pathLst>
            </a:custGeom>
            <a:blipFill>
              <a:blip r:embed="rId5"/>
              <a:stretch>
                <a:fillRect l="0" t="0" r="0" b="0"/>
              </a:stretch>
            </a:blipFill>
          </p:spPr>
        </p:sp>
      </p:grpSp>
      <p:sp>
        <p:nvSpPr>
          <p:cNvPr name="TextBox 43" id="43"/>
          <p:cNvSpPr txBox="true"/>
          <p:nvPr/>
        </p:nvSpPr>
        <p:spPr>
          <a:xfrm rot="0">
            <a:off x="12559951" y="7699572"/>
            <a:ext cx="4804353" cy="509006"/>
          </a:xfrm>
          <a:prstGeom prst="rect">
            <a:avLst/>
          </a:prstGeom>
        </p:spPr>
        <p:txBody>
          <a:bodyPr anchor="t" rtlCol="false" tIns="0" lIns="0" bIns="0" rIns="0">
            <a:spAutoFit/>
          </a:bodyPr>
          <a:lstStyle/>
          <a:p>
            <a:pPr algn="ctr">
              <a:lnSpc>
                <a:spcPts val="2576"/>
              </a:lnSpc>
            </a:pPr>
            <a:r>
              <a:rPr lang="en-US" sz="1951" b="true">
                <a:solidFill>
                  <a:srgbClr val="1F1F1D"/>
                </a:solidFill>
                <a:latin typeface="Inter Bold"/>
                <a:ea typeface="Inter Bold"/>
                <a:cs typeface="Inter Bold"/>
                <a:sym typeface="Inter Bold"/>
              </a:rPr>
              <a:t>Rendimiento</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CFCFB"/>
        </a:solidFill>
      </p:bgPr>
    </p:bg>
    <p:spTree>
      <p:nvGrpSpPr>
        <p:cNvPr id="1" name=""/>
        <p:cNvGrpSpPr/>
        <p:nvPr/>
      </p:nvGrpSpPr>
      <p:grpSpPr>
        <a:xfrm>
          <a:off x="0" y="0"/>
          <a:ext cx="0" cy="0"/>
          <a:chOff x="0" y="0"/>
          <a:chExt cx="0" cy="0"/>
        </a:xfrm>
      </p:grpSpPr>
      <p:grpSp>
        <p:nvGrpSpPr>
          <p:cNvPr name="Group 2" id="2"/>
          <p:cNvGrpSpPr/>
          <p:nvPr/>
        </p:nvGrpSpPr>
        <p:grpSpPr>
          <a:xfrm rot="0">
            <a:off x="823608" y="617706"/>
            <a:ext cx="109814" cy="439255"/>
            <a:chOff x="0" y="0"/>
            <a:chExt cx="146418" cy="585673"/>
          </a:xfrm>
        </p:grpSpPr>
        <p:sp>
          <p:nvSpPr>
            <p:cNvPr name="Freeform 3" id="3"/>
            <p:cNvSpPr/>
            <p:nvPr/>
          </p:nvSpPr>
          <p:spPr>
            <a:xfrm flipH="false" flipV="false" rot="0">
              <a:off x="0" y="0"/>
              <a:ext cx="146431" cy="585724"/>
            </a:xfrm>
            <a:custGeom>
              <a:avLst/>
              <a:gdLst/>
              <a:ahLst/>
              <a:cxnLst/>
              <a:rect r="r" b="b" t="t" l="l"/>
              <a:pathLst>
                <a:path h="585724" w="146431">
                  <a:moveTo>
                    <a:pt x="0" y="0"/>
                  </a:moveTo>
                  <a:lnTo>
                    <a:pt x="146431" y="0"/>
                  </a:lnTo>
                  <a:lnTo>
                    <a:pt x="146431" y="585724"/>
                  </a:lnTo>
                  <a:lnTo>
                    <a:pt x="0" y="585724"/>
                  </a:lnTo>
                  <a:close/>
                </a:path>
              </a:pathLst>
            </a:custGeom>
            <a:solidFill>
              <a:srgbClr val="2A78D6"/>
            </a:solidFill>
          </p:spPr>
        </p:sp>
      </p:grpSp>
      <p:sp>
        <p:nvSpPr>
          <p:cNvPr name="TextBox 4" id="4"/>
          <p:cNvSpPr txBox="true"/>
          <p:nvPr/>
        </p:nvSpPr>
        <p:spPr>
          <a:xfrm rot="0">
            <a:off x="1028700" y="684372"/>
            <a:ext cx="12354049" cy="286872"/>
          </a:xfrm>
          <a:prstGeom prst="rect">
            <a:avLst/>
          </a:prstGeom>
        </p:spPr>
        <p:txBody>
          <a:bodyPr anchor="t" rtlCol="false" tIns="0" lIns="0" bIns="0" rIns="0">
            <a:spAutoFit/>
          </a:bodyPr>
          <a:lstStyle/>
          <a:p>
            <a:pPr algn="l">
              <a:lnSpc>
                <a:spcPts val="2377"/>
              </a:lnSpc>
            </a:pPr>
            <a:r>
              <a:rPr lang="en-US" sz="1801" b="true">
                <a:solidFill>
                  <a:srgbClr val="2A78D6"/>
                </a:solidFill>
                <a:latin typeface="Inter Bold"/>
                <a:ea typeface="Inter Bold"/>
                <a:cs typeface="Inter Bold"/>
                <a:sym typeface="Inter Bold"/>
              </a:rPr>
              <a:t>4 · RETOS Y APRENDIZAJES</a:t>
            </a:r>
          </a:p>
        </p:txBody>
      </p:sp>
      <p:sp>
        <p:nvSpPr>
          <p:cNvPr name="TextBox 5" id="5"/>
          <p:cNvSpPr txBox="true"/>
          <p:nvPr/>
        </p:nvSpPr>
        <p:spPr>
          <a:xfrm rot="0">
            <a:off x="823608" y="1178252"/>
            <a:ext cx="16609333" cy="1429826"/>
          </a:xfrm>
          <a:prstGeom prst="rect">
            <a:avLst/>
          </a:prstGeom>
        </p:spPr>
        <p:txBody>
          <a:bodyPr anchor="t" rtlCol="false" tIns="0" lIns="0" bIns="0" rIns="0">
            <a:spAutoFit/>
          </a:bodyPr>
          <a:lstStyle/>
          <a:p>
            <a:pPr algn="l">
              <a:lnSpc>
                <a:spcPts val="5944"/>
              </a:lnSpc>
            </a:pPr>
            <a:r>
              <a:rPr lang="en-US" sz="4503" b="true">
                <a:solidFill>
                  <a:srgbClr val="1F1F1D"/>
                </a:solidFill>
                <a:latin typeface="Inter Bold"/>
                <a:ea typeface="Inter Bold"/>
                <a:cs typeface="Inter Bold"/>
                <a:sym typeface="Inter Bold"/>
              </a:rPr>
              <a:t>Lo que más nos costó y cómo lo resolvimos</a:t>
            </a:r>
          </a:p>
        </p:txBody>
      </p:sp>
      <p:sp>
        <p:nvSpPr>
          <p:cNvPr name="TextBox 6" id="6"/>
          <p:cNvSpPr txBox="true"/>
          <p:nvPr/>
        </p:nvSpPr>
        <p:spPr>
          <a:xfrm rot="0">
            <a:off x="16746607" y="9580131"/>
            <a:ext cx="823608" cy="440379"/>
          </a:xfrm>
          <a:prstGeom prst="rect">
            <a:avLst/>
          </a:prstGeom>
        </p:spPr>
        <p:txBody>
          <a:bodyPr anchor="t" rtlCol="false" tIns="0" lIns="0" bIns="0" rIns="0">
            <a:spAutoFit/>
          </a:bodyPr>
          <a:lstStyle/>
          <a:p>
            <a:pPr algn="r">
              <a:lnSpc>
                <a:spcPts val="2179"/>
              </a:lnSpc>
            </a:pPr>
            <a:r>
              <a:rPr lang="en-US" sz="1651">
                <a:solidFill>
                  <a:srgbClr val="6B6A66"/>
                </a:solidFill>
                <a:latin typeface="Inter"/>
                <a:ea typeface="Inter"/>
                <a:cs typeface="Inter"/>
                <a:sym typeface="Inter"/>
              </a:rPr>
              <a:t>9</a:t>
            </a:r>
          </a:p>
        </p:txBody>
      </p:sp>
      <p:grpSp>
        <p:nvGrpSpPr>
          <p:cNvPr name="Group 7" id="7"/>
          <p:cNvGrpSpPr/>
          <p:nvPr/>
        </p:nvGrpSpPr>
        <p:grpSpPr>
          <a:xfrm rot="0">
            <a:off x="823608" y="2676716"/>
            <a:ext cx="5353421" cy="6520196"/>
            <a:chOff x="0" y="0"/>
            <a:chExt cx="7137895" cy="8693594"/>
          </a:xfrm>
        </p:grpSpPr>
        <p:sp>
          <p:nvSpPr>
            <p:cNvPr name="Freeform 8" id="8"/>
            <p:cNvSpPr/>
            <p:nvPr/>
          </p:nvSpPr>
          <p:spPr>
            <a:xfrm flipH="false" flipV="false" rot="0">
              <a:off x="0" y="0"/>
              <a:ext cx="7137908" cy="8693531"/>
            </a:xfrm>
            <a:custGeom>
              <a:avLst/>
              <a:gdLst/>
              <a:ahLst/>
              <a:cxnLst/>
              <a:rect r="r" b="b" t="t" l="l"/>
              <a:pathLst>
                <a:path h="8693531" w="7137908">
                  <a:moveTo>
                    <a:pt x="0" y="356870"/>
                  </a:moveTo>
                  <a:cubicBezTo>
                    <a:pt x="0" y="159766"/>
                    <a:pt x="159766" y="0"/>
                    <a:pt x="356870" y="0"/>
                  </a:cubicBezTo>
                  <a:lnTo>
                    <a:pt x="6781038" y="0"/>
                  </a:lnTo>
                  <a:cubicBezTo>
                    <a:pt x="6978142" y="0"/>
                    <a:pt x="7137908" y="159766"/>
                    <a:pt x="7137908" y="356870"/>
                  </a:cubicBezTo>
                  <a:lnTo>
                    <a:pt x="7137908" y="8336661"/>
                  </a:lnTo>
                  <a:cubicBezTo>
                    <a:pt x="7137908" y="8533765"/>
                    <a:pt x="6978142" y="8693531"/>
                    <a:pt x="6781038" y="8693531"/>
                  </a:cubicBezTo>
                  <a:lnTo>
                    <a:pt x="356870" y="8693531"/>
                  </a:lnTo>
                  <a:cubicBezTo>
                    <a:pt x="159766" y="8693531"/>
                    <a:pt x="0" y="8533765"/>
                    <a:pt x="0" y="8336661"/>
                  </a:cubicBezTo>
                  <a:close/>
                </a:path>
              </a:pathLst>
            </a:custGeom>
            <a:solidFill>
              <a:srgbClr val="F0EFEC"/>
            </a:solidFill>
          </p:spPr>
        </p:sp>
      </p:grpSp>
      <p:grpSp>
        <p:nvGrpSpPr>
          <p:cNvPr name="Group 9" id="9"/>
          <p:cNvGrpSpPr/>
          <p:nvPr/>
        </p:nvGrpSpPr>
        <p:grpSpPr>
          <a:xfrm rot="0">
            <a:off x="823608" y="3019882"/>
            <a:ext cx="96088" cy="686333"/>
            <a:chOff x="0" y="0"/>
            <a:chExt cx="128118" cy="915111"/>
          </a:xfrm>
        </p:grpSpPr>
        <p:sp>
          <p:nvSpPr>
            <p:cNvPr name="Freeform 10" id="10"/>
            <p:cNvSpPr/>
            <p:nvPr/>
          </p:nvSpPr>
          <p:spPr>
            <a:xfrm flipH="false" flipV="false" rot="0">
              <a:off x="0" y="0"/>
              <a:ext cx="128143" cy="915162"/>
            </a:xfrm>
            <a:custGeom>
              <a:avLst/>
              <a:gdLst/>
              <a:ahLst/>
              <a:cxnLst/>
              <a:rect r="r" b="b" t="t" l="l"/>
              <a:pathLst>
                <a:path h="915162" w="128143">
                  <a:moveTo>
                    <a:pt x="0" y="0"/>
                  </a:moveTo>
                  <a:lnTo>
                    <a:pt x="128143" y="0"/>
                  </a:lnTo>
                  <a:lnTo>
                    <a:pt x="128143" y="915162"/>
                  </a:lnTo>
                  <a:lnTo>
                    <a:pt x="0" y="915162"/>
                  </a:lnTo>
                  <a:close/>
                </a:path>
              </a:pathLst>
            </a:custGeom>
            <a:solidFill>
              <a:srgbClr val="2A78D6"/>
            </a:solidFill>
          </p:spPr>
        </p:sp>
      </p:grpSp>
      <p:sp>
        <p:nvSpPr>
          <p:cNvPr name="TextBox 11" id="11"/>
          <p:cNvSpPr txBox="true"/>
          <p:nvPr/>
        </p:nvSpPr>
        <p:spPr>
          <a:xfrm rot="0">
            <a:off x="1235402" y="2922670"/>
            <a:ext cx="4667088" cy="989447"/>
          </a:xfrm>
          <a:prstGeom prst="rect">
            <a:avLst/>
          </a:prstGeom>
        </p:spPr>
        <p:txBody>
          <a:bodyPr anchor="t" rtlCol="false" tIns="0" lIns="0" bIns="0" rIns="0">
            <a:spAutoFit/>
          </a:bodyPr>
          <a:lstStyle/>
          <a:p>
            <a:pPr algn="l">
              <a:lnSpc>
                <a:spcPts val="3566"/>
              </a:lnSpc>
            </a:pPr>
            <a:r>
              <a:rPr lang="en-US" sz="2702" b="true">
                <a:solidFill>
                  <a:srgbClr val="1F1F1D"/>
                </a:solidFill>
                <a:latin typeface="Inter Bold"/>
                <a:ea typeface="Inter Bold"/>
                <a:cs typeface="Inter Bold"/>
                <a:sym typeface="Inter Bold"/>
              </a:rPr>
              <a:t>Los clips escondían el contexto</a:t>
            </a:r>
          </a:p>
        </p:txBody>
      </p:sp>
      <p:sp>
        <p:nvSpPr>
          <p:cNvPr name="TextBox 12" id="12"/>
          <p:cNvSpPr txBox="true"/>
          <p:nvPr/>
        </p:nvSpPr>
        <p:spPr>
          <a:xfrm rot="0">
            <a:off x="1235402" y="4020807"/>
            <a:ext cx="4667088" cy="440379"/>
          </a:xfrm>
          <a:prstGeom prst="rect">
            <a:avLst/>
          </a:prstGeom>
        </p:spPr>
        <p:txBody>
          <a:bodyPr anchor="t" rtlCol="false" tIns="0" lIns="0" bIns="0" rIns="0">
            <a:spAutoFit/>
          </a:bodyPr>
          <a:lstStyle/>
          <a:p>
            <a:pPr algn="l">
              <a:lnSpc>
                <a:spcPts val="2179"/>
              </a:lnSpc>
            </a:pPr>
            <a:r>
              <a:rPr lang="en-US" sz="1651" b="true">
                <a:solidFill>
                  <a:srgbClr val="2A78D6"/>
                </a:solidFill>
                <a:latin typeface="Inter Bold"/>
                <a:ea typeface="Inter Bold"/>
                <a:cs typeface="Inter Bold"/>
                <a:sym typeface="Inter Bold"/>
              </a:rPr>
              <a:t>RETO</a:t>
            </a:r>
          </a:p>
        </p:txBody>
      </p:sp>
      <p:sp>
        <p:nvSpPr>
          <p:cNvPr name="TextBox 13" id="13"/>
          <p:cNvSpPr txBox="true"/>
          <p:nvPr/>
        </p:nvSpPr>
        <p:spPr>
          <a:xfrm rot="0">
            <a:off x="1235402" y="4395635"/>
            <a:ext cx="4667088" cy="1342139"/>
          </a:xfrm>
          <a:prstGeom prst="rect">
            <a:avLst/>
          </a:prstGeom>
        </p:spPr>
        <p:txBody>
          <a:bodyPr anchor="t" rtlCol="false" tIns="0" lIns="0" bIns="0" rIns="0">
            <a:spAutoFit/>
          </a:bodyPr>
          <a:lstStyle/>
          <a:p>
            <a:pPr algn="l">
              <a:lnSpc>
                <a:spcPts val="2723"/>
              </a:lnSpc>
            </a:pPr>
            <a:r>
              <a:rPr lang="en-US" sz="2026">
                <a:solidFill>
                  <a:srgbClr val="6B6A66"/>
                </a:solidFill>
                <a:latin typeface="Inter"/>
                <a:ea typeface="Inter"/>
                <a:cs typeface="Inter"/>
                <a:sym typeface="Inter"/>
              </a:rPr>
              <a:t>Un pase traía solo 0.15 s visibles: el mp4 ocultaba lo previo al evento.</a:t>
            </a:r>
          </a:p>
        </p:txBody>
      </p:sp>
      <p:sp>
        <p:nvSpPr>
          <p:cNvPr name="TextBox 14" id="14"/>
          <p:cNvSpPr txBox="true"/>
          <p:nvPr/>
        </p:nvSpPr>
        <p:spPr>
          <a:xfrm rot="0">
            <a:off x="1235402" y="5695464"/>
            <a:ext cx="4667088" cy="440379"/>
          </a:xfrm>
          <a:prstGeom prst="rect">
            <a:avLst/>
          </a:prstGeom>
        </p:spPr>
        <p:txBody>
          <a:bodyPr anchor="t" rtlCol="false" tIns="0" lIns="0" bIns="0" rIns="0">
            <a:spAutoFit/>
          </a:bodyPr>
          <a:lstStyle/>
          <a:p>
            <a:pPr algn="l">
              <a:lnSpc>
                <a:spcPts val="2179"/>
              </a:lnSpc>
            </a:pPr>
            <a:r>
              <a:rPr lang="en-US" sz="1651" b="true">
                <a:solidFill>
                  <a:srgbClr val="2A78D6"/>
                </a:solidFill>
                <a:latin typeface="Inter Bold"/>
                <a:ea typeface="Inter Bold"/>
                <a:cs typeface="Inter Bold"/>
                <a:sym typeface="Inter Bold"/>
              </a:rPr>
              <a:t>SOLUCIÓN</a:t>
            </a:r>
          </a:p>
        </p:txBody>
      </p:sp>
      <p:sp>
        <p:nvSpPr>
          <p:cNvPr name="TextBox 15" id="15"/>
          <p:cNvSpPr txBox="true"/>
          <p:nvPr/>
        </p:nvSpPr>
        <p:spPr>
          <a:xfrm rot="0">
            <a:off x="1235402" y="6070292"/>
            <a:ext cx="4667088" cy="1342139"/>
          </a:xfrm>
          <a:prstGeom prst="rect">
            <a:avLst/>
          </a:prstGeom>
        </p:spPr>
        <p:txBody>
          <a:bodyPr anchor="t" rtlCol="false" tIns="0" lIns="0" bIns="0" rIns="0">
            <a:spAutoFit/>
          </a:bodyPr>
          <a:lstStyle/>
          <a:p>
            <a:pPr algn="l">
              <a:lnSpc>
                <a:spcPts val="2723"/>
              </a:lnSpc>
            </a:pPr>
            <a:r>
              <a:rPr lang="en-US" sz="2026">
                <a:solidFill>
                  <a:srgbClr val="6B6A66"/>
                </a:solidFill>
                <a:latin typeface="Inter"/>
                <a:ea typeface="Inter"/>
                <a:cs typeface="Inter"/>
                <a:sym typeface="Inter"/>
              </a:rPr>
              <a:t>Leímos el video ignorando esa lista de edición y verificamos el cuadro del evento a ojo.</a:t>
            </a:r>
          </a:p>
        </p:txBody>
      </p:sp>
      <p:sp>
        <p:nvSpPr>
          <p:cNvPr name="TextBox 16" id="16"/>
          <p:cNvSpPr txBox="true"/>
          <p:nvPr/>
        </p:nvSpPr>
        <p:spPr>
          <a:xfrm rot="0">
            <a:off x="1235402" y="7370131"/>
            <a:ext cx="4667088" cy="440379"/>
          </a:xfrm>
          <a:prstGeom prst="rect">
            <a:avLst/>
          </a:prstGeom>
        </p:spPr>
        <p:txBody>
          <a:bodyPr anchor="t" rtlCol="false" tIns="0" lIns="0" bIns="0" rIns="0">
            <a:spAutoFit/>
          </a:bodyPr>
          <a:lstStyle/>
          <a:p>
            <a:pPr algn="l">
              <a:lnSpc>
                <a:spcPts val="2179"/>
              </a:lnSpc>
            </a:pPr>
            <a:r>
              <a:rPr lang="en-US" sz="1651" b="true">
                <a:solidFill>
                  <a:srgbClr val="2A78D6"/>
                </a:solidFill>
                <a:latin typeface="Inter Bold"/>
                <a:ea typeface="Inter Bold"/>
                <a:cs typeface="Inter Bold"/>
                <a:sym typeface="Inter Bold"/>
              </a:rPr>
              <a:t>APRENDIZAJE</a:t>
            </a:r>
          </a:p>
        </p:txBody>
      </p:sp>
      <p:sp>
        <p:nvSpPr>
          <p:cNvPr name="TextBox 17" id="17"/>
          <p:cNvSpPr txBox="true"/>
          <p:nvPr/>
        </p:nvSpPr>
        <p:spPr>
          <a:xfrm rot="0">
            <a:off x="1235402" y="7744949"/>
            <a:ext cx="4667088" cy="1342139"/>
          </a:xfrm>
          <a:prstGeom prst="rect">
            <a:avLst/>
          </a:prstGeom>
        </p:spPr>
        <p:txBody>
          <a:bodyPr anchor="t" rtlCol="false" tIns="0" lIns="0" bIns="0" rIns="0">
            <a:spAutoFit/>
          </a:bodyPr>
          <a:lstStyle/>
          <a:p>
            <a:pPr algn="l">
              <a:lnSpc>
                <a:spcPts val="2723"/>
              </a:lnSpc>
            </a:pPr>
            <a:r>
              <a:rPr lang="en-US" sz="2026" b="true">
                <a:solidFill>
                  <a:srgbClr val="174A8B"/>
                </a:solidFill>
                <a:latin typeface="Inter Bold"/>
                <a:ea typeface="Inter Bold"/>
                <a:cs typeface="Inter Bold"/>
                <a:sym typeface="Inter Bold"/>
              </a:rPr>
              <a:t>Revisar los datos crudos antes de modelar.</a:t>
            </a:r>
          </a:p>
        </p:txBody>
      </p:sp>
      <p:grpSp>
        <p:nvGrpSpPr>
          <p:cNvPr name="Group 18" id="18"/>
          <p:cNvGrpSpPr/>
          <p:nvPr/>
        </p:nvGrpSpPr>
        <p:grpSpPr>
          <a:xfrm rot="0">
            <a:off x="6451559" y="2676716"/>
            <a:ext cx="5353421" cy="6520196"/>
            <a:chOff x="0" y="0"/>
            <a:chExt cx="7137895" cy="8693594"/>
          </a:xfrm>
        </p:grpSpPr>
        <p:sp>
          <p:nvSpPr>
            <p:cNvPr name="Freeform 19" id="19"/>
            <p:cNvSpPr/>
            <p:nvPr/>
          </p:nvSpPr>
          <p:spPr>
            <a:xfrm flipH="false" flipV="false" rot="0">
              <a:off x="0" y="0"/>
              <a:ext cx="7137908" cy="8693531"/>
            </a:xfrm>
            <a:custGeom>
              <a:avLst/>
              <a:gdLst/>
              <a:ahLst/>
              <a:cxnLst/>
              <a:rect r="r" b="b" t="t" l="l"/>
              <a:pathLst>
                <a:path h="8693531" w="7137908">
                  <a:moveTo>
                    <a:pt x="0" y="356870"/>
                  </a:moveTo>
                  <a:cubicBezTo>
                    <a:pt x="0" y="159766"/>
                    <a:pt x="159766" y="0"/>
                    <a:pt x="356870" y="0"/>
                  </a:cubicBezTo>
                  <a:lnTo>
                    <a:pt x="6781038" y="0"/>
                  </a:lnTo>
                  <a:cubicBezTo>
                    <a:pt x="6978142" y="0"/>
                    <a:pt x="7137908" y="159766"/>
                    <a:pt x="7137908" y="356870"/>
                  </a:cubicBezTo>
                  <a:lnTo>
                    <a:pt x="7137908" y="8336661"/>
                  </a:lnTo>
                  <a:cubicBezTo>
                    <a:pt x="7137908" y="8533765"/>
                    <a:pt x="6978142" y="8693531"/>
                    <a:pt x="6781038" y="8693531"/>
                  </a:cubicBezTo>
                  <a:lnTo>
                    <a:pt x="356870" y="8693531"/>
                  </a:lnTo>
                  <a:cubicBezTo>
                    <a:pt x="159766" y="8693531"/>
                    <a:pt x="0" y="8533765"/>
                    <a:pt x="0" y="8336661"/>
                  </a:cubicBezTo>
                  <a:close/>
                </a:path>
              </a:pathLst>
            </a:custGeom>
            <a:solidFill>
              <a:srgbClr val="F0EFEC"/>
            </a:solidFill>
          </p:spPr>
        </p:sp>
      </p:grpSp>
      <p:grpSp>
        <p:nvGrpSpPr>
          <p:cNvPr name="Group 20" id="20"/>
          <p:cNvGrpSpPr/>
          <p:nvPr/>
        </p:nvGrpSpPr>
        <p:grpSpPr>
          <a:xfrm rot="0">
            <a:off x="6451559" y="3019882"/>
            <a:ext cx="96088" cy="686333"/>
            <a:chOff x="0" y="0"/>
            <a:chExt cx="128118" cy="915111"/>
          </a:xfrm>
        </p:grpSpPr>
        <p:sp>
          <p:nvSpPr>
            <p:cNvPr name="Freeform 21" id="21"/>
            <p:cNvSpPr/>
            <p:nvPr/>
          </p:nvSpPr>
          <p:spPr>
            <a:xfrm flipH="false" flipV="false" rot="0">
              <a:off x="0" y="0"/>
              <a:ext cx="128143" cy="915162"/>
            </a:xfrm>
            <a:custGeom>
              <a:avLst/>
              <a:gdLst/>
              <a:ahLst/>
              <a:cxnLst/>
              <a:rect r="r" b="b" t="t" l="l"/>
              <a:pathLst>
                <a:path h="915162" w="128143">
                  <a:moveTo>
                    <a:pt x="0" y="0"/>
                  </a:moveTo>
                  <a:lnTo>
                    <a:pt x="128143" y="0"/>
                  </a:lnTo>
                  <a:lnTo>
                    <a:pt x="128143" y="915162"/>
                  </a:lnTo>
                  <a:lnTo>
                    <a:pt x="0" y="915162"/>
                  </a:lnTo>
                  <a:close/>
                </a:path>
              </a:pathLst>
            </a:custGeom>
            <a:solidFill>
              <a:srgbClr val="EB6834"/>
            </a:solidFill>
          </p:spPr>
        </p:sp>
      </p:grpSp>
      <p:sp>
        <p:nvSpPr>
          <p:cNvPr name="TextBox 22" id="22"/>
          <p:cNvSpPr txBox="true"/>
          <p:nvPr/>
        </p:nvSpPr>
        <p:spPr>
          <a:xfrm rot="0">
            <a:off x="6863363" y="2922670"/>
            <a:ext cx="4667088" cy="989447"/>
          </a:xfrm>
          <a:prstGeom prst="rect">
            <a:avLst/>
          </a:prstGeom>
        </p:spPr>
        <p:txBody>
          <a:bodyPr anchor="t" rtlCol="false" tIns="0" lIns="0" bIns="0" rIns="0">
            <a:spAutoFit/>
          </a:bodyPr>
          <a:lstStyle/>
          <a:p>
            <a:pPr algn="l">
              <a:lnSpc>
                <a:spcPts val="3566"/>
              </a:lnSpc>
            </a:pPr>
            <a:r>
              <a:rPr lang="en-US" sz="2702" b="true">
                <a:solidFill>
                  <a:srgbClr val="1F1F1D"/>
                </a:solidFill>
                <a:latin typeface="Inter Bold"/>
                <a:ea typeface="Inter Bold"/>
                <a:cs typeface="Inter Bold"/>
                <a:sym typeface="Inter Bold"/>
              </a:rPr>
              <a:t>Una variable demasiado buena</a:t>
            </a:r>
          </a:p>
        </p:txBody>
      </p:sp>
      <p:sp>
        <p:nvSpPr>
          <p:cNvPr name="TextBox 23" id="23"/>
          <p:cNvSpPr txBox="true"/>
          <p:nvPr/>
        </p:nvSpPr>
        <p:spPr>
          <a:xfrm rot="0">
            <a:off x="6863363" y="4020807"/>
            <a:ext cx="4667088" cy="440379"/>
          </a:xfrm>
          <a:prstGeom prst="rect">
            <a:avLst/>
          </a:prstGeom>
        </p:spPr>
        <p:txBody>
          <a:bodyPr anchor="t" rtlCol="false" tIns="0" lIns="0" bIns="0" rIns="0">
            <a:spAutoFit/>
          </a:bodyPr>
          <a:lstStyle/>
          <a:p>
            <a:pPr algn="l">
              <a:lnSpc>
                <a:spcPts val="2179"/>
              </a:lnSpc>
            </a:pPr>
            <a:r>
              <a:rPr lang="en-US" sz="1651" b="true">
                <a:solidFill>
                  <a:srgbClr val="2A78D6"/>
                </a:solidFill>
                <a:latin typeface="Inter Bold"/>
                <a:ea typeface="Inter Bold"/>
                <a:cs typeface="Inter Bold"/>
                <a:sym typeface="Inter Bold"/>
              </a:rPr>
              <a:t>RETO</a:t>
            </a:r>
          </a:p>
        </p:txBody>
      </p:sp>
      <p:sp>
        <p:nvSpPr>
          <p:cNvPr name="TextBox 24" id="24"/>
          <p:cNvSpPr txBox="true"/>
          <p:nvPr/>
        </p:nvSpPr>
        <p:spPr>
          <a:xfrm rot="0">
            <a:off x="6863363" y="4395635"/>
            <a:ext cx="4667088" cy="1342139"/>
          </a:xfrm>
          <a:prstGeom prst="rect">
            <a:avLst/>
          </a:prstGeom>
        </p:spPr>
        <p:txBody>
          <a:bodyPr anchor="t" rtlCol="false" tIns="0" lIns="0" bIns="0" rIns="0">
            <a:spAutoFit/>
          </a:bodyPr>
          <a:lstStyle/>
          <a:p>
            <a:pPr algn="l">
              <a:lnSpc>
                <a:spcPts val="2723"/>
              </a:lnSpc>
            </a:pPr>
            <a:r>
              <a:rPr lang="en-US" sz="2026">
                <a:solidFill>
                  <a:srgbClr val="6B6A66"/>
                </a:solidFill>
                <a:latin typeface="Inter"/>
                <a:ea typeface="Inter"/>
                <a:cs typeface="Inter"/>
                <a:sym typeface="Inter"/>
              </a:rPr>
              <a:t>La duración del clip era la variable #1: los clips de fondo duran el doble.</a:t>
            </a:r>
          </a:p>
        </p:txBody>
      </p:sp>
      <p:sp>
        <p:nvSpPr>
          <p:cNvPr name="TextBox 25" id="25"/>
          <p:cNvSpPr txBox="true"/>
          <p:nvPr/>
        </p:nvSpPr>
        <p:spPr>
          <a:xfrm rot="0">
            <a:off x="6863363" y="5695464"/>
            <a:ext cx="4667088" cy="440379"/>
          </a:xfrm>
          <a:prstGeom prst="rect">
            <a:avLst/>
          </a:prstGeom>
        </p:spPr>
        <p:txBody>
          <a:bodyPr anchor="t" rtlCol="false" tIns="0" lIns="0" bIns="0" rIns="0">
            <a:spAutoFit/>
          </a:bodyPr>
          <a:lstStyle/>
          <a:p>
            <a:pPr algn="l">
              <a:lnSpc>
                <a:spcPts val="2179"/>
              </a:lnSpc>
            </a:pPr>
            <a:r>
              <a:rPr lang="en-US" sz="1651" b="true">
                <a:solidFill>
                  <a:srgbClr val="2A78D6"/>
                </a:solidFill>
                <a:latin typeface="Inter Bold"/>
                <a:ea typeface="Inter Bold"/>
                <a:cs typeface="Inter Bold"/>
                <a:sym typeface="Inter Bold"/>
              </a:rPr>
              <a:t>SOLUCIÓN</a:t>
            </a:r>
          </a:p>
        </p:txBody>
      </p:sp>
      <p:sp>
        <p:nvSpPr>
          <p:cNvPr name="TextBox 26" id="26"/>
          <p:cNvSpPr txBox="true"/>
          <p:nvPr/>
        </p:nvSpPr>
        <p:spPr>
          <a:xfrm rot="0">
            <a:off x="6863363" y="6070292"/>
            <a:ext cx="4667088" cy="1342139"/>
          </a:xfrm>
          <a:prstGeom prst="rect">
            <a:avLst/>
          </a:prstGeom>
        </p:spPr>
        <p:txBody>
          <a:bodyPr anchor="t" rtlCol="false" tIns="0" lIns="0" bIns="0" rIns="0">
            <a:spAutoFit/>
          </a:bodyPr>
          <a:lstStyle/>
          <a:p>
            <a:pPr algn="l">
              <a:lnSpc>
                <a:spcPts val="2723"/>
              </a:lnSpc>
            </a:pPr>
            <a:r>
              <a:rPr lang="en-US" sz="2026">
                <a:solidFill>
                  <a:srgbClr val="6B6A66"/>
                </a:solidFill>
                <a:latin typeface="Inter"/>
                <a:ea typeface="Inter"/>
                <a:cs typeface="Inter"/>
                <a:sym typeface="Inter"/>
              </a:rPr>
              <a:t>La quitamos. XGBoost bajó de 0.381 a 0.347, pero ahora mide la acción.</a:t>
            </a:r>
          </a:p>
        </p:txBody>
      </p:sp>
      <p:sp>
        <p:nvSpPr>
          <p:cNvPr name="TextBox 27" id="27"/>
          <p:cNvSpPr txBox="true"/>
          <p:nvPr/>
        </p:nvSpPr>
        <p:spPr>
          <a:xfrm rot="0">
            <a:off x="6863363" y="7370131"/>
            <a:ext cx="4667088" cy="440379"/>
          </a:xfrm>
          <a:prstGeom prst="rect">
            <a:avLst/>
          </a:prstGeom>
        </p:spPr>
        <p:txBody>
          <a:bodyPr anchor="t" rtlCol="false" tIns="0" lIns="0" bIns="0" rIns="0">
            <a:spAutoFit/>
          </a:bodyPr>
          <a:lstStyle/>
          <a:p>
            <a:pPr algn="l">
              <a:lnSpc>
                <a:spcPts val="2179"/>
              </a:lnSpc>
            </a:pPr>
            <a:r>
              <a:rPr lang="en-US" sz="1651" b="true">
                <a:solidFill>
                  <a:srgbClr val="2A78D6"/>
                </a:solidFill>
                <a:latin typeface="Inter Bold"/>
                <a:ea typeface="Inter Bold"/>
                <a:cs typeface="Inter Bold"/>
                <a:sym typeface="Inter Bold"/>
              </a:rPr>
              <a:t>APRENDIZAJE</a:t>
            </a:r>
          </a:p>
        </p:txBody>
      </p:sp>
      <p:sp>
        <p:nvSpPr>
          <p:cNvPr name="TextBox 28" id="28"/>
          <p:cNvSpPr txBox="true"/>
          <p:nvPr/>
        </p:nvSpPr>
        <p:spPr>
          <a:xfrm rot="0">
            <a:off x="6863363" y="7744949"/>
            <a:ext cx="4667088" cy="1342139"/>
          </a:xfrm>
          <a:prstGeom prst="rect">
            <a:avLst/>
          </a:prstGeom>
        </p:spPr>
        <p:txBody>
          <a:bodyPr anchor="t" rtlCol="false" tIns="0" lIns="0" bIns="0" rIns="0">
            <a:spAutoFit/>
          </a:bodyPr>
          <a:lstStyle/>
          <a:p>
            <a:pPr algn="l">
              <a:lnSpc>
                <a:spcPts val="2723"/>
              </a:lnSpc>
            </a:pPr>
            <a:r>
              <a:rPr lang="en-US" sz="2026" b="true">
                <a:solidFill>
                  <a:srgbClr val="174A8B"/>
                </a:solidFill>
                <a:latin typeface="Inter Bold"/>
                <a:ea typeface="Inter Bold"/>
                <a:cs typeface="Inter Bold"/>
                <a:sym typeface="Inter Bold"/>
              </a:rPr>
              <a:t>Desconfiar de lo que funciona demasiado bien.</a:t>
            </a:r>
          </a:p>
        </p:txBody>
      </p:sp>
      <p:grpSp>
        <p:nvGrpSpPr>
          <p:cNvPr name="Group 29" id="29"/>
          <p:cNvGrpSpPr/>
          <p:nvPr/>
        </p:nvGrpSpPr>
        <p:grpSpPr>
          <a:xfrm rot="0">
            <a:off x="12079519" y="2676716"/>
            <a:ext cx="5353421" cy="6520196"/>
            <a:chOff x="0" y="0"/>
            <a:chExt cx="7137895" cy="8693594"/>
          </a:xfrm>
        </p:grpSpPr>
        <p:sp>
          <p:nvSpPr>
            <p:cNvPr name="Freeform 30" id="30"/>
            <p:cNvSpPr/>
            <p:nvPr/>
          </p:nvSpPr>
          <p:spPr>
            <a:xfrm flipH="false" flipV="false" rot="0">
              <a:off x="0" y="0"/>
              <a:ext cx="7137908" cy="8693531"/>
            </a:xfrm>
            <a:custGeom>
              <a:avLst/>
              <a:gdLst/>
              <a:ahLst/>
              <a:cxnLst/>
              <a:rect r="r" b="b" t="t" l="l"/>
              <a:pathLst>
                <a:path h="8693531" w="7137908">
                  <a:moveTo>
                    <a:pt x="0" y="356870"/>
                  </a:moveTo>
                  <a:cubicBezTo>
                    <a:pt x="0" y="159766"/>
                    <a:pt x="159766" y="0"/>
                    <a:pt x="356870" y="0"/>
                  </a:cubicBezTo>
                  <a:lnTo>
                    <a:pt x="6781038" y="0"/>
                  </a:lnTo>
                  <a:cubicBezTo>
                    <a:pt x="6978142" y="0"/>
                    <a:pt x="7137908" y="159766"/>
                    <a:pt x="7137908" y="356870"/>
                  </a:cubicBezTo>
                  <a:lnTo>
                    <a:pt x="7137908" y="8336661"/>
                  </a:lnTo>
                  <a:cubicBezTo>
                    <a:pt x="7137908" y="8533765"/>
                    <a:pt x="6978142" y="8693531"/>
                    <a:pt x="6781038" y="8693531"/>
                  </a:cubicBezTo>
                  <a:lnTo>
                    <a:pt x="356870" y="8693531"/>
                  </a:lnTo>
                  <a:cubicBezTo>
                    <a:pt x="159766" y="8693531"/>
                    <a:pt x="0" y="8533765"/>
                    <a:pt x="0" y="8336661"/>
                  </a:cubicBezTo>
                  <a:close/>
                </a:path>
              </a:pathLst>
            </a:custGeom>
            <a:solidFill>
              <a:srgbClr val="F0EFEC"/>
            </a:solidFill>
          </p:spPr>
        </p:sp>
      </p:grpSp>
      <p:grpSp>
        <p:nvGrpSpPr>
          <p:cNvPr name="Group 31" id="31"/>
          <p:cNvGrpSpPr/>
          <p:nvPr/>
        </p:nvGrpSpPr>
        <p:grpSpPr>
          <a:xfrm rot="0">
            <a:off x="12079519" y="3019882"/>
            <a:ext cx="96088" cy="686333"/>
            <a:chOff x="0" y="0"/>
            <a:chExt cx="128118" cy="915111"/>
          </a:xfrm>
        </p:grpSpPr>
        <p:sp>
          <p:nvSpPr>
            <p:cNvPr name="Freeform 32" id="32"/>
            <p:cNvSpPr/>
            <p:nvPr/>
          </p:nvSpPr>
          <p:spPr>
            <a:xfrm flipH="false" flipV="false" rot="0">
              <a:off x="0" y="0"/>
              <a:ext cx="128143" cy="915162"/>
            </a:xfrm>
            <a:custGeom>
              <a:avLst/>
              <a:gdLst/>
              <a:ahLst/>
              <a:cxnLst/>
              <a:rect r="r" b="b" t="t" l="l"/>
              <a:pathLst>
                <a:path h="915162" w="128143">
                  <a:moveTo>
                    <a:pt x="0" y="0"/>
                  </a:moveTo>
                  <a:lnTo>
                    <a:pt x="128143" y="0"/>
                  </a:lnTo>
                  <a:lnTo>
                    <a:pt x="128143" y="915162"/>
                  </a:lnTo>
                  <a:lnTo>
                    <a:pt x="0" y="915162"/>
                  </a:lnTo>
                  <a:close/>
                </a:path>
              </a:pathLst>
            </a:custGeom>
            <a:solidFill>
              <a:srgbClr val="1BAF7A"/>
            </a:solidFill>
          </p:spPr>
        </p:sp>
      </p:grpSp>
      <p:sp>
        <p:nvSpPr>
          <p:cNvPr name="TextBox 33" id="33"/>
          <p:cNvSpPr txBox="true"/>
          <p:nvPr/>
        </p:nvSpPr>
        <p:spPr>
          <a:xfrm rot="0">
            <a:off x="12491314" y="2922670"/>
            <a:ext cx="4667088" cy="989447"/>
          </a:xfrm>
          <a:prstGeom prst="rect">
            <a:avLst/>
          </a:prstGeom>
        </p:spPr>
        <p:txBody>
          <a:bodyPr anchor="t" rtlCol="false" tIns="0" lIns="0" bIns="0" rIns="0">
            <a:spAutoFit/>
          </a:bodyPr>
          <a:lstStyle/>
          <a:p>
            <a:pPr algn="l">
              <a:lnSpc>
                <a:spcPts val="3566"/>
              </a:lnSpc>
            </a:pPr>
            <a:r>
              <a:rPr lang="en-US" sz="2702" b="true">
                <a:solidFill>
                  <a:srgbClr val="1F1F1D"/>
                </a:solidFill>
                <a:latin typeface="Inter Bold"/>
                <a:ea typeface="Inter Bold"/>
                <a:cs typeface="Inter Bold"/>
                <a:sym typeface="Inter Bold"/>
              </a:rPr>
              <a:t>Generalizar a un partido nuevo</a:t>
            </a:r>
          </a:p>
        </p:txBody>
      </p:sp>
      <p:sp>
        <p:nvSpPr>
          <p:cNvPr name="TextBox 34" id="34"/>
          <p:cNvSpPr txBox="true"/>
          <p:nvPr/>
        </p:nvSpPr>
        <p:spPr>
          <a:xfrm rot="0">
            <a:off x="12491314" y="4020807"/>
            <a:ext cx="4667088" cy="440379"/>
          </a:xfrm>
          <a:prstGeom prst="rect">
            <a:avLst/>
          </a:prstGeom>
        </p:spPr>
        <p:txBody>
          <a:bodyPr anchor="t" rtlCol="false" tIns="0" lIns="0" bIns="0" rIns="0">
            <a:spAutoFit/>
          </a:bodyPr>
          <a:lstStyle/>
          <a:p>
            <a:pPr algn="l">
              <a:lnSpc>
                <a:spcPts val="2179"/>
              </a:lnSpc>
            </a:pPr>
            <a:r>
              <a:rPr lang="en-US" sz="1651" b="true">
                <a:solidFill>
                  <a:srgbClr val="2A78D6"/>
                </a:solidFill>
                <a:latin typeface="Inter Bold"/>
                <a:ea typeface="Inter Bold"/>
                <a:cs typeface="Inter Bold"/>
                <a:sym typeface="Inter Bold"/>
              </a:rPr>
              <a:t>RETO</a:t>
            </a:r>
          </a:p>
        </p:txBody>
      </p:sp>
      <p:sp>
        <p:nvSpPr>
          <p:cNvPr name="TextBox 35" id="35"/>
          <p:cNvSpPr txBox="true"/>
          <p:nvPr/>
        </p:nvSpPr>
        <p:spPr>
          <a:xfrm rot="0">
            <a:off x="12491314" y="4395635"/>
            <a:ext cx="4667088" cy="1342139"/>
          </a:xfrm>
          <a:prstGeom prst="rect">
            <a:avLst/>
          </a:prstGeom>
        </p:spPr>
        <p:txBody>
          <a:bodyPr anchor="t" rtlCol="false" tIns="0" lIns="0" bIns="0" rIns="0">
            <a:spAutoFit/>
          </a:bodyPr>
          <a:lstStyle/>
          <a:p>
            <a:pPr algn="l">
              <a:lnSpc>
                <a:spcPts val="2723"/>
              </a:lnSpc>
            </a:pPr>
            <a:r>
              <a:rPr lang="en-US" sz="2026">
                <a:solidFill>
                  <a:srgbClr val="6B6A66"/>
                </a:solidFill>
                <a:latin typeface="Inter"/>
                <a:ea typeface="Inter"/>
                <a:cs typeface="Inter"/>
                <a:sym typeface="Inter"/>
              </a:rPr>
              <a:t>La GRU daba 0.316 en validación y cayó a 0.114 en el partido de prueba.</a:t>
            </a:r>
          </a:p>
        </p:txBody>
      </p:sp>
      <p:sp>
        <p:nvSpPr>
          <p:cNvPr name="TextBox 36" id="36"/>
          <p:cNvSpPr txBox="true"/>
          <p:nvPr/>
        </p:nvSpPr>
        <p:spPr>
          <a:xfrm rot="0">
            <a:off x="12491314" y="5695464"/>
            <a:ext cx="4667088" cy="440379"/>
          </a:xfrm>
          <a:prstGeom prst="rect">
            <a:avLst/>
          </a:prstGeom>
        </p:spPr>
        <p:txBody>
          <a:bodyPr anchor="t" rtlCol="false" tIns="0" lIns="0" bIns="0" rIns="0">
            <a:spAutoFit/>
          </a:bodyPr>
          <a:lstStyle/>
          <a:p>
            <a:pPr algn="l">
              <a:lnSpc>
                <a:spcPts val="2179"/>
              </a:lnSpc>
            </a:pPr>
            <a:r>
              <a:rPr lang="en-US" sz="1651" b="true">
                <a:solidFill>
                  <a:srgbClr val="2A78D6"/>
                </a:solidFill>
                <a:latin typeface="Inter Bold"/>
                <a:ea typeface="Inter Bold"/>
                <a:cs typeface="Inter Bold"/>
                <a:sym typeface="Inter Bold"/>
              </a:rPr>
              <a:t>SOLUCIÓN</a:t>
            </a:r>
          </a:p>
        </p:txBody>
      </p:sp>
      <p:sp>
        <p:nvSpPr>
          <p:cNvPr name="TextBox 37" id="37"/>
          <p:cNvSpPr txBox="true"/>
          <p:nvPr/>
        </p:nvSpPr>
        <p:spPr>
          <a:xfrm rot="0">
            <a:off x="12491314" y="6070292"/>
            <a:ext cx="4667088" cy="1342139"/>
          </a:xfrm>
          <a:prstGeom prst="rect">
            <a:avLst/>
          </a:prstGeom>
        </p:spPr>
        <p:txBody>
          <a:bodyPr anchor="t" rtlCol="false" tIns="0" lIns="0" bIns="0" rIns="0">
            <a:spAutoFit/>
          </a:bodyPr>
          <a:lstStyle/>
          <a:p>
            <a:pPr algn="l">
              <a:lnSpc>
                <a:spcPts val="2723"/>
              </a:lnSpc>
            </a:pPr>
            <a:r>
              <a:rPr lang="en-US" sz="2026">
                <a:solidFill>
                  <a:srgbClr val="6B6A66"/>
                </a:solidFill>
                <a:latin typeface="Inter"/>
                <a:ea typeface="Inter"/>
                <a:cs typeface="Inter"/>
                <a:sym typeface="Inter"/>
              </a:rPr>
              <a:t>Validamos siempre por partido y elegimos XGBoost, el más estable.</a:t>
            </a:r>
          </a:p>
        </p:txBody>
      </p:sp>
      <p:sp>
        <p:nvSpPr>
          <p:cNvPr name="TextBox 38" id="38"/>
          <p:cNvSpPr txBox="true"/>
          <p:nvPr/>
        </p:nvSpPr>
        <p:spPr>
          <a:xfrm rot="0">
            <a:off x="12491314" y="7370131"/>
            <a:ext cx="4667088" cy="440379"/>
          </a:xfrm>
          <a:prstGeom prst="rect">
            <a:avLst/>
          </a:prstGeom>
        </p:spPr>
        <p:txBody>
          <a:bodyPr anchor="t" rtlCol="false" tIns="0" lIns="0" bIns="0" rIns="0">
            <a:spAutoFit/>
          </a:bodyPr>
          <a:lstStyle/>
          <a:p>
            <a:pPr algn="l">
              <a:lnSpc>
                <a:spcPts val="2179"/>
              </a:lnSpc>
            </a:pPr>
            <a:r>
              <a:rPr lang="en-US" sz="1651" b="true">
                <a:solidFill>
                  <a:srgbClr val="2A78D6"/>
                </a:solidFill>
                <a:latin typeface="Inter Bold"/>
                <a:ea typeface="Inter Bold"/>
                <a:cs typeface="Inter Bold"/>
                <a:sym typeface="Inter Bold"/>
              </a:rPr>
              <a:t>APRENDIZAJE</a:t>
            </a:r>
          </a:p>
        </p:txBody>
      </p:sp>
      <p:sp>
        <p:nvSpPr>
          <p:cNvPr name="TextBox 39" id="39"/>
          <p:cNvSpPr txBox="true"/>
          <p:nvPr/>
        </p:nvSpPr>
        <p:spPr>
          <a:xfrm rot="0">
            <a:off x="12491314" y="7744949"/>
            <a:ext cx="4667088" cy="1342139"/>
          </a:xfrm>
          <a:prstGeom prst="rect">
            <a:avLst/>
          </a:prstGeom>
        </p:spPr>
        <p:txBody>
          <a:bodyPr anchor="t" rtlCol="false" tIns="0" lIns="0" bIns="0" rIns="0">
            <a:spAutoFit/>
          </a:bodyPr>
          <a:lstStyle/>
          <a:p>
            <a:pPr algn="l">
              <a:lnSpc>
                <a:spcPts val="2723"/>
              </a:lnSpc>
            </a:pPr>
            <a:r>
              <a:rPr lang="en-US" sz="2026" b="true">
                <a:solidFill>
                  <a:srgbClr val="174A8B"/>
                </a:solidFill>
                <a:latin typeface="Inter Bold"/>
                <a:ea typeface="Inter Bold"/>
                <a:cs typeface="Inter Bold"/>
                <a:sym typeface="Inter Bold"/>
              </a:rPr>
              <a:t>Evaluar como se va a usar en la realidad.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CFCFB"/>
        </a:solidFill>
      </p:bgPr>
    </p:bg>
    <p:spTree>
      <p:nvGrpSpPr>
        <p:cNvPr id="1" name=""/>
        <p:cNvGrpSpPr/>
        <p:nvPr/>
      </p:nvGrpSpPr>
      <p:grpSpPr>
        <a:xfrm>
          <a:off x="0" y="0"/>
          <a:ext cx="0" cy="0"/>
          <a:chOff x="0" y="0"/>
          <a:chExt cx="0" cy="0"/>
        </a:xfrm>
      </p:grpSpPr>
      <p:grpSp>
        <p:nvGrpSpPr>
          <p:cNvPr name="Group 2" id="2"/>
          <p:cNvGrpSpPr/>
          <p:nvPr/>
        </p:nvGrpSpPr>
        <p:grpSpPr>
          <a:xfrm rot="0">
            <a:off x="823608" y="617706"/>
            <a:ext cx="109814" cy="439255"/>
            <a:chOff x="0" y="0"/>
            <a:chExt cx="146418" cy="585673"/>
          </a:xfrm>
        </p:grpSpPr>
        <p:sp>
          <p:nvSpPr>
            <p:cNvPr name="Freeform 3" id="3"/>
            <p:cNvSpPr/>
            <p:nvPr/>
          </p:nvSpPr>
          <p:spPr>
            <a:xfrm flipH="false" flipV="false" rot="0">
              <a:off x="0" y="0"/>
              <a:ext cx="146431" cy="585724"/>
            </a:xfrm>
            <a:custGeom>
              <a:avLst/>
              <a:gdLst/>
              <a:ahLst/>
              <a:cxnLst/>
              <a:rect r="r" b="b" t="t" l="l"/>
              <a:pathLst>
                <a:path h="585724" w="146431">
                  <a:moveTo>
                    <a:pt x="0" y="0"/>
                  </a:moveTo>
                  <a:lnTo>
                    <a:pt x="146431" y="0"/>
                  </a:lnTo>
                  <a:lnTo>
                    <a:pt x="146431" y="585724"/>
                  </a:lnTo>
                  <a:lnTo>
                    <a:pt x="0" y="585724"/>
                  </a:lnTo>
                  <a:close/>
                </a:path>
              </a:pathLst>
            </a:custGeom>
            <a:solidFill>
              <a:srgbClr val="2A78D6"/>
            </a:solidFill>
          </p:spPr>
        </p:sp>
      </p:grpSp>
      <p:sp>
        <p:nvSpPr>
          <p:cNvPr name="TextBox 4" id="4"/>
          <p:cNvSpPr txBox="true"/>
          <p:nvPr/>
        </p:nvSpPr>
        <p:spPr>
          <a:xfrm rot="0">
            <a:off x="1028700" y="684372"/>
            <a:ext cx="12354049" cy="286872"/>
          </a:xfrm>
          <a:prstGeom prst="rect">
            <a:avLst/>
          </a:prstGeom>
        </p:spPr>
        <p:txBody>
          <a:bodyPr anchor="t" rtlCol="false" tIns="0" lIns="0" bIns="0" rIns="0">
            <a:spAutoFit/>
          </a:bodyPr>
          <a:lstStyle/>
          <a:p>
            <a:pPr algn="l">
              <a:lnSpc>
                <a:spcPts val="2377"/>
              </a:lnSpc>
            </a:pPr>
            <a:r>
              <a:rPr lang="en-US" sz="1801" b="true">
                <a:solidFill>
                  <a:srgbClr val="2A78D6"/>
                </a:solidFill>
                <a:latin typeface="Inter Bold"/>
                <a:ea typeface="Inter Bold"/>
                <a:cs typeface="Inter Bold"/>
                <a:sym typeface="Inter Bold"/>
              </a:rPr>
              <a:t>5 · CONCLUSIONES Y TRABAJO FUTURO</a:t>
            </a:r>
            <a:r>
              <a:rPr lang="en-US" sz="1801">
                <a:solidFill>
                  <a:srgbClr val="6B6A66"/>
                </a:solidFill>
                <a:latin typeface="Inter"/>
                <a:ea typeface="Inter"/>
                <a:cs typeface="Inter"/>
                <a:sym typeface="Inter"/>
              </a:rPr>
              <a:t> </a:t>
            </a:r>
          </a:p>
        </p:txBody>
      </p:sp>
      <p:sp>
        <p:nvSpPr>
          <p:cNvPr name="TextBox 5" id="5"/>
          <p:cNvSpPr txBox="true"/>
          <p:nvPr/>
        </p:nvSpPr>
        <p:spPr>
          <a:xfrm rot="0">
            <a:off x="823608" y="1178252"/>
            <a:ext cx="16609333" cy="1429826"/>
          </a:xfrm>
          <a:prstGeom prst="rect">
            <a:avLst/>
          </a:prstGeom>
        </p:spPr>
        <p:txBody>
          <a:bodyPr anchor="t" rtlCol="false" tIns="0" lIns="0" bIns="0" rIns="0">
            <a:spAutoFit/>
          </a:bodyPr>
          <a:lstStyle/>
          <a:p>
            <a:pPr algn="l">
              <a:lnSpc>
                <a:spcPts val="5944"/>
              </a:lnSpc>
            </a:pPr>
            <a:r>
              <a:rPr lang="en-US" sz="4503" b="true">
                <a:solidFill>
                  <a:srgbClr val="1F1F1D"/>
                </a:solidFill>
                <a:latin typeface="Inter Bold"/>
                <a:ea typeface="Inter Bold"/>
                <a:cs typeface="Inter Bold"/>
                <a:sym typeface="Inter Bold"/>
              </a:rPr>
              <a:t>XGBoost gana: 0.347 en un partido nuevo, frente a 0.25 del azar</a:t>
            </a:r>
          </a:p>
        </p:txBody>
      </p:sp>
      <p:sp>
        <p:nvSpPr>
          <p:cNvPr name="TextBox 6" id="6"/>
          <p:cNvSpPr txBox="true"/>
          <p:nvPr/>
        </p:nvSpPr>
        <p:spPr>
          <a:xfrm rot="0">
            <a:off x="16746607" y="9580131"/>
            <a:ext cx="823608" cy="440379"/>
          </a:xfrm>
          <a:prstGeom prst="rect">
            <a:avLst/>
          </a:prstGeom>
        </p:spPr>
        <p:txBody>
          <a:bodyPr anchor="t" rtlCol="false" tIns="0" lIns="0" bIns="0" rIns="0">
            <a:spAutoFit/>
          </a:bodyPr>
          <a:lstStyle/>
          <a:p>
            <a:pPr algn="r">
              <a:lnSpc>
                <a:spcPts val="2179"/>
              </a:lnSpc>
            </a:pPr>
            <a:r>
              <a:rPr lang="en-US" sz="1651">
                <a:solidFill>
                  <a:srgbClr val="6B6A66"/>
                </a:solidFill>
                <a:latin typeface="Inter"/>
                <a:ea typeface="Inter"/>
                <a:cs typeface="Inter"/>
                <a:sym typeface="Inter"/>
              </a:rPr>
              <a:t>10</a:t>
            </a:r>
          </a:p>
        </p:txBody>
      </p:sp>
      <p:grpSp>
        <p:nvGrpSpPr>
          <p:cNvPr name="Group 7" id="7"/>
          <p:cNvGrpSpPr/>
          <p:nvPr/>
        </p:nvGrpSpPr>
        <p:grpSpPr>
          <a:xfrm rot="0">
            <a:off x="823608" y="2745343"/>
            <a:ext cx="10157774" cy="5296214"/>
            <a:chOff x="0" y="0"/>
            <a:chExt cx="13543699" cy="7061619"/>
          </a:xfrm>
        </p:grpSpPr>
        <p:sp>
          <p:nvSpPr>
            <p:cNvPr name="Freeform 8" id="8" descr="20_f1_por_modelo.png"/>
            <p:cNvSpPr/>
            <p:nvPr/>
          </p:nvSpPr>
          <p:spPr>
            <a:xfrm flipH="false" flipV="false" rot="0">
              <a:off x="0" y="0"/>
              <a:ext cx="13543662" cy="7061581"/>
            </a:xfrm>
            <a:custGeom>
              <a:avLst/>
              <a:gdLst/>
              <a:ahLst/>
              <a:cxnLst/>
              <a:rect r="r" b="b" t="t" l="l"/>
              <a:pathLst>
                <a:path h="7061581" w="13543662">
                  <a:moveTo>
                    <a:pt x="0" y="0"/>
                  </a:moveTo>
                  <a:lnTo>
                    <a:pt x="13543662" y="0"/>
                  </a:lnTo>
                  <a:lnTo>
                    <a:pt x="13543662" y="7061581"/>
                  </a:lnTo>
                  <a:lnTo>
                    <a:pt x="0" y="7061581"/>
                  </a:lnTo>
                  <a:lnTo>
                    <a:pt x="0" y="0"/>
                  </a:lnTo>
                  <a:close/>
                </a:path>
              </a:pathLst>
            </a:custGeom>
            <a:blipFill>
              <a:blip r:embed="rId3"/>
              <a:stretch>
                <a:fillRect l="0" t="0" r="0" b="0"/>
              </a:stretch>
            </a:blipFill>
          </p:spPr>
        </p:sp>
      </p:grpSp>
      <p:sp>
        <p:nvSpPr>
          <p:cNvPr name="TextBox 9" id="9"/>
          <p:cNvSpPr txBox="true"/>
          <p:nvPr/>
        </p:nvSpPr>
        <p:spPr>
          <a:xfrm rot="0">
            <a:off x="11530451" y="2785405"/>
            <a:ext cx="3157147" cy="577644"/>
          </a:xfrm>
          <a:prstGeom prst="rect">
            <a:avLst/>
          </a:prstGeom>
        </p:spPr>
        <p:txBody>
          <a:bodyPr anchor="t" rtlCol="false" tIns="0" lIns="0" bIns="0" rIns="0">
            <a:spAutoFit/>
          </a:bodyPr>
          <a:lstStyle/>
          <a:p>
            <a:pPr algn="l">
              <a:lnSpc>
                <a:spcPts val="2576"/>
              </a:lnSpc>
            </a:pPr>
            <a:r>
              <a:rPr lang="en-US" sz="1951" b="true">
                <a:solidFill>
                  <a:srgbClr val="6B6A66"/>
                </a:solidFill>
                <a:latin typeface="Inter Bold"/>
                <a:ea typeface="Inter Bold"/>
                <a:cs typeface="Inter Bold"/>
                <a:sym typeface="Inter Bold"/>
              </a:rPr>
              <a:t>Modelo</a:t>
            </a:r>
          </a:p>
        </p:txBody>
      </p:sp>
      <p:sp>
        <p:nvSpPr>
          <p:cNvPr name="TextBox 10" id="10"/>
          <p:cNvSpPr txBox="true"/>
          <p:nvPr/>
        </p:nvSpPr>
        <p:spPr>
          <a:xfrm rot="0">
            <a:off x="14756225" y="2785405"/>
            <a:ext cx="1372676" cy="577644"/>
          </a:xfrm>
          <a:prstGeom prst="rect">
            <a:avLst/>
          </a:prstGeom>
        </p:spPr>
        <p:txBody>
          <a:bodyPr anchor="t" rtlCol="false" tIns="0" lIns="0" bIns="0" rIns="0">
            <a:spAutoFit/>
          </a:bodyPr>
          <a:lstStyle/>
          <a:p>
            <a:pPr algn="ctr">
              <a:lnSpc>
                <a:spcPts val="2576"/>
              </a:lnSpc>
            </a:pPr>
            <a:r>
              <a:rPr lang="en-US" sz="1951" b="true">
                <a:solidFill>
                  <a:srgbClr val="6B6A66"/>
                </a:solidFill>
                <a:latin typeface="Inter Bold"/>
                <a:ea typeface="Inter Bold"/>
                <a:cs typeface="Inter Bold"/>
                <a:sym typeface="Inter Bold"/>
              </a:rPr>
              <a:t>Prueba</a:t>
            </a:r>
          </a:p>
        </p:txBody>
      </p:sp>
      <p:sp>
        <p:nvSpPr>
          <p:cNvPr name="TextBox 11" id="11"/>
          <p:cNvSpPr txBox="true"/>
          <p:nvPr/>
        </p:nvSpPr>
        <p:spPr>
          <a:xfrm rot="0">
            <a:off x="16128902" y="2785405"/>
            <a:ext cx="1372676" cy="577644"/>
          </a:xfrm>
          <a:prstGeom prst="rect">
            <a:avLst/>
          </a:prstGeom>
        </p:spPr>
        <p:txBody>
          <a:bodyPr anchor="t" rtlCol="false" tIns="0" lIns="0" bIns="0" rIns="0">
            <a:spAutoFit/>
          </a:bodyPr>
          <a:lstStyle/>
          <a:p>
            <a:pPr algn="ctr">
              <a:lnSpc>
                <a:spcPts val="2576"/>
              </a:lnSpc>
            </a:pPr>
            <a:r>
              <a:rPr lang="en-US" sz="1951" b="true">
                <a:solidFill>
                  <a:srgbClr val="6B6A66"/>
                </a:solidFill>
                <a:latin typeface="Inter Bold"/>
                <a:ea typeface="Inter Bold"/>
                <a:cs typeface="Inter Bold"/>
                <a:sym typeface="Inter Bold"/>
              </a:rPr>
              <a:t>CV</a:t>
            </a:r>
          </a:p>
        </p:txBody>
      </p:sp>
      <p:grpSp>
        <p:nvGrpSpPr>
          <p:cNvPr name="Group 12" id="12"/>
          <p:cNvGrpSpPr/>
          <p:nvPr/>
        </p:nvGrpSpPr>
        <p:grpSpPr>
          <a:xfrm rot="0">
            <a:off x="11393176" y="3500314"/>
            <a:ext cx="6108392" cy="905961"/>
            <a:chOff x="0" y="0"/>
            <a:chExt cx="8144523" cy="1207948"/>
          </a:xfrm>
        </p:grpSpPr>
        <p:sp>
          <p:nvSpPr>
            <p:cNvPr name="Freeform 13" id="13"/>
            <p:cNvSpPr/>
            <p:nvPr/>
          </p:nvSpPr>
          <p:spPr>
            <a:xfrm flipH="false" flipV="false" rot="0">
              <a:off x="0" y="0"/>
              <a:ext cx="8144511" cy="1208024"/>
            </a:xfrm>
            <a:custGeom>
              <a:avLst/>
              <a:gdLst/>
              <a:ahLst/>
              <a:cxnLst/>
              <a:rect r="r" b="b" t="t" l="l"/>
              <a:pathLst>
                <a:path h="1208024" w="8144511">
                  <a:moveTo>
                    <a:pt x="0" y="181229"/>
                  </a:moveTo>
                  <a:cubicBezTo>
                    <a:pt x="0" y="81153"/>
                    <a:pt x="81153" y="0"/>
                    <a:pt x="181229" y="0"/>
                  </a:cubicBezTo>
                  <a:lnTo>
                    <a:pt x="7963281" y="0"/>
                  </a:lnTo>
                  <a:cubicBezTo>
                    <a:pt x="8063357" y="0"/>
                    <a:pt x="8144511" y="81153"/>
                    <a:pt x="8144511" y="181229"/>
                  </a:cubicBezTo>
                  <a:lnTo>
                    <a:pt x="8144511" y="1026795"/>
                  </a:lnTo>
                  <a:cubicBezTo>
                    <a:pt x="8144511" y="1126871"/>
                    <a:pt x="8063357" y="1208024"/>
                    <a:pt x="7963281" y="1208024"/>
                  </a:cubicBezTo>
                  <a:lnTo>
                    <a:pt x="181229" y="1208024"/>
                  </a:lnTo>
                  <a:cubicBezTo>
                    <a:pt x="81153" y="1207897"/>
                    <a:pt x="0" y="1126871"/>
                    <a:pt x="0" y="1026795"/>
                  </a:cubicBezTo>
                  <a:close/>
                </a:path>
              </a:pathLst>
            </a:custGeom>
            <a:solidFill>
              <a:srgbClr val="E8F1FC"/>
            </a:solidFill>
          </p:spPr>
        </p:sp>
      </p:grpSp>
      <p:grpSp>
        <p:nvGrpSpPr>
          <p:cNvPr name="Group 14" id="14"/>
          <p:cNvGrpSpPr/>
          <p:nvPr/>
        </p:nvGrpSpPr>
        <p:grpSpPr>
          <a:xfrm rot="0">
            <a:off x="11667715" y="3500314"/>
            <a:ext cx="3157147" cy="905961"/>
            <a:chOff x="0" y="0"/>
            <a:chExt cx="4209529" cy="1207948"/>
          </a:xfrm>
        </p:grpSpPr>
        <p:sp>
          <p:nvSpPr>
            <p:cNvPr name="Freeform 15" id="15"/>
            <p:cNvSpPr/>
            <p:nvPr/>
          </p:nvSpPr>
          <p:spPr>
            <a:xfrm flipH="false" flipV="false" rot="0">
              <a:off x="0" y="0"/>
              <a:ext cx="4209529" cy="1207952"/>
            </a:xfrm>
            <a:custGeom>
              <a:avLst/>
              <a:gdLst/>
              <a:ahLst/>
              <a:cxnLst/>
              <a:rect r="r" b="b" t="t" l="l"/>
              <a:pathLst>
                <a:path h="1207952" w="4209529">
                  <a:moveTo>
                    <a:pt x="0" y="0"/>
                  </a:moveTo>
                  <a:lnTo>
                    <a:pt x="4209529" y="0"/>
                  </a:lnTo>
                  <a:lnTo>
                    <a:pt x="4209529" y="1207952"/>
                  </a:lnTo>
                  <a:lnTo>
                    <a:pt x="0" y="1207952"/>
                  </a:lnTo>
                  <a:close/>
                </a:path>
              </a:pathLst>
            </a:custGeom>
            <a:blipFill>
              <a:blip r:embed="rId4">
                <a:alphaModFix amt="0"/>
              </a:blip>
              <a:stretch>
                <a:fillRect l="0" t="-17902" r="0" b="-17902"/>
              </a:stretch>
            </a:blipFill>
          </p:spPr>
        </p:sp>
        <p:sp>
          <p:nvSpPr>
            <p:cNvPr name="TextBox 16" id="16"/>
            <p:cNvSpPr txBox="true"/>
            <p:nvPr/>
          </p:nvSpPr>
          <p:spPr>
            <a:xfrm>
              <a:off x="0" y="-28575"/>
              <a:ext cx="4209529" cy="1236523"/>
            </a:xfrm>
            <a:prstGeom prst="rect">
              <a:avLst/>
            </a:prstGeom>
          </p:spPr>
          <p:txBody>
            <a:bodyPr anchor="ctr" rtlCol="false" tIns="0" lIns="0" bIns="0" rIns="0"/>
            <a:lstStyle/>
            <a:p>
              <a:pPr algn="l">
                <a:lnSpc>
                  <a:spcPts val="2972"/>
                </a:lnSpc>
              </a:pPr>
              <a:r>
                <a:rPr lang="en-US" sz="2251" b="true">
                  <a:solidFill>
                    <a:srgbClr val="1F1F1D"/>
                  </a:solidFill>
                  <a:latin typeface="Inter Bold"/>
                  <a:ea typeface="Inter Bold"/>
                  <a:cs typeface="Inter Bold"/>
                  <a:sym typeface="Inter Bold"/>
                </a:rPr>
                <a:t>XGBoost</a:t>
              </a:r>
            </a:p>
          </p:txBody>
        </p:sp>
      </p:grpSp>
      <p:grpSp>
        <p:nvGrpSpPr>
          <p:cNvPr name="Group 17" id="17"/>
          <p:cNvGrpSpPr/>
          <p:nvPr/>
        </p:nvGrpSpPr>
        <p:grpSpPr>
          <a:xfrm rot="0">
            <a:off x="14756225" y="3500314"/>
            <a:ext cx="1372676" cy="905961"/>
            <a:chOff x="0" y="0"/>
            <a:chExt cx="1830235" cy="1207948"/>
          </a:xfrm>
        </p:grpSpPr>
        <p:sp>
          <p:nvSpPr>
            <p:cNvPr name="Freeform 18" id="18"/>
            <p:cNvSpPr/>
            <p:nvPr/>
          </p:nvSpPr>
          <p:spPr>
            <a:xfrm flipH="false" flipV="false" rot="0">
              <a:off x="0" y="0"/>
              <a:ext cx="1830230" cy="1207952"/>
            </a:xfrm>
            <a:custGeom>
              <a:avLst/>
              <a:gdLst/>
              <a:ahLst/>
              <a:cxnLst/>
              <a:rect r="r" b="b" t="t" l="l"/>
              <a:pathLst>
                <a:path h="1207952" w="1830230">
                  <a:moveTo>
                    <a:pt x="0" y="0"/>
                  </a:moveTo>
                  <a:lnTo>
                    <a:pt x="1830230" y="0"/>
                  </a:lnTo>
                  <a:lnTo>
                    <a:pt x="1830230" y="1207952"/>
                  </a:lnTo>
                  <a:lnTo>
                    <a:pt x="0" y="1207952"/>
                  </a:lnTo>
                  <a:close/>
                </a:path>
              </a:pathLst>
            </a:custGeom>
            <a:blipFill>
              <a:blip r:embed="rId4">
                <a:alphaModFix amt="0"/>
              </a:blip>
              <a:stretch>
                <a:fillRect l="-34679" t="0" r="-34680" b="0"/>
              </a:stretch>
            </a:blipFill>
          </p:spPr>
        </p:sp>
        <p:sp>
          <p:nvSpPr>
            <p:cNvPr name="TextBox 19" id="19"/>
            <p:cNvSpPr txBox="true"/>
            <p:nvPr/>
          </p:nvSpPr>
          <p:spPr>
            <a:xfrm>
              <a:off x="0" y="-28575"/>
              <a:ext cx="1830235" cy="1236523"/>
            </a:xfrm>
            <a:prstGeom prst="rect">
              <a:avLst/>
            </a:prstGeom>
          </p:spPr>
          <p:txBody>
            <a:bodyPr anchor="ctr" rtlCol="false" tIns="0" lIns="0" bIns="0" rIns="0"/>
            <a:lstStyle/>
            <a:p>
              <a:pPr algn="ctr">
                <a:lnSpc>
                  <a:spcPts val="3368"/>
                </a:lnSpc>
              </a:pPr>
              <a:r>
                <a:rPr lang="en-US" sz="2551" b="true">
                  <a:solidFill>
                    <a:srgbClr val="2A78D6"/>
                  </a:solidFill>
                  <a:latin typeface="Inter Bold"/>
                  <a:ea typeface="Inter Bold"/>
                  <a:cs typeface="Inter Bold"/>
                  <a:sym typeface="Inter Bold"/>
                </a:rPr>
                <a:t>0.347</a:t>
              </a:r>
            </a:p>
          </p:txBody>
        </p:sp>
      </p:grpSp>
      <p:grpSp>
        <p:nvGrpSpPr>
          <p:cNvPr name="Group 20" id="20"/>
          <p:cNvGrpSpPr/>
          <p:nvPr/>
        </p:nvGrpSpPr>
        <p:grpSpPr>
          <a:xfrm rot="0">
            <a:off x="16128902" y="3500314"/>
            <a:ext cx="1372676" cy="905961"/>
            <a:chOff x="0" y="0"/>
            <a:chExt cx="1830235" cy="1207948"/>
          </a:xfrm>
        </p:grpSpPr>
        <p:sp>
          <p:nvSpPr>
            <p:cNvPr name="Freeform 21" id="21"/>
            <p:cNvSpPr/>
            <p:nvPr/>
          </p:nvSpPr>
          <p:spPr>
            <a:xfrm flipH="false" flipV="false" rot="0">
              <a:off x="0" y="0"/>
              <a:ext cx="1830230" cy="1207952"/>
            </a:xfrm>
            <a:custGeom>
              <a:avLst/>
              <a:gdLst/>
              <a:ahLst/>
              <a:cxnLst/>
              <a:rect r="r" b="b" t="t" l="l"/>
              <a:pathLst>
                <a:path h="1207952" w="1830230">
                  <a:moveTo>
                    <a:pt x="0" y="0"/>
                  </a:moveTo>
                  <a:lnTo>
                    <a:pt x="1830230" y="0"/>
                  </a:lnTo>
                  <a:lnTo>
                    <a:pt x="1830230" y="1207952"/>
                  </a:lnTo>
                  <a:lnTo>
                    <a:pt x="0" y="1207952"/>
                  </a:lnTo>
                  <a:close/>
                </a:path>
              </a:pathLst>
            </a:custGeom>
            <a:blipFill>
              <a:blip r:embed="rId4">
                <a:alphaModFix amt="0"/>
              </a:blip>
              <a:stretch>
                <a:fillRect l="-34679" t="0" r="-34680" b="0"/>
              </a:stretch>
            </a:blipFill>
          </p:spPr>
        </p:sp>
        <p:sp>
          <p:nvSpPr>
            <p:cNvPr name="TextBox 22" id="22"/>
            <p:cNvSpPr txBox="true"/>
            <p:nvPr/>
          </p:nvSpPr>
          <p:spPr>
            <a:xfrm>
              <a:off x="0" y="-28575"/>
              <a:ext cx="1830235" cy="1236523"/>
            </a:xfrm>
            <a:prstGeom prst="rect">
              <a:avLst/>
            </a:prstGeom>
          </p:spPr>
          <p:txBody>
            <a:bodyPr anchor="ctr" rtlCol="false" tIns="0" lIns="0" bIns="0" rIns="0"/>
            <a:lstStyle/>
            <a:p>
              <a:pPr algn="ctr">
                <a:lnSpc>
                  <a:spcPts val="2972"/>
                </a:lnSpc>
              </a:pPr>
              <a:r>
                <a:rPr lang="en-US" sz="2251">
                  <a:solidFill>
                    <a:srgbClr val="6B6A66"/>
                  </a:solidFill>
                  <a:latin typeface="Inter"/>
                  <a:ea typeface="Inter"/>
                  <a:cs typeface="Inter"/>
                  <a:sym typeface="Inter"/>
                </a:rPr>
                <a:t>0.351</a:t>
              </a:r>
            </a:p>
          </p:txBody>
        </p:sp>
      </p:grpSp>
      <p:grpSp>
        <p:nvGrpSpPr>
          <p:cNvPr name="Group 23" id="23"/>
          <p:cNvGrpSpPr/>
          <p:nvPr/>
        </p:nvGrpSpPr>
        <p:grpSpPr>
          <a:xfrm rot="0">
            <a:off x="11393176" y="4571000"/>
            <a:ext cx="6108392" cy="905961"/>
            <a:chOff x="0" y="0"/>
            <a:chExt cx="8144523" cy="1207948"/>
          </a:xfrm>
        </p:grpSpPr>
        <p:sp>
          <p:nvSpPr>
            <p:cNvPr name="Freeform 24" id="24"/>
            <p:cNvSpPr/>
            <p:nvPr/>
          </p:nvSpPr>
          <p:spPr>
            <a:xfrm flipH="false" flipV="false" rot="0">
              <a:off x="0" y="0"/>
              <a:ext cx="8144511" cy="1208024"/>
            </a:xfrm>
            <a:custGeom>
              <a:avLst/>
              <a:gdLst/>
              <a:ahLst/>
              <a:cxnLst/>
              <a:rect r="r" b="b" t="t" l="l"/>
              <a:pathLst>
                <a:path h="1208024" w="8144511">
                  <a:moveTo>
                    <a:pt x="0" y="181229"/>
                  </a:moveTo>
                  <a:cubicBezTo>
                    <a:pt x="0" y="81153"/>
                    <a:pt x="81153" y="0"/>
                    <a:pt x="181229" y="0"/>
                  </a:cubicBezTo>
                  <a:lnTo>
                    <a:pt x="7963281" y="0"/>
                  </a:lnTo>
                  <a:cubicBezTo>
                    <a:pt x="8063357" y="0"/>
                    <a:pt x="8144511" y="81153"/>
                    <a:pt x="8144511" y="181229"/>
                  </a:cubicBezTo>
                  <a:lnTo>
                    <a:pt x="8144511" y="1026795"/>
                  </a:lnTo>
                  <a:cubicBezTo>
                    <a:pt x="8144511" y="1126871"/>
                    <a:pt x="8063357" y="1208024"/>
                    <a:pt x="7963281" y="1208024"/>
                  </a:cubicBezTo>
                  <a:lnTo>
                    <a:pt x="181229" y="1208024"/>
                  </a:lnTo>
                  <a:cubicBezTo>
                    <a:pt x="81153" y="1207897"/>
                    <a:pt x="0" y="1126871"/>
                    <a:pt x="0" y="1026795"/>
                  </a:cubicBezTo>
                  <a:close/>
                </a:path>
              </a:pathLst>
            </a:custGeom>
            <a:solidFill>
              <a:srgbClr val="F0EFEC"/>
            </a:solidFill>
          </p:spPr>
        </p:sp>
      </p:grpSp>
      <p:grpSp>
        <p:nvGrpSpPr>
          <p:cNvPr name="Group 25" id="25"/>
          <p:cNvGrpSpPr/>
          <p:nvPr/>
        </p:nvGrpSpPr>
        <p:grpSpPr>
          <a:xfrm rot="0">
            <a:off x="11667715" y="4571000"/>
            <a:ext cx="3157147" cy="905961"/>
            <a:chOff x="0" y="0"/>
            <a:chExt cx="4209529" cy="1207948"/>
          </a:xfrm>
        </p:grpSpPr>
        <p:sp>
          <p:nvSpPr>
            <p:cNvPr name="Freeform 26" id="26"/>
            <p:cNvSpPr/>
            <p:nvPr/>
          </p:nvSpPr>
          <p:spPr>
            <a:xfrm flipH="false" flipV="false" rot="0">
              <a:off x="0" y="0"/>
              <a:ext cx="4209529" cy="1207952"/>
            </a:xfrm>
            <a:custGeom>
              <a:avLst/>
              <a:gdLst/>
              <a:ahLst/>
              <a:cxnLst/>
              <a:rect r="r" b="b" t="t" l="l"/>
              <a:pathLst>
                <a:path h="1207952" w="4209529">
                  <a:moveTo>
                    <a:pt x="0" y="0"/>
                  </a:moveTo>
                  <a:lnTo>
                    <a:pt x="4209529" y="0"/>
                  </a:lnTo>
                  <a:lnTo>
                    <a:pt x="4209529" y="1207952"/>
                  </a:lnTo>
                  <a:lnTo>
                    <a:pt x="0" y="1207952"/>
                  </a:lnTo>
                  <a:close/>
                </a:path>
              </a:pathLst>
            </a:custGeom>
            <a:blipFill>
              <a:blip r:embed="rId4">
                <a:alphaModFix amt="0"/>
              </a:blip>
              <a:stretch>
                <a:fillRect l="0" t="-17902" r="0" b="-17902"/>
              </a:stretch>
            </a:blipFill>
          </p:spPr>
        </p:sp>
        <p:sp>
          <p:nvSpPr>
            <p:cNvPr name="TextBox 27" id="27"/>
            <p:cNvSpPr txBox="true"/>
            <p:nvPr/>
          </p:nvSpPr>
          <p:spPr>
            <a:xfrm>
              <a:off x="0" y="-28575"/>
              <a:ext cx="4209529" cy="1236523"/>
            </a:xfrm>
            <a:prstGeom prst="rect">
              <a:avLst/>
            </a:prstGeom>
          </p:spPr>
          <p:txBody>
            <a:bodyPr anchor="ctr" rtlCol="false" tIns="0" lIns="0" bIns="0" rIns="0"/>
            <a:lstStyle/>
            <a:p>
              <a:pPr algn="l">
                <a:lnSpc>
                  <a:spcPts val="2972"/>
                </a:lnSpc>
              </a:pPr>
              <a:r>
                <a:rPr lang="en-US" sz="2251">
                  <a:solidFill>
                    <a:srgbClr val="1F1F1D"/>
                  </a:solidFill>
                  <a:latin typeface="Inter"/>
                  <a:ea typeface="Inter"/>
                  <a:cs typeface="Inter"/>
                  <a:sym typeface="Inter"/>
                </a:rPr>
                <a:t>Random Forest</a:t>
              </a:r>
            </a:p>
          </p:txBody>
        </p:sp>
      </p:grpSp>
      <p:grpSp>
        <p:nvGrpSpPr>
          <p:cNvPr name="Group 28" id="28"/>
          <p:cNvGrpSpPr/>
          <p:nvPr/>
        </p:nvGrpSpPr>
        <p:grpSpPr>
          <a:xfrm rot="0">
            <a:off x="14756225" y="4571000"/>
            <a:ext cx="1372676" cy="905961"/>
            <a:chOff x="0" y="0"/>
            <a:chExt cx="1830235" cy="1207948"/>
          </a:xfrm>
        </p:grpSpPr>
        <p:sp>
          <p:nvSpPr>
            <p:cNvPr name="Freeform 29" id="29"/>
            <p:cNvSpPr/>
            <p:nvPr/>
          </p:nvSpPr>
          <p:spPr>
            <a:xfrm flipH="false" flipV="false" rot="0">
              <a:off x="0" y="0"/>
              <a:ext cx="1830230" cy="1207952"/>
            </a:xfrm>
            <a:custGeom>
              <a:avLst/>
              <a:gdLst/>
              <a:ahLst/>
              <a:cxnLst/>
              <a:rect r="r" b="b" t="t" l="l"/>
              <a:pathLst>
                <a:path h="1207952" w="1830230">
                  <a:moveTo>
                    <a:pt x="0" y="0"/>
                  </a:moveTo>
                  <a:lnTo>
                    <a:pt x="1830230" y="0"/>
                  </a:lnTo>
                  <a:lnTo>
                    <a:pt x="1830230" y="1207952"/>
                  </a:lnTo>
                  <a:lnTo>
                    <a:pt x="0" y="1207952"/>
                  </a:lnTo>
                  <a:close/>
                </a:path>
              </a:pathLst>
            </a:custGeom>
            <a:blipFill>
              <a:blip r:embed="rId4">
                <a:alphaModFix amt="0"/>
              </a:blip>
              <a:stretch>
                <a:fillRect l="-34679" t="0" r="-34680" b="0"/>
              </a:stretch>
            </a:blipFill>
          </p:spPr>
        </p:sp>
        <p:sp>
          <p:nvSpPr>
            <p:cNvPr name="TextBox 30" id="30"/>
            <p:cNvSpPr txBox="true"/>
            <p:nvPr/>
          </p:nvSpPr>
          <p:spPr>
            <a:xfrm>
              <a:off x="0" y="-28575"/>
              <a:ext cx="1830235" cy="1236523"/>
            </a:xfrm>
            <a:prstGeom prst="rect">
              <a:avLst/>
            </a:prstGeom>
          </p:spPr>
          <p:txBody>
            <a:bodyPr anchor="ctr" rtlCol="false" tIns="0" lIns="0" bIns="0" rIns="0"/>
            <a:lstStyle/>
            <a:p>
              <a:pPr algn="ctr">
                <a:lnSpc>
                  <a:spcPts val="3368"/>
                </a:lnSpc>
              </a:pPr>
              <a:r>
                <a:rPr lang="en-US" sz="2551" b="true">
                  <a:solidFill>
                    <a:srgbClr val="1F1F1D"/>
                  </a:solidFill>
                  <a:latin typeface="Inter Bold"/>
                  <a:ea typeface="Inter Bold"/>
                  <a:cs typeface="Inter Bold"/>
                  <a:sym typeface="Inter Bold"/>
                </a:rPr>
                <a:t>0.304</a:t>
              </a:r>
            </a:p>
          </p:txBody>
        </p:sp>
      </p:grpSp>
      <p:grpSp>
        <p:nvGrpSpPr>
          <p:cNvPr name="Group 31" id="31"/>
          <p:cNvGrpSpPr/>
          <p:nvPr/>
        </p:nvGrpSpPr>
        <p:grpSpPr>
          <a:xfrm rot="0">
            <a:off x="16128902" y="4571000"/>
            <a:ext cx="1372676" cy="905961"/>
            <a:chOff x="0" y="0"/>
            <a:chExt cx="1830235" cy="1207948"/>
          </a:xfrm>
        </p:grpSpPr>
        <p:sp>
          <p:nvSpPr>
            <p:cNvPr name="Freeform 32" id="32"/>
            <p:cNvSpPr/>
            <p:nvPr/>
          </p:nvSpPr>
          <p:spPr>
            <a:xfrm flipH="false" flipV="false" rot="0">
              <a:off x="0" y="0"/>
              <a:ext cx="1830230" cy="1207952"/>
            </a:xfrm>
            <a:custGeom>
              <a:avLst/>
              <a:gdLst/>
              <a:ahLst/>
              <a:cxnLst/>
              <a:rect r="r" b="b" t="t" l="l"/>
              <a:pathLst>
                <a:path h="1207952" w="1830230">
                  <a:moveTo>
                    <a:pt x="0" y="0"/>
                  </a:moveTo>
                  <a:lnTo>
                    <a:pt x="1830230" y="0"/>
                  </a:lnTo>
                  <a:lnTo>
                    <a:pt x="1830230" y="1207952"/>
                  </a:lnTo>
                  <a:lnTo>
                    <a:pt x="0" y="1207952"/>
                  </a:lnTo>
                  <a:close/>
                </a:path>
              </a:pathLst>
            </a:custGeom>
            <a:blipFill>
              <a:blip r:embed="rId4">
                <a:alphaModFix amt="0"/>
              </a:blip>
              <a:stretch>
                <a:fillRect l="-34679" t="0" r="-34680" b="0"/>
              </a:stretch>
            </a:blipFill>
          </p:spPr>
        </p:sp>
        <p:sp>
          <p:nvSpPr>
            <p:cNvPr name="TextBox 33" id="33"/>
            <p:cNvSpPr txBox="true"/>
            <p:nvPr/>
          </p:nvSpPr>
          <p:spPr>
            <a:xfrm>
              <a:off x="0" y="-28575"/>
              <a:ext cx="1830235" cy="1236523"/>
            </a:xfrm>
            <a:prstGeom prst="rect">
              <a:avLst/>
            </a:prstGeom>
          </p:spPr>
          <p:txBody>
            <a:bodyPr anchor="ctr" rtlCol="false" tIns="0" lIns="0" bIns="0" rIns="0"/>
            <a:lstStyle/>
            <a:p>
              <a:pPr algn="ctr">
                <a:lnSpc>
                  <a:spcPts val="2972"/>
                </a:lnSpc>
              </a:pPr>
              <a:r>
                <a:rPr lang="en-US" sz="2251">
                  <a:solidFill>
                    <a:srgbClr val="6B6A66"/>
                  </a:solidFill>
                  <a:latin typeface="Inter"/>
                  <a:ea typeface="Inter"/>
                  <a:cs typeface="Inter"/>
                  <a:sym typeface="Inter"/>
                </a:rPr>
                <a:t>0.324</a:t>
              </a:r>
            </a:p>
          </p:txBody>
        </p:sp>
      </p:grpSp>
      <p:grpSp>
        <p:nvGrpSpPr>
          <p:cNvPr name="Group 34" id="34"/>
          <p:cNvGrpSpPr/>
          <p:nvPr/>
        </p:nvGrpSpPr>
        <p:grpSpPr>
          <a:xfrm rot="0">
            <a:off x="11393176" y="5641686"/>
            <a:ext cx="6108392" cy="905961"/>
            <a:chOff x="0" y="0"/>
            <a:chExt cx="8144523" cy="1207948"/>
          </a:xfrm>
        </p:grpSpPr>
        <p:sp>
          <p:nvSpPr>
            <p:cNvPr name="Freeform 35" id="35"/>
            <p:cNvSpPr/>
            <p:nvPr/>
          </p:nvSpPr>
          <p:spPr>
            <a:xfrm flipH="false" flipV="false" rot="0">
              <a:off x="0" y="0"/>
              <a:ext cx="8144511" cy="1208024"/>
            </a:xfrm>
            <a:custGeom>
              <a:avLst/>
              <a:gdLst/>
              <a:ahLst/>
              <a:cxnLst/>
              <a:rect r="r" b="b" t="t" l="l"/>
              <a:pathLst>
                <a:path h="1208024" w="8144511">
                  <a:moveTo>
                    <a:pt x="0" y="181229"/>
                  </a:moveTo>
                  <a:cubicBezTo>
                    <a:pt x="0" y="81153"/>
                    <a:pt x="81153" y="0"/>
                    <a:pt x="181229" y="0"/>
                  </a:cubicBezTo>
                  <a:lnTo>
                    <a:pt x="7963281" y="0"/>
                  </a:lnTo>
                  <a:cubicBezTo>
                    <a:pt x="8063357" y="0"/>
                    <a:pt x="8144511" y="81153"/>
                    <a:pt x="8144511" y="181229"/>
                  </a:cubicBezTo>
                  <a:lnTo>
                    <a:pt x="8144511" y="1026795"/>
                  </a:lnTo>
                  <a:cubicBezTo>
                    <a:pt x="8144511" y="1126871"/>
                    <a:pt x="8063357" y="1208024"/>
                    <a:pt x="7963281" y="1208024"/>
                  </a:cubicBezTo>
                  <a:lnTo>
                    <a:pt x="181229" y="1208024"/>
                  </a:lnTo>
                  <a:cubicBezTo>
                    <a:pt x="81153" y="1207897"/>
                    <a:pt x="0" y="1126871"/>
                    <a:pt x="0" y="1026795"/>
                  </a:cubicBezTo>
                  <a:close/>
                </a:path>
              </a:pathLst>
            </a:custGeom>
            <a:solidFill>
              <a:srgbClr val="F0EFEC"/>
            </a:solidFill>
          </p:spPr>
        </p:sp>
      </p:grpSp>
      <p:grpSp>
        <p:nvGrpSpPr>
          <p:cNvPr name="Group 36" id="36"/>
          <p:cNvGrpSpPr/>
          <p:nvPr/>
        </p:nvGrpSpPr>
        <p:grpSpPr>
          <a:xfrm rot="0">
            <a:off x="11667715" y="5641686"/>
            <a:ext cx="3157147" cy="905961"/>
            <a:chOff x="0" y="0"/>
            <a:chExt cx="4209529" cy="1207948"/>
          </a:xfrm>
        </p:grpSpPr>
        <p:sp>
          <p:nvSpPr>
            <p:cNvPr name="Freeform 37" id="37"/>
            <p:cNvSpPr/>
            <p:nvPr/>
          </p:nvSpPr>
          <p:spPr>
            <a:xfrm flipH="false" flipV="false" rot="0">
              <a:off x="0" y="0"/>
              <a:ext cx="4209529" cy="1207952"/>
            </a:xfrm>
            <a:custGeom>
              <a:avLst/>
              <a:gdLst/>
              <a:ahLst/>
              <a:cxnLst/>
              <a:rect r="r" b="b" t="t" l="l"/>
              <a:pathLst>
                <a:path h="1207952" w="4209529">
                  <a:moveTo>
                    <a:pt x="0" y="0"/>
                  </a:moveTo>
                  <a:lnTo>
                    <a:pt x="4209529" y="0"/>
                  </a:lnTo>
                  <a:lnTo>
                    <a:pt x="4209529" y="1207952"/>
                  </a:lnTo>
                  <a:lnTo>
                    <a:pt x="0" y="1207952"/>
                  </a:lnTo>
                  <a:close/>
                </a:path>
              </a:pathLst>
            </a:custGeom>
            <a:blipFill>
              <a:blip r:embed="rId4">
                <a:alphaModFix amt="0"/>
              </a:blip>
              <a:stretch>
                <a:fillRect l="0" t="-17902" r="0" b="-17902"/>
              </a:stretch>
            </a:blipFill>
          </p:spPr>
        </p:sp>
        <p:sp>
          <p:nvSpPr>
            <p:cNvPr name="TextBox 38" id="38"/>
            <p:cNvSpPr txBox="true"/>
            <p:nvPr/>
          </p:nvSpPr>
          <p:spPr>
            <a:xfrm>
              <a:off x="0" y="-28575"/>
              <a:ext cx="4209529" cy="1236523"/>
            </a:xfrm>
            <a:prstGeom prst="rect">
              <a:avLst/>
            </a:prstGeom>
          </p:spPr>
          <p:txBody>
            <a:bodyPr anchor="ctr" rtlCol="false" tIns="0" lIns="0" bIns="0" rIns="0"/>
            <a:lstStyle/>
            <a:p>
              <a:pPr algn="l">
                <a:lnSpc>
                  <a:spcPts val="2972"/>
                </a:lnSpc>
              </a:pPr>
              <a:r>
                <a:rPr lang="en-US" sz="2251">
                  <a:solidFill>
                    <a:srgbClr val="1F1F1D"/>
                  </a:solidFill>
                  <a:latin typeface="Inter"/>
                  <a:ea typeface="Inter"/>
                  <a:cs typeface="Inter"/>
                  <a:sym typeface="Inter"/>
                </a:rPr>
                <a:t>Regresión logística</a:t>
              </a:r>
            </a:p>
          </p:txBody>
        </p:sp>
      </p:grpSp>
      <p:grpSp>
        <p:nvGrpSpPr>
          <p:cNvPr name="Group 39" id="39"/>
          <p:cNvGrpSpPr/>
          <p:nvPr/>
        </p:nvGrpSpPr>
        <p:grpSpPr>
          <a:xfrm rot="0">
            <a:off x="14756225" y="5641686"/>
            <a:ext cx="1372676" cy="905961"/>
            <a:chOff x="0" y="0"/>
            <a:chExt cx="1830235" cy="1207948"/>
          </a:xfrm>
        </p:grpSpPr>
        <p:sp>
          <p:nvSpPr>
            <p:cNvPr name="Freeform 40" id="40"/>
            <p:cNvSpPr/>
            <p:nvPr/>
          </p:nvSpPr>
          <p:spPr>
            <a:xfrm flipH="false" flipV="false" rot="0">
              <a:off x="0" y="0"/>
              <a:ext cx="1830230" cy="1207952"/>
            </a:xfrm>
            <a:custGeom>
              <a:avLst/>
              <a:gdLst/>
              <a:ahLst/>
              <a:cxnLst/>
              <a:rect r="r" b="b" t="t" l="l"/>
              <a:pathLst>
                <a:path h="1207952" w="1830230">
                  <a:moveTo>
                    <a:pt x="0" y="0"/>
                  </a:moveTo>
                  <a:lnTo>
                    <a:pt x="1830230" y="0"/>
                  </a:lnTo>
                  <a:lnTo>
                    <a:pt x="1830230" y="1207952"/>
                  </a:lnTo>
                  <a:lnTo>
                    <a:pt x="0" y="1207952"/>
                  </a:lnTo>
                  <a:close/>
                </a:path>
              </a:pathLst>
            </a:custGeom>
            <a:blipFill>
              <a:blip r:embed="rId4">
                <a:alphaModFix amt="0"/>
              </a:blip>
              <a:stretch>
                <a:fillRect l="-34679" t="0" r="-34680" b="0"/>
              </a:stretch>
            </a:blipFill>
          </p:spPr>
        </p:sp>
        <p:sp>
          <p:nvSpPr>
            <p:cNvPr name="TextBox 41" id="41"/>
            <p:cNvSpPr txBox="true"/>
            <p:nvPr/>
          </p:nvSpPr>
          <p:spPr>
            <a:xfrm>
              <a:off x="0" y="-28575"/>
              <a:ext cx="1830235" cy="1236523"/>
            </a:xfrm>
            <a:prstGeom prst="rect">
              <a:avLst/>
            </a:prstGeom>
          </p:spPr>
          <p:txBody>
            <a:bodyPr anchor="ctr" rtlCol="false" tIns="0" lIns="0" bIns="0" rIns="0"/>
            <a:lstStyle/>
            <a:p>
              <a:pPr algn="ctr">
                <a:lnSpc>
                  <a:spcPts val="3368"/>
                </a:lnSpc>
              </a:pPr>
              <a:r>
                <a:rPr lang="en-US" sz="2551" b="true">
                  <a:solidFill>
                    <a:srgbClr val="1F1F1D"/>
                  </a:solidFill>
                  <a:latin typeface="Inter Bold"/>
                  <a:ea typeface="Inter Bold"/>
                  <a:cs typeface="Inter Bold"/>
                  <a:sym typeface="Inter Bold"/>
                </a:rPr>
                <a:t>0.289</a:t>
              </a:r>
            </a:p>
          </p:txBody>
        </p:sp>
      </p:grpSp>
      <p:grpSp>
        <p:nvGrpSpPr>
          <p:cNvPr name="Group 42" id="42"/>
          <p:cNvGrpSpPr/>
          <p:nvPr/>
        </p:nvGrpSpPr>
        <p:grpSpPr>
          <a:xfrm rot="0">
            <a:off x="16128902" y="5641686"/>
            <a:ext cx="1372676" cy="905961"/>
            <a:chOff x="0" y="0"/>
            <a:chExt cx="1830235" cy="1207948"/>
          </a:xfrm>
        </p:grpSpPr>
        <p:sp>
          <p:nvSpPr>
            <p:cNvPr name="Freeform 43" id="43"/>
            <p:cNvSpPr/>
            <p:nvPr/>
          </p:nvSpPr>
          <p:spPr>
            <a:xfrm flipH="false" flipV="false" rot="0">
              <a:off x="0" y="0"/>
              <a:ext cx="1830230" cy="1207952"/>
            </a:xfrm>
            <a:custGeom>
              <a:avLst/>
              <a:gdLst/>
              <a:ahLst/>
              <a:cxnLst/>
              <a:rect r="r" b="b" t="t" l="l"/>
              <a:pathLst>
                <a:path h="1207952" w="1830230">
                  <a:moveTo>
                    <a:pt x="0" y="0"/>
                  </a:moveTo>
                  <a:lnTo>
                    <a:pt x="1830230" y="0"/>
                  </a:lnTo>
                  <a:lnTo>
                    <a:pt x="1830230" y="1207952"/>
                  </a:lnTo>
                  <a:lnTo>
                    <a:pt x="0" y="1207952"/>
                  </a:lnTo>
                  <a:close/>
                </a:path>
              </a:pathLst>
            </a:custGeom>
            <a:blipFill>
              <a:blip r:embed="rId4">
                <a:alphaModFix amt="0"/>
              </a:blip>
              <a:stretch>
                <a:fillRect l="-34679" t="0" r="-34680" b="0"/>
              </a:stretch>
            </a:blipFill>
          </p:spPr>
        </p:sp>
        <p:sp>
          <p:nvSpPr>
            <p:cNvPr name="TextBox 44" id="44"/>
            <p:cNvSpPr txBox="true"/>
            <p:nvPr/>
          </p:nvSpPr>
          <p:spPr>
            <a:xfrm>
              <a:off x="0" y="-28575"/>
              <a:ext cx="1830235" cy="1236523"/>
            </a:xfrm>
            <a:prstGeom prst="rect">
              <a:avLst/>
            </a:prstGeom>
          </p:spPr>
          <p:txBody>
            <a:bodyPr anchor="ctr" rtlCol="false" tIns="0" lIns="0" bIns="0" rIns="0"/>
            <a:lstStyle/>
            <a:p>
              <a:pPr algn="ctr">
                <a:lnSpc>
                  <a:spcPts val="2972"/>
                </a:lnSpc>
              </a:pPr>
              <a:r>
                <a:rPr lang="en-US" sz="2251">
                  <a:solidFill>
                    <a:srgbClr val="6B6A66"/>
                  </a:solidFill>
                  <a:latin typeface="Inter"/>
                  <a:ea typeface="Inter"/>
                  <a:cs typeface="Inter"/>
                  <a:sym typeface="Inter"/>
                </a:rPr>
                <a:t>0.286</a:t>
              </a:r>
            </a:p>
          </p:txBody>
        </p:sp>
      </p:grpSp>
      <p:grpSp>
        <p:nvGrpSpPr>
          <p:cNvPr name="Group 45" id="45"/>
          <p:cNvGrpSpPr/>
          <p:nvPr/>
        </p:nvGrpSpPr>
        <p:grpSpPr>
          <a:xfrm rot="0">
            <a:off x="11393176" y="6712372"/>
            <a:ext cx="6108392" cy="905961"/>
            <a:chOff x="0" y="0"/>
            <a:chExt cx="8144523" cy="1207948"/>
          </a:xfrm>
        </p:grpSpPr>
        <p:sp>
          <p:nvSpPr>
            <p:cNvPr name="Freeform 46" id="46"/>
            <p:cNvSpPr/>
            <p:nvPr/>
          </p:nvSpPr>
          <p:spPr>
            <a:xfrm flipH="false" flipV="false" rot="0">
              <a:off x="0" y="0"/>
              <a:ext cx="8144511" cy="1208024"/>
            </a:xfrm>
            <a:custGeom>
              <a:avLst/>
              <a:gdLst/>
              <a:ahLst/>
              <a:cxnLst/>
              <a:rect r="r" b="b" t="t" l="l"/>
              <a:pathLst>
                <a:path h="1208024" w="8144511">
                  <a:moveTo>
                    <a:pt x="0" y="181229"/>
                  </a:moveTo>
                  <a:cubicBezTo>
                    <a:pt x="0" y="81153"/>
                    <a:pt x="81153" y="0"/>
                    <a:pt x="181229" y="0"/>
                  </a:cubicBezTo>
                  <a:lnTo>
                    <a:pt x="7963281" y="0"/>
                  </a:lnTo>
                  <a:cubicBezTo>
                    <a:pt x="8063357" y="0"/>
                    <a:pt x="8144511" y="81153"/>
                    <a:pt x="8144511" y="181229"/>
                  </a:cubicBezTo>
                  <a:lnTo>
                    <a:pt x="8144511" y="1026795"/>
                  </a:lnTo>
                  <a:cubicBezTo>
                    <a:pt x="8144511" y="1126871"/>
                    <a:pt x="8063357" y="1208024"/>
                    <a:pt x="7963281" y="1208024"/>
                  </a:cubicBezTo>
                  <a:lnTo>
                    <a:pt x="181229" y="1208024"/>
                  </a:lnTo>
                  <a:cubicBezTo>
                    <a:pt x="81153" y="1207897"/>
                    <a:pt x="0" y="1126871"/>
                    <a:pt x="0" y="1026795"/>
                  </a:cubicBezTo>
                  <a:close/>
                </a:path>
              </a:pathLst>
            </a:custGeom>
            <a:solidFill>
              <a:srgbClr val="F0EFEC"/>
            </a:solidFill>
          </p:spPr>
        </p:sp>
      </p:grpSp>
      <p:grpSp>
        <p:nvGrpSpPr>
          <p:cNvPr name="Group 47" id="47"/>
          <p:cNvGrpSpPr/>
          <p:nvPr/>
        </p:nvGrpSpPr>
        <p:grpSpPr>
          <a:xfrm rot="0">
            <a:off x="11667715" y="6712372"/>
            <a:ext cx="3157147" cy="905961"/>
            <a:chOff x="0" y="0"/>
            <a:chExt cx="4209529" cy="1207948"/>
          </a:xfrm>
        </p:grpSpPr>
        <p:sp>
          <p:nvSpPr>
            <p:cNvPr name="Freeform 48" id="48"/>
            <p:cNvSpPr/>
            <p:nvPr/>
          </p:nvSpPr>
          <p:spPr>
            <a:xfrm flipH="false" flipV="false" rot="0">
              <a:off x="0" y="0"/>
              <a:ext cx="4209529" cy="1207952"/>
            </a:xfrm>
            <a:custGeom>
              <a:avLst/>
              <a:gdLst/>
              <a:ahLst/>
              <a:cxnLst/>
              <a:rect r="r" b="b" t="t" l="l"/>
              <a:pathLst>
                <a:path h="1207952" w="4209529">
                  <a:moveTo>
                    <a:pt x="0" y="0"/>
                  </a:moveTo>
                  <a:lnTo>
                    <a:pt x="4209529" y="0"/>
                  </a:lnTo>
                  <a:lnTo>
                    <a:pt x="4209529" y="1207952"/>
                  </a:lnTo>
                  <a:lnTo>
                    <a:pt x="0" y="1207952"/>
                  </a:lnTo>
                  <a:close/>
                </a:path>
              </a:pathLst>
            </a:custGeom>
            <a:blipFill>
              <a:blip r:embed="rId4">
                <a:alphaModFix amt="0"/>
              </a:blip>
              <a:stretch>
                <a:fillRect l="0" t="-17902" r="0" b="-17902"/>
              </a:stretch>
            </a:blipFill>
          </p:spPr>
        </p:sp>
        <p:sp>
          <p:nvSpPr>
            <p:cNvPr name="TextBox 49" id="49"/>
            <p:cNvSpPr txBox="true"/>
            <p:nvPr/>
          </p:nvSpPr>
          <p:spPr>
            <a:xfrm>
              <a:off x="0" y="-28575"/>
              <a:ext cx="4209529" cy="1236523"/>
            </a:xfrm>
            <a:prstGeom prst="rect">
              <a:avLst/>
            </a:prstGeom>
          </p:spPr>
          <p:txBody>
            <a:bodyPr anchor="ctr" rtlCol="false" tIns="0" lIns="0" bIns="0" rIns="0"/>
            <a:lstStyle/>
            <a:p>
              <a:pPr algn="l">
                <a:lnSpc>
                  <a:spcPts val="2972"/>
                </a:lnSpc>
              </a:pPr>
              <a:r>
                <a:rPr lang="en-US" sz="2251">
                  <a:solidFill>
                    <a:srgbClr val="1F1F1D"/>
                  </a:solidFill>
                  <a:latin typeface="Inter"/>
                  <a:ea typeface="Inter"/>
                  <a:cs typeface="Inter"/>
                  <a:sym typeface="Inter"/>
                </a:rPr>
                <a:t>GRU (ResNet18)</a:t>
              </a:r>
            </a:p>
          </p:txBody>
        </p:sp>
      </p:grpSp>
      <p:grpSp>
        <p:nvGrpSpPr>
          <p:cNvPr name="Group 50" id="50"/>
          <p:cNvGrpSpPr/>
          <p:nvPr/>
        </p:nvGrpSpPr>
        <p:grpSpPr>
          <a:xfrm rot="0">
            <a:off x="14756225" y="6712372"/>
            <a:ext cx="1372676" cy="905961"/>
            <a:chOff x="0" y="0"/>
            <a:chExt cx="1830235" cy="1207948"/>
          </a:xfrm>
        </p:grpSpPr>
        <p:sp>
          <p:nvSpPr>
            <p:cNvPr name="Freeform 51" id="51"/>
            <p:cNvSpPr/>
            <p:nvPr/>
          </p:nvSpPr>
          <p:spPr>
            <a:xfrm flipH="false" flipV="false" rot="0">
              <a:off x="0" y="0"/>
              <a:ext cx="1830230" cy="1207952"/>
            </a:xfrm>
            <a:custGeom>
              <a:avLst/>
              <a:gdLst/>
              <a:ahLst/>
              <a:cxnLst/>
              <a:rect r="r" b="b" t="t" l="l"/>
              <a:pathLst>
                <a:path h="1207952" w="1830230">
                  <a:moveTo>
                    <a:pt x="0" y="0"/>
                  </a:moveTo>
                  <a:lnTo>
                    <a:pt x="1830230" y="0"/>
                  </a:lnTo>
                  <a:lnTo>
                    <a:pt x="1830230" y="1207952"/>
                  </a:lnTo>
                  <a:lnTo>
                    <a:pt x="0" y="1207952"/>
                  </a:lnTo>
                  <a:close/>
                </a:path>
              </a:pathLst>
            </a:custGeom>
            <a:blipFill>
              <a:blip r:embed="rId4">
                <a:alphaModFix amt="0"/>
              </a:blip>
              <a:stretch>
                <a:fillRect l="-34679" t="0" r="-34680" b="0"/>
              </a:stretch>
            </a:blipFill>
          </p:spPr>
        </p:sp>
        <p:sp>
          <p:nvSpPr>
            <p:cNvPr name="TextBox 52" id="52"/>
            <p:cNvSpPr txBox="true"/>
            <p:nvPr/>
          </p:nvSpPr>
          <p:spPr>
            <a:xfrm>
              <a:off x="0" y="-28575"/>
              <a:ext cx="1830235" cy="1236523"/>
            </a:xfrm>
            <a:prstGeom prst="rect">
              <a:avLst/>
            </a:prstGeom>
          </p:spPr>
          <p:txBody>
            <a:bodyPr anchor="ctr" rtlCol="false" tIns="0" lIns="0" bIns="0" rIns="0"/>
            <a:lstStyle/>
            <a:p>
              <a:pPr algn="ctr">
                <a:lnSpc>
                  <a:spcPts val="3368"/>
                </a:lnSpc>
              </a:pPr>
              <a:r>
                <a:rPr lang="en-US" sz="2551" b="true">
                  <a:solidFill>
                    <a:srgbClr val="1F1F1D"/>
                  </a:solidFill>
                  <a:latin typeface="Inter Bold"/>
                  <a:ea typeface="Inter Bold"/>
                  <a:cs typeface="Inter Bold"/>
                  <a:sym typeface="Inter Bold"/>
                </a:rPr>
                <a:t>0.114</a:t>
              </a:r>
            </a:p>
          </p:txBody>
        </p:sp>
      </p:grpSp>
      <p:grpSp>
        <p:nvGrpSpPr>
          <p:cNvPr name="Group 53" id="53"/>
          <p:cNvGrpSpPr/>
          <p:nvPr/>
        </p:nvGrpSpPr>
        <p:grpSpPr>
          <a:xfrm rot="0">
            <a:off x="16128902" y="6712372"/>
            <a:ext cx="1372676" cy="905961"/>
            <a:chOff x="0" y="0"/>
            <a:chExt cx="1830235" cy="1207948"/>
          </a:xfrm>
        </p:grpSpPr>
        <p:sp>
          <p:nvSpPr>
            <p:cNvPr name="Freeform 54" id="54"/>
            <p:cNvSpPr/>
            <p:nvPr/>
          </p:nvSpPr>
          <p:spPr>
            <a:xfrm flipH="false" flipV="false" rot="0">
              <a:off x="0" y="0"/>
              <a:ext cx="1830230" cy="1207952"/>
            </a:xfrm>
            <a:custGeom>
              <a:avLst/>
              <a:gdLst/>
              <a:ahLst/>
              <a:cxnLst/>
              <a:rect r="r" b="b" t="t" l="l"/>
              <a:pathLst>
                <a:path h="1207952" w="1830230">
                  <a:moveTo>
                    <a:pt x="0" y="0"/>
                  </a:moveTo>
                  <a:lnTo>
                    <a:pt x="1830230" y="0"/>
                  </a:lnTo>
                  <a:lnTo>
                    <a:pt x="1830230" y="1207952"/>
                  </a:lnTo>
                  <a:lnTo>
                    <a:pt x="0" y="1207952"/>
                  </a:lnTo>
                  <a:close/>
                </a:path>
              </a:pathLst>
            </a:custGeom>
            <a:blipFill>
              <a:blip r:embed="rId4">
                <a:alphaModFix amt="0"/>
              </a:blip>
              <a:stretch>
                <a:fillRect l="-34679" t="0" r="-34680" b="0"/>
              </a:stretch>
            </a:blipFill>
          </p:spPr>
        </p:sp>
        <p:sp>
          <p:nvSpPr>
            <p:cNvPr name="TextBox 55" id="55"/>
            <p:cNvSpPr txBox="true"/>
            <p:nvPr/>
          </p:nvSpPr>
          <p:spPr>
            <a:xfrm>
              <a:off x="0" y="-28575"/>
              <a:ext cx="1830235" cy="1236523"/>
            </a:xfrm>
            <a:prstGeom prst="rect">
              <a:avLst/>
            </a:prstGeom>
          </p:spPr>
          <p:txBody>
            <a:bodyPr anchor="ctr" rtlCol="false" tIns="0" lIns="0" bIns="0" rIns="0"/>
            <a:lstStyle/>
            <a:p>
              <a:pPr algn="ctr">
                <a:lnSpc>
                  <a:spcPts val="2972"/>
                </a:lnSpc>
              </a:pPr>
              <a:r>
                <a:rPr lang="en-US" sz="2251">
                  <a:solidFill>
                    <a:srgbClr val="6B6A66"/>
                  </a:solidFill>
                  <a:latin typeface="Inter"/>
                  <a:ea typeface="Inter"/>
                  <a:cs typeface="Inter"/>
                  <a:sym typeface="Inter"/>
                </a:rPr>
                <a:t>0.316</a:t>
              </a:r>
            </a:p>
          </p:txBody>
        </p:sp>
      </p:grpSp>
      <p:sp>
        <p:nvSpPr>
          <p:cNvPr name="TextBox 56" id="56"/>
          <p:cNvSpPr txBox="true"/>
          <p:nvPr/>
        </p:nvSpPr>
        <p:spPr>
          <a:xfrm rot="0">
            <a:off x="11393176" y="7873813"/>
            <a:ext cx="6108392" cy="1117187"/>
          </a:xfrm>
          <a:prstGeom prst="rect">
            <a:avLst/>
          </a:prstGeom>
        </p:spPr>
        <p:txBody>
          <a:bodyPr anchor="t" rtlCol="false" tIns="0" lIns="0" bIns="0" rIns="0">
            <a:spAutoFit/>
          </a:bodyPr>
          <a:lstStyle/>
          <a:p>
            <a:pPr algn="l">
              <a:lnSpc>
                <a:spcPts val="2377"/>
              </a:lnSpc>
            </a:pPr>
            <a:r>
              <a:rPr lang="en-US" sz="1801">
                <a:solidFill>
                  <a:srgbClr val="6B6A66"/>
                </a:solidFill>
                <a:latin typeface="Inter"/>
                <a:ea typeface="Inter"/>
                <a:cs typeface="Inter"/>
                <a:sym typeface="Inter"/>
              </a:rPr>
              <a:t>F1 macro. Azar con 4 clases = 0.25. Exactitud de XGBoost: 36 %.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CFCFB"/>
        </a:solidFill>
      </p:bgPr>
    </p:bg>
    <p:spTree>
      <p:nvGrpSpPr>
        <p:cNvPr id="1" name=""/>
        <p:cNvGrpSpPr/>
        <p:nvPr/>
      </p:nvGrpSpPr>
      <p:grpSpPr>
        <a:xfrm>
          <a:off x="0" y="0"/>
          <a:ext cx="0" cy="0"/>
          <a:chOff x="0" y="0"/>
          <a:chExt cx="0" cy="0"/>
        </a:xfrm>
      </p:grpSpPr>
      <p:grpSp>
        <p:nvGrpSpPr>
          <p:cNvPr name="Group 2" id="2"/>
          <p:cNvGrpSpPr/>
          <p:nvPr/>
        </p:nvGrpSpPr>
        <p:grpSpPr>
          <a:xfrm rot="0">
            <a:off x="823608" y="617706"/>
            <a:ext cx="109814" cy="439255"/>
            <a:chOff x="0" y="0"/>
            <a:chExt cx="146418" cy="585673"/>
          </a:xfrm>
        </p:grpSpPr>
        <p:sp>
          <p:nvSpPr>
            <p:cNvPr name="Freeform 3" id="3"/>
            <p:cNvSpPr/>
            <p:nvPr/>
          </p:nvSpPr>
          <p:spPr>
            <a:xfrm flipH="false" flipV="false" rot="0">
              <a:off x="0" y="0"/>
              <a:ext cx="146431" cy="585724"/>
            </a:xfrm>
            <a:custGeom>
              <a:avLst/>
              <a:gdLst/>
              <a:ahLst/>
              <a:cxnLst/>
              <a:rect r="r" b="b" t="t" l="l"/>
              <a:pathLst>
                <a:path h="585724" w="146431">
                  <a:moveTo>
                    <a:pt x="0" y="0"/>
                  </a:moveTo>
                  <a:lnTo>
                    <a:pt x="146431" y="0"/>
                  </a:lnTo>
                  <a:lnTo>
                    <a:pt x="146431" y="585724"/>
                  </a:lnTo>
                  <a:lnTo>
                    <a:pt x="0" y="585724"/>
                  </a:lnTo>
                  <a:close/>
                </a:path>
              </a:pathLst>
            </a:custGeom>
            <a:solidFill>
              <a:srgbClr val="2A78D6"/>
            </a:solidFill>
          </p:spPr>
        </p:sp>
      </p:grpSp>
      <p:sp>
        <p:nvSpPr>
          <p:cNvPr name="TextBox 4" id="4"/>
          <p:cNvSpPr txBox="true"/>
          <p:nvPr/>
        </p:nvSpPr>
        <p:spPr>
          <a:xfrm rot="0">
            <a:off x="1028700" y="684372"/>
            <a:ext cx="12354049" cy="286872"/>
          </a:xfrm>
          <a:prstGeom prst="rect">
            <a:avLst/>
          </a:prstGeom>
        </p:spPr>
        <p:txBody>
          <a:bodyPr anchor="t" rtlCol="false" tIns="0" lIns="0" bIns="0" rIns="0">
            <a:spAutoFit/>
          </a:bodyPr>
          <a:lstStyle/>
          <a:p>
            <a:pPr algn="l">
              <a:lnSpc>
                <a:spcPts val="2377"/>
              </a:lnSpc>
            </a:pPr>
            <a:r>
              <a:rPr lang="en-US" sz="1801" b="true">
                <a:solidFill>
                  <a:srgbClr val="2A78D6"/>
                </a:solidFill>
                <a:latin typeface="Inter Bold"/>
                <a:ea typeface="Inter Bold"/>
                <a:cs typeface="Inter Bold"/>
                <a:sym typeface="Inter Bold"/>
              </a:rPr>
              <a:t>5 · CONCLUSIONES Y TRABAJO FUTURO</a:t>
            </a:r>
          </a:p>
        </p:txBody>
      </p:sp>
      <p:sp>
        <p:nvSpPr>
          <p:cNvPr name="TextBox 5" id="5"/>
          <p:cNvSpPr txBox="true"/>
          <p:nvPr/>
        </p:nvSpPr>
        <p:spPr>
          <a:xfrm rot="0">
            <a:off x="823608" y="1178252"/>
            <a:ext cx="16609333" cy="1429826"/>
          </a:xfrm>
          <a:prstGeom prst="rect">
            <a:avLst/>
          </a:prstGeom>
        </p:spPr>
        <p:txBody>
          <a:bodyPr anchor="t" rtlCol="false" tIns="0" lIns="0" bIns="0" rIns="0">
            <a:spAutoFit/>
          </a:bodyPr>
          <a:lstStyle/>
          <a:p>
            <a:pPr algn="l">
              <a:lnSpc>
                <a:spcPts val="5944"/>
              </a:lnSpc>
            </a:pPr>
            <a:r>
              <a:rPr lang="en-US" sz="4503" b="true">
                <a:solidFill>
                  <a:srgbClr val="1F1F1D"/>
                </a:solidFill>
                <a:latin typeface="Inter Bold"/>
                <a:ea typeface="Inter Bold"/>
                <a:cs typeface="Inter Bold"/>
                <a:sym typeface="Inter Bold"/>
              </a:rPr>
              <a:t>Reconoce pase y saque; la disputa se confunde con fondo</a:t>
            </a:r>
          </a:p>
        </p:txBody>
      </p:sp>
      <p:sp>
        <p:nvSpPr>
          <p:cNvPr name="TextBox 6" id="6"/>
          <p:cNvSpPr txBox="true"/>
          <p:nvPr/>
        </p:nvSpPr>
        <p:spPr>
          <a:xfrm rot="0">
            <a:off x="16746607" y="9580131"/>
            <a:ext cx="823608" cy="440379"/>
          </a:xfrm>
          <a:prstGeom prst="rect">
            <a:avLst/>
          </a:prstGeom>
        </p:spPr>
        <p:txBody>
          <a:bodyPr anchor="t" rtlCol="false" tIns="0" lIns="0" bIns="0" rIns="0">
            <a:spAutoFit/>
          </a:bodyPr>
          <a:lstStyle/>
          <a:p>
            <a:pPr algn="r">
              <a:lnSpc>
                <a:spcPts val="2179"/>
              </a:lnSpc>
            </a:pPr>
            <a:r>
              <a:rPr lang="en-US" sz="1651">
                <a:solidFill>
                  <a:srgbClr val="6B6A66"/>
                </a:solidFill>
                <a:latin typeface="Inter"/>
                <a:ea typeface="Inter"/>
                <a:cs typeface="Inter"/>
                <a:sym typeface="Inter"/>
              </a:rPr>
              <a:t>11</a:t>
            </a:r>
          </a:p>
        </p:txBody>
      </p:sp>
      <p:grpSp>
        <p:nvGrpSpPr>
          <p:cNvPr name="Group 7" id="7"/>
          <p:cNvGrpSpPr/>
          <p:nvPr/>
        </p:nvGrpSpPr>
        <p:grpSpPr>
          <a:xfrm rot="0">
            <a:off x="823608" y="2676716"/>
            <a:ext cx="3980755" cy="1647206"/>
            <a:chOff x="0" y="0"/>
            <a:chExt cx="5307673" cy="2196274"/>
          </a:xfrm>
        </p:grpSpPr>
        <p:sp>
          <p:nvSpPr>
            <p:cNvPr name="Freeform 8" id="8"/>
            <p:cNvSpPr/>
            <p:nvPr/>
          </p:nvSpPr>
          <p:spPr>
            <a:xfrm flipH="false" flipV="false" rot="0">
              <a:off x="0" y="0"/>
              <a:ext cx="5307584" cy="2196211"/>
            </a:xfrm>
            <a:custGeom>
              <a:avLst/>
              <a:gdLst/>
              <a:ahLst/>
              <a:cxnLst/>
              <a:rect r="r" b="b" t="t" l="l"/>
              <a:pathLst>
                <a:path h="2196211" w="5307584">
                  <a:moveTo>
                    <a:pt x="0" y="219583"/>
                  </a:moveTo>
                  <a:cubicBezTo>
                    <a:pt x="0" y="98298"/>
                    <a:pt x="98298" y="0"/>
                    <a:pt x="219583" y="0"/>
                  </a:cubicBezTo>
                  <a:lnTo>
                    <a:pt x="5088001" y="0"/>
                  </a:lnTo>
                  <a:cubicBezTo>
                    <a:pt x="5209286" y="0"/>
                    <a:pt x="5307584" y="98298"/>
                    <a:pt x="5307584" y="219583"/>
                  </a:cubicBezTo>
                  <a:lnTo>
                    <a:pt x="5307584" y="1976628"/>
                  </a:lnTo>
                  <a:cubicBezTo>
                    <a:pt x="5307584" y="2097913"/>
                    <a:pt x="5209286" y="2196211"/>
                    <a:pt x="5088001" y="2196211"/>
                  </a:cubicBezTo>
                  <a:lnTo>
                    <a:pt x="219583" y="2196211"/>
                  </a:lnTo>
                  <a:cubicBezTo>
                    <a:pt x="98298" y="2196338"/>
                    <a:pt x="0" y="2097913"/>
                    <a:pt x="0" y="1976628"/>
                  </a:cubicBezTo>
                  <a:close/>
                </a:path>
              </a:pathLst>
            </a:custGeom>
            <a:solidFill>
              <a:srgbClr val="F0EFEC"/>
            </a:solidFill>
          </p:spPr>
        </p:sp>
      </p:grpSp>
      <p:grpSp>
        <p:nvGrpSpPr>
          <p:cNvPr name="Group 9" id="9"/>
          <p:cNvGrpSpPr/>
          <p:nvPr/>
        </p:nvGrpSpPr>
        <p:grpSpPr>
          <a:xfrm rot="0">
            <a:off x="823608" y="2676716"/>
            <a:ext cx="123539" cy="1647206"/>
            <a:chOff x="0" y="0"/>
            <a:chExt cx="164719" cy="2196274"/>
          </a:xfrm>
        </p:grpSpPr>
        <p:sp>
          <p:nvSpPr>
            <p:cNvPr name="Freeform 10" id="10"/>
            <p:cNvSpPr/>
            <p:nvPr/>
          </p:nvSpPr>
          <p:spPr>
            <a:xfrm flipH="false" flipV="false" rot="0">
              <a:off x="0" y="0"/>
              <a:ext cx="164719" cy="2196338"/>
            </a:xfrm>
            <a:custGeom>
              <a:avLst/>
              <a:gdLst/>
              <a:ahLst/>
              <a:cxnLst/>
              <a:rect r="r" b="b" t="t" l="l"/>
              <a:pathLst>
                <a:path h="2196338" w="164719">
                  <a:moveTo>
                    <a:pt x="0" y="0"/>
                  </a:moveTo>
                  <a:lnTo>
                    <a:pt x="164719" y="0"/>
                  </a:lnTo>
                  <a:lnTo>
                    <a:pt x="164719" y="2196338"/>
                  </a:lnTo>
                  <a:lnTo>
                    <a:pt x="0" y="2196338"/>
                  </a:lnTo>
                  <a:close/>
                </a:path>
              </a:pathLst>
            </a:custGeom>
            <a:solidFill>
              <a:srgbClr val="2A78D6"/>
            </a:solidFill>
          </p:spPr>
        </p:sp>
      </p:grpSp>
      <p:sp>
        <p:nvSpPr>
          <p:cNvPr name="TextBox 11" id="11"/>
          <p:cNvSpPr txBox="true"/>
          <p:nvPr/>
        </p:nvSpPr>
        <p:spPr>
          <a:xfrm rot="0">
            <a:off x="1235402" y="2688193"/>
            <a:ext cx="3431677" cy="784041"/>
          </a:xfrm>
          <a:prstGeom prst="rect">
            <a:avLst/>
          </a:prstGeom>
        </p:spPr>
        <p:txBody>
          <a:bodyPr anchor="t" rtlCol="false" tIns="0" lIns="0" bIns="0" rIns="0">
            <a:spAutoFit/>
          </a:bodyPr>
          <a:lstStyle/>
          <a:p>
            <a:pPr algn="ctr">
              <a:lnSpc>
                <a:spcPts val="6340"/>
              </a:lnSpc>
            </a:pPr>
            <a:r>
              <a:rPr lang="en-US" sz="4803" b="true">
                <a:solidFill>
                  <a:srgbClr val="2A78D6"/>
                </a:solidFill>
                <a:latin typeface="Inter Bold"/>
                <a:ea typeface="Inter Bold"/>
                <a:cs typeface="Inter Bold"/>
                <a:sym typeface="Inter Bold"/>
              </a:rPr>
              <a:t>0.45</a:t>
            </a:r>
          </a:p>
        </p:txBody>
      </p:sp>
      <p:sp>
        <p:nvSpPr>
          <p:cNvPr name="TextBox 12" id="12"/>
          <p:cNvSpPr txBox="true"/>
          <p:nvPr/>
        </p:nvSpPr>
        <p:spPr>
          <a:xfrm rot="0">
            <a:off x="1235402" y="3609003"/>
            <a:ext cx="3431677" cy="322684"/>
          </a:xfrm>
          <a:prstGeom prst="rect">
            <a:avLst/>
          </a:prstGeom>
        </p:spPr>
        <p:txBody>
          <a:bodyPr anchor="t" rtlCol="false" tIns="0" lIns="0" bIns="0" rIns="0">
            <a:spAutoFit/>
          </a:bodyPr>
          <a:lstStyle/>
          <a:p>
            <a:pPr algn="ctr">
              <a:lnSpc>
                <a:spcPts val="2576"/>
              </a:lnSpc>
            </a:pPr>
            <a:r>
              <a:rPr lang="en-US" sz="1951">
                <a:solidFill>
                  <a:srgbClr val="6B6A66"/>
                </a:solidFill>
                <a:latin typeface="Inter"/>
                <a:ea typeface="Inter"/>
                <a:cs typeface="Inter"/>
                <a:sym typeface="Inter"/>
              </a:rPr>
              <a:t>F1 · Pase</a:t>
            </a:r>
          </a:p>
        </p:txBody>
      </p:sp>
      <p:grpSp>
        <p:nvGrpSpPr>
          <p:cNvPr name="Group 13" id="13"/>
          <p:cNvGrpSpPr/>
          <p:nvPr/>
        </p:nvGrpSpPr>
        <p:grpSpPr>
          <a:xfrm rot="0">
            <a:off x="5051431" y="2676716"/>
            <a:ext cx="3980755" cy="1647206"/>
            <a:chOff x="0" y="0"/>
            <a:chExt cx="5307673" cy="2196274"/>
          </a:xfrm>
        </p:grpSpPr>
        <p:sp>
          <p:nvSpPr>
            <p:cNvPr name="Freeform 14" id="14"/>
            <p:cNvSpPr/>
            <p:nvPr/>
          </p:nvSpPr>
          <p:spPr>
            <a:xfrm flipH="false" flipV="false" rot="0">
              <a:off x="0" y="0"/>
              <a:ext cx="5307584" cy="2196211"/>
            </a:xfrm>
            <a:custGeom>
              <a:avLst/>
              <a:gdLst/>
              <a:ahLst/>
              <a:cxnLst/>
              <a:rect r="r" b="b" t="t" l="l"/>
              <a:pathLst>
                <a:path h="2196211" w="5307584">
                  <a:moveTo>
                    <a:pt x="0" y="219583"/>
                  </a:moveTo>
                  <a:cubicBezTo>
                    <a:pt x="0" y="98298"/>
                    <a:pt x="98298" y="0"/>
                    <a:pt x="219583" y="0"/>
                  </a:cubicBezTo>
                  <a:lnTo>
                    <a:pt x="5088001" y="0"/>
                  </a:lnTo>
                  <a:cubicBezTo>
                    <a:pt x="5209286" y="0"/>
                    <a:pt x="5307584" y="98298"/>
                    <a:pt x="5307584" y="219583"/>
                  </a:cubicBezTo>
                  <a:lnTo>
                    <a:pt x="5307584" y="1976628"/>
                  </a:lnTo>
                  <a:cubicBezTo>
                    <a:pt x="5307584" y="2097913"/>
                    <a:pt x="5209286" y="2196211"/>
                    <a:pt x="5088001" y="2196211"/>
                  </a:cubicBezTo>
                  <a:lnTo>
                    <a:pt x="219583" y="2196211"/>
                  </a:lnTo>
                  <a:cubicBezTo>
                    <a:pt x="98298" y="2196338"/>
                    <a:pt x="0" y="2097913"/>
                    <a:pt x="0" y="1976628"/>
                  </a:cubicBezTo>
                  <a:close/>
                </a:path>
              </a:pathLst>
            </a:custGeom>
            <a:solidFill>
              <a:srgbClr val="F0EFEC"/>
            </a:solidFill>
          </p:spPr>
        </p:sp>
      </p:grpSp>
      <p:grpSp>
        <p:nvGrpSpPr>
          <p:cNvPr name="Group 15" id="15"/>
          <p:cNvGrpSpPr/>
          <p:nvPr/>
        </p:nvGrpSpPr>
        <p:grpSpPr>
          <a:xfrm rot="0">
            <a:off x="5051431" y="2676716"/>
            <a:ext cx="123539" cy="1647206"/>
            <a:chOff x="0" y="0"/>
            <a:chExt cx="164719" cy="2196274"/>
          </a:xfrm>
        </p:grpSpPr>
        <p:sp>
          <p:nvSpPr>
            <p:cNvPr name="Freeform 16" id="16"/>
            <p:cNvSpPr/>
            <p:nvPr/>
          </p:nvSpPr>
          <p:spPr>
            <a:xfrm flipH="false" flipV="false" rot="0">
              <a:off x="0" y="0"/>
              <a:ext cx="164719" cy="2196338"/>
            </a:xfrm>
            <a:custGeom>
              <a:avLst/>
              <a:gdLst/>
              <a:ahLst/>
              <a:cxnLst/>
              <a:rect r="r" b="b" t="t" l="l"/>
              <a:pathLst>
                <a:path h="2196338" w="164719">
                  <a:moveTo>
                    <a:pt x="0" y="0"/>
                  </a:moveTo>
                  <a:lnTo>
                    <a:pt x="164719" y="0"/>
                  </a:lnTo>
                  <a:lnTo>
                    <a:pt x="164719" y="2196338"/>
                  </a:lnTo>
                  <a:lnTo>
                    <a:pt x="0" y="2196338"/>
                  </a:lnTo>
                  <a:close/>
                </a:path>
              </a:pathLst>
            </a:custGeom>
            <a:solidFill>
              <a:srgbClr val="1BAF7A"/>
            </a:solidFill>
          </p:spPr>
        </p:sp>
      </p:grpSp>
      <p:sp>
        <p:nvSpPr>
          <p:cNvPr name="TextBox 17" id="17"/>
          <p:cNvSpPr txBox="true"/>
          <p:nvPr/>
        </p:nvSpPr>
        <p:spPr>
          <a:xfrm rot="0">
            <a:off x="5463235" y="2688193"/>
            <a:ext cx="3431677" cy="784041"/>
          </a:xfrm>
          <a:prstGeom prst="rect">
            <a:avLst/>
          </a:prstGeom>
        </p:spPr>
        <p:txBody>
          <a:bodyPr anchor="t" rtlCol="false" tIns="0" lIns="0" bIns="0" rIns="0">
            <a:spAutoFit/>
          </a:bodyPr>
          <a:lstStyle/>
          <a:p>
            <a:pPr algn="ctr">
              <a:lnSpc>
                <a:spcPts val="6340"/>
              </a:lnSpc>
            </a:pPr>
            <a:r>
              <a:rPr lang="en-US" sz="4803" b="true">
                <a:solidFill>
                  <a:srgbClr val="1BAF7A"/>
                </a:solidFill>
                <a:latin typeface="Inter Bold"/>
                <a:ea typeface="Inter Bold"/>
                <a:cs typeface="Inter Bold"/>
                <a:sym typeface="Inter Bold"/>
              </a:rPr>
              <a:t>0.44</a:t>
            </a:r>
          </a:p>
        </p:txBody>
      </p:sp>
      <p:sp>
        <p:nvSpPr>
          <p:cNvPr name="TextBox 18" id="18"/>
          <p:cNvSpPr txBox="true"/>
          <p:nvPr/>
        </p:nvSpPr>
        <p:spPr>
          <a:xfrm rot="0">
            <a:off x="5463235" y="3609003"/>
            <a:ext cx="3431677" cy="322684"/>
          </a:xfrm>
          <a:prstGeom prst="rect">
            <a:avLst/>
          </a:prstGeom>
        </p:spPr>
        <p:txBody>
          <a:bodyPr anchor="t" rtlCol="false" tIns="0" lIns="0" bIns="0" rIns="0">
            <a:spAutoFit/>
          </a:bodyPr>
          <a:lstStyle/>
          <a:p>
            <a:pPr algn="ctr">
              <a:lnSpc>
                <a:spcPts val="2576"/>
              </a:lnSpc>
            </a:pPr>
            <a:r>
              <a:rPr lang="en-US" sz="1951">
                <a:solidFill>
                  <a:srgbClr val="6B6A66"/>
                </a:solidFill>
                <a:latin typeface="Inter"/>
                <a:ea typeface="Inter"/>
                <a:cs typeface="Inter"/>
                <a:sym typeface="Inter"/>
              </a:rPr>
              <a:t>F1 · Saque de banda</a:t>
            </a:r>
          </a:p>
        </p:txBody>
      </p:sp>
      <p:grpSp>
        <p:nvGrpSpPr>
          <p:cNvPr name="Group 19" id="19"/>
          <p:cNvGrpSpPr/>
          <p:nvPr/>
        </p:nvGrpSpPr>
        <p:grpSpPr>
          <a:xfrm rot="0">
            <a:off x="9279265" y="2676716"/>
            <a:ext cx="3980755" cy="1647206"/>
            <a:chOff x="0" y="0"/>
            <a:chExt cx="5307673" cy="2196274"/>
          </a:xfrm>
        </p:grpSpPr>
        <p:sp>
          <p:nvSpPr>
            <p:cNvPr name="Freeform 20" id="20"/>
            <p:cNvSpPr/>
            <p:nvPr/>
          </p:nvSpPr>
          <p:spPr>
            <a:xfrm flipH="false" flipV="false" rot="0">
              <a:off x="0" y="0"/>
              <a:ext cx="5307584" cy="2196211"/>
            </a:xfrm>
            <a:custGeom>
              <a:avLst/>
              <a:gdLst/>
              <a:ahLst/>
              <a:cxnLst/>
              <a:rect r="r" b="b" t="t" l="l"/>
              <a:pathLst>
                <a:path h="2196211" w="5307584">
                  <a:moveTo>
                    <a:pt x="0" y="219583"/>
                  </a:moveTo>
                  <a:cubicBezTo>
                    <a:pt x="0" y="98298"/>
                    <a:pt x="98298" y="0"/>
                    <a:pt x="219583" y="0"/>
                  </a:cubicBezTo>
                  <a:lnTo>
                    <a:pt x="5088001" y="0"/>
                  </a:lnTo>
                  <a:cubicBezTo>
                    <a:pt x="5209286" y="0"/>
                    <a:pt x="5307584" y="98298"/>
                    <a:pt x="5307584" y="219583"/>
                  </a:cubicBezTo>
                  <a:lnTo>
                    <a:pt x="5307584" y="1976628"/>
                  </a:lnTo>
                  <a:cubicBezTo>
                    <a:pt x="5307584" y="2097913"/>
                    <a:pt x="5209286" y="2196211"/>
                    <a:pt x="5088001" y="2196211"/>
                  </a:cubicBezTo>
                  <a:lnTo>
                    <a:pt x="219583" y="2196211"/>
                  </a:lnTo>
                  <a:cubicBezTo>
                    <a:pt x="98298" y="2196338"/>
                    <a:pt x="0" y="2097913"/>
                    <a:pt x="0" y="1976628"/>
                  </a:cubicBezTo>
                  <a:close/>
                </a:path>
              </a:pathLst>
            </a:custGeom>
            <a:solidFill>
              <a:srgbClr val="F0EFEC"/>
            </a:solidFill>
          </p:spPr>
        </p:sp>
      </p:grpSp>
      <p:grpSp>
        <p:nvGrpSpPr>
          <p:cNvPr name="Group 21" id="21"/>
          <p:cNvGrpSpPr/>
          <p:nvPr/>
        </p:nvGrpSpPr>
        <p:grpSpPr>
          <a:xfrm rot="0">
            <a:off x="9279265" y="2676716"/>
            <a:ext cx="123539" cy="1647206"/>
            <a:chOff x="0" y="0"/>
            <a:chExt cx="164719" cy="2196274"/>
          </a:xfrm>
        </p:grpSpPr>
        <p:sp>
          <p:nvSpPr>
            <p:cNvPr name="Freeform 22" id="22"/>
            <p:cNvSpPr/>
            <p:nvPr/>
          </p:nvSpPr>
          <p:spPr>
            <a:xfrm flipH="false" flipV="false" rot="0">
              <a:off x="0" y="0"/>
              <a:ext cx="164719" cy="2196338"/>
            </a:xfrm>
            <a:custGeom>
              <a:avLst/>
              <a:gdLst/>
              <a:ahLst/>
              <a:cxnLst/>
              <a:rect r="r" b="b" t="t" l="l"/>
              <a:pathLst>
                <a:path h="2196338" w="164719">
                  <a:moveTo>
                    <a:pt x="0" y="0"/>
                  </a:moveTo>
                  <a:lnTo>
                    <a:pt x="164719" y="0"/>
                  </a:lnTo>
                  <a:lnTo>
                    <a:pt x="164719" y="2196338"/>
                  </a:lnTo>
                  <a:lnTo>
                    <a:pt x="0" y="2196338"/>
                  </a:lnTo>
                  <a:close/>
                </a:path>
              </a:pathLst>
            </a:custGeom>
            <a:solidFill>
              <a:srgbClr val="8B8A85"/>
            </a:solidFill>
          </p:spPr>
        </p:sp>
      </p:grpSp>
      <p:sp>
        <p:nvSpPr>
          <p:cNvPr name="TextBox 23" id="23"/>
          <p:cNvSpPr txBox="true"/>
          <p:nvPr/>
        </p:nvSpPr>
        <p:spPr>
          <a:xfrm rot="0">
            <a:off x="9691068" y="2688193"/>
            <a:ext cx="3431677" cy="784041"/>
          </a:xfrm>
          <a:prstGeom prst="rect">
            <a:avLst/>
          </a:prstGeom>
        </p:spPr>
        <p:txBody>
          <a:bodyPr anchor="t" rtlCol="false" tIns="0" lIns="0" bIns="0" rIns="0">
            <a:spAutoFit/>
          </a:bodyPr>
          <a:lstStyle/>
          <a:p>
            <a:pPr algn="ctr">
              <a:lnSpc>
                <a:spcPts val="6340"/>
              </a:lnSpc>
            </a:pPr>
            <a:r>
              <a:rPr lang="en-US" sz="4803" b="true">
                <a:solidFill>
                  <a:srgbClr val="8B8A85"/>
                </a:solidFill>
                <a:latin typeface="Inter Bold"/>
                <a:ea typeface="Inter Bold"/>
                <a:cs typeface="Inter Bold"/>
                <a:sym typeface="Inter Bold"/>
              </a:rPr>
              <a:t>0.38</a:t>
            </a:r>
          </a:p>
        </p:txBody>
      </p:sp>
      <p:sp>
        <p:nvSpPr>
          <p:cNvPr name="TextBox 24" id="24"/>
          <p:cNvSpPr txBox="true"/>
          <p:nvPr/>
        </p:nvSpPr>
        <p:spPr>
          <a:xfrm rot="0">
            <a:off x="9691068" y="3609003"/>
            <a:ext cx="3431677" cy="322684"/>
          </a:xfrm>
          <a:prstGeom prst="rect">
            <a:avLst/>
          </a:prstGeom>
        </p:spPr>
        <p:txBody>
          <a:bodyPr anchor="t" rtlCol="false" tIns="0" lIns="0" bIns="0" rIns="0">
            <a:spAutoFit/>
          </a:bodyPr>
          <a:lstStyle/>
          <a:p>
            <a:pPr algn="ctr">
              <a:lnSpc>
                <a:spcPts val="2576"/>
              </a:lnSpc>
            </a:pPr>
            <a:r>
              <a:rPr lang="en-US" sz="1951">
                <a:solidFill>
                  <a:srgbClr val="6B6A66"/>
                </a:solidFill>
                <a:latin typeface="Inter"/>
                <a:ea typeface="Inter"/>
                <a:cs typeface="Inter"/>
                <a:sym typeface="Inter"/>
              </a:rPr>
              <a:t>F1 · Fondo</a:t>
            </a:r>
          </a:p>
        </p:txBody>
      </p:sp>
      <p:grpSp>
        <p:nvGrpSpPr>
          <p:cNvPr name="Group 25" id="25"/>
          <p:cNvGrpSpPr/>
          <p:nvPr/>
        </p:nvGrpSpPr>
        <p:grpSpPr>
          <a:xfrm rot="0">
            <a:off x="13507098" y="2676716"/>
            <a:ext cx="3980755" cy="1647206"/>
            <a:chOff x="0" y="0"/>
            <a:chExt cx="5307673" cy="2196274"/>
          </a:xfrm>
        </p:grpSpPr>
        <p:sp>
          <p:nvSpPr>
            <p:cNvPr name="Freeform 26" id="26"/>
            <p:cNvSpPr/>
            <p:nvPr/>
          </p:nvSpPr>
          <p:spPr>
            <a:xfrm flipH="false" flipV="false" rot="0">
              <a:off x="0" y="0"/>
              <a:ext cx="5307584" cy="2196211"/>
            </a:xfrm>
            <a:custGeom>
              <a:avLst/>
              <a:gdLst/>
              <a:ahLst/>
              <a:cxnLst/>
              <a:rect r="r" b="b" t="t" l="l"/>
              <a:pathLst>
                <a:path h="2196211" w="5307584">
                  <a:moveTo>
                    <a:pt x="0" y="219583"/>
                  </a:moveTo>
                  <a:cubicBezTo>
                    <a:pt x="0" y="98298"/>
                    <a:pt x="98298" y="0"/>
                    <a:pt x="219583" y="0"/>
                  </a:cubicBezTo>
                  <a:lnTo>
                    <a:pt x="5088001" y="0"/>
                  </a:lnTo>
                  <a:cubicBezTo>
                    <a:pt x="5209286" y="0"/>
                    <a:pt x="5307584" y="98298"/>
                    <a:pt x="5307584" y="219583"/>
                  </a:cubicBezTo>
                  <a:lnTo>
                    <a:pt x="5307584" y="1976628"/>
                  </a:lnTo>
                  <a:cubicBezTo>
                    <a:pt x="5307584" y="2097913"/>
                    <a:pt x="5209286" y="2196211"/>
                    <a:pt x="5088001" y="2196211"/>
                  </a:cubicBezTo>
                  <a:lnTo>
                    <a:pt x="219583" y="2196211"/>
                  </a:lnTo>
                  <a:cubicBezTo>
                    <a:pt x="98298" y="2196338"/>
                    <a:pt x="0" y="2097913"/>
                    <a:pt x="0" y="1976628"/>
                  </a:cubicBezTo>
                  <a:close/>
                </a:path>
              </a:pathLst>
            </a:custGeom>
            <a:solidFill>
              <a:srgbClr val="F0EFEC"/>
            </a:solidFill>
          </p:spPr>
        </p:sp>
      </p:grpSp>
      <p:grpSp>
        <p:nvGrpSpPr>
          <p:cNvPr name="Group 27" id="27"/>
          <p:cNvGrpSpPr/>
          <p:nvPr/>
        </p:nvGrpSpPr>
        <p:grpSpPr>
          <a:xfrm rot="0">
            <a:off x="13507098" y="2676716"/>
            <a:ext cx="123539" cy="1647206"/>
            <a:chOff x="0" y="0"/>
            <a:chExt cx="164719" cy="2196274"/>
          </a:xfrm>
        </p:grpSpPr>
        <p:sp>
          <p:nvSpPr>
            <p:cNvPr name="Freeform 28" id="28"/>
            <p:cNvSpPr/>
            <p:nvPr/>
          </p:nvSpPr>
          <p:spPr>
            <a:xfrm flipH="false" flipV="false" rot="0">
              <a:off x="0" y="0"/>
              <a:ext cx="164719" cy="2196338"/>
            </a:xfrm>
            <a:custGeom>
              <a:avLst/>
              <a:gdLst/>
              <a:ahLst/>
              <a:cxnLst/>
              <a:rect r="r" b="b" t="t" l="l"/>
              <a:pathLst>
                <a:path h="2196338" w="164719">
                  <a:moveTo>
                    <a:pt x="0" y="0"/>
                  </a:moveTo>
                  <a:lnTo>
                    <a:pt x="164719" y="0"/>
                  </a:lnTo>
                  <a:lnTo>
                    <a:pt x="164719" y="2196338"/>
                  </a:lnTo>
                  <a:lnTo>
                    <a:pt x="0" y="2196338"/>
                  </a:lnTo>
                  <a:close/>
                </a:path>
              </a:pathLst>
            </a:custGeom>
            <a:solidFill>
              <a:srgbClr val="EB6834"/>
            </a:solidFill>
          </p:spPr>
        </p:sp>
      </p:grpSp>
      <p:sp>
        <p:nvSpPr>
          <p:cNvPr name="TextBox 29" id="29"/>
          <p:cNvSpPr txBox="true"/>
          <p:nvPr/>
        </p:nvSpPr>
        <p:spPr>
          <a:xfrm rot="0">
            <a:off x="13918902" y="2688193"/>
            <a:ext cx="3431677" cy="784041"/>
          </a:xfrm>
          <a:prstGeom prst="rect">
            <a:avLst/>
          </a:prstGeom>
        </p:spPr>
        <p:txBody>
          <a:bodyPr anchor="t" rtlCol="false" tIns="0" lIns="0" bIns="0" rIns="0">
            <a:spAutoFit/>
          </a:bodyPr>
          <a:lstStyle/>
          <a:p>
            <a:pPr algn="ctr">
              <a:lnSpc>
                <a:spcPts val="6340"/>
              </a:lnSpc>
            </a:pPr>
            <a:r>
              <a:rPr lang="en-US" sz="4803" b="true">
                <a:solidFill>
                  <a:srgbClr val="EB6834"/>
                </a:solidFill>
                <a:latin typeface="Inter Bold"/>
                <a:ea typeface="Inter Bold"/>
                <a:cs typeface="Inter Bold"/>
                <a:sym typeface="Inter Bold"/>
              </a:rPr>
              <a:t>0.12</a:t>
            </a:r>
          </a:p>
        </p:txBody>
      </p:sp>
      <p:sp>
        <p:nvSpPr>
          <p:cNvPr name="TextBox 30" id="30"/>
          <p:cNvSpPr txBox="true"/>
          <p:nvPr/>
        </p:nvSpPr>
        <p:spPr>
          <a:xfrm rot="0">
            <a:off x="13918902" y="3609003"/>
            <a:ext cx="3431677" cy="322684"/>
          </a:xfrm>
          <a:prstGeom prst="rect">
            <a:avLst/>
          </a:prstGeom>
        </p:spPr>
        <p:txBody>
          <a:bodyPr anchor="t" rtlCol="false" tIns="0" lIns="0" bIns="0" rIns="0">
            <a:spAutoFit/>
          </a:bodyPr>
          <a:lstStyle/>
          <a:p>
            <a:pPr algn="ctr">
              <a:lnSpc>
                <a:spcPts val="2576"/>
              </a:lnSpc>
            </a:pPr>
            <a:r>
              <a:rPr lang="en-US" sz="1951">
                <a:solidFill>
                  <a:srgbClr val="6B6A66"/>
                </a:solidFill>
                <a:latin typeface="Inter"/>
                <a:ea typeface="Inter"/>
                <a:cs typeface="Inter"/>
                <a:sym typeface="Inter"/>
              </a:rPr>
              <a:t>F1 · Disputa</a:t>
            </a:r>
          </a:p>
        </p:txBody>
      </p:sp>
      <p:grpSp>
        <p:nvGrpSpPr>
          <p:cNvPr name="Group 31" id="31"/>
          <p:cNvGrpSpPr/>
          <p:nvPr/>
        </p:nvGrpSpPr>
        <p:grpSpPr>
          <a:xfrm rot="0">
            <a:off x="823608" y="4598451"/>
            <a:ext cx="16650519" cy="4884915"/>
            <a:chOff x="0" y="0"/>
            <a:chExt cx="22200692" cy="6513220"/>
          </a:xfrm>
        </p:grpSpPr>
        <p:sp>
          <p:nvSpPr>
            <p:cNvPr name="Freeform 32" id="32" descr="22_matrices_confusion.png"/>
            <p:cNvSpPr/>
            <p:nvPr/>
          </p:nvSpPr>
          <p:spPr>
            <a:xfrm flipH="false" flipV="false" rot="0">
              <a:off x="0" y="0"/>
              <a:ext cx="22200743" cy="6513195"/>
            </a:xfrm>
            <a:custGeom>
              <a:avLst/>
              <a:gdLst/>
              <a:ahLst/>
              <a:cxnLst/>
              <a:rect r="r" b="b" t="t" l="l"/>
              <a:pathLst>
                <a:path h="6513195" w="22200743">
                  <a:moveTo>
                    <a:pt x="0" y="0"/>
                  </a:moveTo>
                  <a:lnTo>
                    <a:pt x="22200743" y="0"/>
                  </a:lnTo>
                  <a:lnTo>
                    <a:pt x="22200743" y="6513195"/>
                  </a:lnTo>
                  <a:lnTo>
                    <a:pt x="0" y="6513195"/>
                  </a:lnTo>
                  <a:lnTo>
                    <a:pt x="0" y="0"/>
                  </a:lnTo>
                  <a:close/>
                </a:path>
              </a:pathLst>
            </a:custGeom>
            <a:blipFill>
              <a:blip r:embed="rId3"/>
              <a:stretch>
                <a:fillRect l="0" t="0" r="0" b="0"/>
              </a:stretch>
            </a:blipFill>
          </p:spPr>
        </p:sp>
      </p:grpSp>
      <p:sp>
        <p:nvSpPr>
          <p:cNvPr name="TextBox 33" id="33"/>
          <p:cNvSpPr txBox="true"/>
          <p:nvPr/>
        </p:nvSpPr>
        <p:spPr>
          <a:xfrm rot="0">
            <a:off x="823608" y="9511494"/>
            <a:ext cx="15099392" cy="509006"/>
          </a:xfrm>
          <a:prstGeom prst="rect">
            <a:avLst/>
          </a:prstGeom>
        </p:spPr>
        <p:txBody>
          <a:bodyPr anchor="t" rtlCol="false" tIns="0" lIns="0" bIns="0" rIns="0">
            <a:spAutoFit/>
          </a:bodyPr>
          <a:lstStyle/>
          <a:p>
            <a:pPr algn="l">
              <a:lnSpc>
                <a:spcPts val="2179"/>
              </a:lnSpc>
            </a:pPr>
            <a:r>
              <a:rPr lang="en-US" sz="1651">
                <a:solidFill>
                  <a:srgbClr val="6B6A66"/>
                </a:solidFill>
                <a:latin typeface="Inter"/>
                <a:ea typeface="Inter"/>
                <a:cs typeface="Inter"/>
                <a:sym typeface="Inter"/>
              </a:rPr>
              <a:t>Arriba: F1 por clase de XGBoost. Abajo: matrices de confusión en el partido de prueba (conteo y % por fila).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CFCFB"/>
        </a:solidFill>
      </p:bgPr>
    </p:bg>
    <p:spTree>
      <p:nvGrpSpPr>
        <p:cNvPr id="1" name=""/>
        <p:cNvGrpSpPr/>
        <p:nvPr/>
      </p:nvGrpSpPr>
      <p:grpSpPr>
        <a:xfrm>
          <a:off x="0" y="0"/>
          <a:ext cx="0" cy="0"/>
          <a:chOff x="0" y="0"/>
          <a:chExt cx="0" cy="0"/>
        </a:xfrm>
      </p:grpSpPr>
      <p:grpSp>
        <p:nvGrpSpPr>
          <p:cNvPr name="Group 2" id="2"/>
          <p:cNvGrpSpPr/>
          <p:nvPr/>
        </p:nvGrpSpPr>
        <p:grpSpPr>
          <a:xfrm rot="0">
            <a:off x="823608" y="617706"/>
            <a:ext cx="109814" cy="439255"/>
            <a:chOff x="0" y="0"/>
            <a:chExt cx="146418" cy="585673"/>
          </a:xfrm>
        </p:grpSpPr>
        <p:sp>
          <p:nvSpPr>
            <p:cNvPr name="Freeform 3" id="3"/>
            <p:cNvSpPr/>
            <p:nvPr/>
          </p:nvSpPr>
          <p:spPr>
            <a:xfrm flipH="false" flipV="false" rot="0">
              <a:off x="0" y="0"/>
              <a:ext cx="146431" cy="585724"/>
            </a:xfrm>
            <a:custGeom>
              <a:avLst/>
              <a:gdLst/>
              <a:ahLst/>
              <a:cxnLst/>
              <a:rect r="r" b="b" t="t" l="l"/>
              <a:pathLst>
                <a:path h="585724" w="146431">
                  <a:moveTo>
                    <a:pt x="0" y="0"/>
                  </a:moveTo>
                  <a:lnTo>
                    <a:pt x="146431" y="0"/>
                  </a:lnTo>
                  <a:lnTo>
                    <a:pt x="146431" y="585724"/>
                  </a:lnTo>
                  <a:lnTo>
                    <a:pt x="0" y="585724"/>
                  </a:lnTo>
                  <a:close/>
                </a:path>
              </a:pathLst>
            </a:custGeom>
            <a:solidFill>
              <a:srgbClr val="2A78D6"/>
            </a:solidFill>
          </p:spPr>
        </p:sp>
      </p:grpSp>
      <p:sp>
        <p:nvSpPr>
          <p:cNvPr name="TextBox 4" id="4"/>
          <p:cNvSpPr txBox="true"/>
          <p:nvPr/>
        </p:nvSpPr>
        <p:spPr>
          <a:xfrm rot="0">
            <a:off x="1028700" y="684372"/>
            <a:ext cx="12354049" cy="286872"/>
          </a:xfrm>
          <a:prstGeom prst="rect">
            <a:avLst/>
          </a:prstGeom>
        </p:spPr>
        <p:txBody>
          <a:bodyPr anchor="t" rtlCol="false" tIns="0" lIns="0" bIns="0" rIns="0">
            <a:spAutoFit/>
          </a:bodyPr>
          <a:lstStyle/>
          <a:p>
            <a:pPr algn="l">
              <a:lnSpc>
                <a:spcPts val="2377"/>
              </a:lnSpc>
            </a:pPr>
            <a:r>
              <a:rPr lang="en-US" sz="1801" b="true">
                <a:solidFill>
                  <a:srgbClr val="2A78D6"/>
                </a:solidFill>
                <a:latin typeface="Inter Bold"/>
                <a:ea typeface="Inter Bold"/>
                <a:cs typeface="Inter Bold"/>
                <a:sym typeface="Inter Bold"/>
              </a:rPr>
              <a:t>5 · CONCLUSIONES Y TRABAJO FUTURO</a:t>
            </a:r>
            <a:r>
              <a:rPr lang="en-US" sz="1801">
                <a:solidFill>
                  <a:srgbClr val="6B6A66"/>
                </a:solidFill>
                <a:latin typeface="Inter"/>
                <a:ea typeface="Inter"/>
                <a:cs typeface="Inter"/>
                <a:sym typeface="Inter"/>
              </a:rPr>
              <a:t> </a:t>
            </a:r>
          </a:p>
        </p:txBody>
      </p:sp>
      <p:sp>
        <p:nvSpPr>
          <p:cNvPr name="TextBox 5" id="5"/>
          <p:cNvSpPr txBox="true"/>
          <p:nvPr/>
        </p:nvSpPr>
        <p:spPr>
          <a:xfrm rot="0">
            <a:off x="823608" y="1178252"/>
            <a:ext cx="16609333" cy="740991"/>
          </a:xfrm>
          <a:prstGeom prst="rect">
            <a:avLst/>
          </a:prstGeom>
        </p:spPr>
        <p:txBody>
          <a:bodyPr anchor="t" rtlCol="false" tIns="0" lIns="0" bIns="0" rIns="0">
            <a:spAutoFit/>
          </a:bodyPr>
          <a:lstStyle/>
          <a:p>
            <a:pPr algn="l">
              <a:lnSpc>
                <a:spcPts val="5944"/>
              </a:lnSpc>
            </a:pPr>
            <a:r>
              <a:rPr lang="en-US" sz="4503" b="true">
                <a:solidFill>
                  <a:srgbClr val="1F1F1D"/>
                </a:solidFill>
                <a:latin typeface="Inter Bold"/>
                <a:ea typeface="Inter Bold"/>
                <a:cs typeface="Inter Bold"/>
                <a:sym typeface="Inter Bold"/>
              </a:rPr>
              <a:t>Conclusiones y trabajo futuro</a:t>
            </a:r>
          </a:p>
        </p:txBody>
      </p:sp>
      <p:sp>
        <p:nvSpPr>
          <p:cNvPr name="TextBox 6" id="6"/>
          <p:cNvSpPr txBox="true"/>
          <p:nvPr/>
        </p:nvSpPr>
        <p:spPr>
          <a:xfrm rot="0">
            <a:off x="16746607" y="9580131"/>
            <a:ext cx="823608" cy="440379"/>
          </a:xfrm>
          <a:prstGeom prst="rect">
            <a:avLst/>
          </a:prstGeom>
        </p:spPr>
        <p:txBody>
          <a:bodyPr anchor="t" rtlCol="false" tIns="0" lIns="0" bIns="0" rIns="0">
            <a:spAutoFit/>
          </a:bodyPr>
          <a:lstStyle/>
          <a:p>
            <a:pPr algn="r">
              <a:lnSpc>
                <a:spcPts val="2179"/>
              </a:lnSpc>
            </a:pPr>
            <a:r>
              <a:rPr lang="en-US" sz="1651">
                <a:solidFill>
                  <a:srgbClr val="6B6A66"/>
                </a:solidFill>
                <a:latin typeface="Inter"/>
                <a:ea typeface="Inter"/>
                <a:cs typeface="Inter"/>
                <a:sym typeface="Inter"/>
              </a:rPr>
              <a:t>12</a:t>
            </a:r>
          </a:p>
        </p:txBody>
      </p:sp>
      <p:grpSp>
        <p:nvGrpSpPr>
          <p:cNvPr name="Group 7" id="7"/>
          <p:cNvGrpSpPr/>
          <p:nvPr/>
        </p:nvGrpSpPr>
        <p:grpSpPr>
          <a:xfrm rot="0">
            <a:off x="1169324" y="2503877"/>
            <a:ext cx="3831232" cy="3912118"/>
            <a:chOff x="0" y="0"/>
            <a:chExt cx="5108310" cy="5216157"/>
          </a:xfrm>
        </p:grpSpPr>
        <p:sp>
          <p:nvSpPr>
            <p:cNvPr name="Freeform 8" id="8"/>
            <p:cNvSpPr/>
            <p:nvPr/>
          </p:nvSpPr>
          <p:spPr>
            <a:xfrm flipH="false" flipV="false" rot="0">
              <a:off x="0" y="0"/>
              <a:ext cx="5108323" cy="5216144"/>
            </a:xfrm>
            <a:custGeom>
              <a:avLst/>
              <a:gdLst/>
              <a:ahLst/>
              <a:cxnLst/>
              <a:rect r="r" b="b" t="t" l="l"/>
              <a:pathLst>
                <a:path h="5216144" w="5108323">
                  <a:moveTo>
                    <a:pt x="0" y="312928"/>
                  </a:moveTo>
                  <a:cubicBezTo>
                    <a:pt x="0" y="140081"/>
                    <a:pt x="100250" y="0"/>
                    <a:pt x="223950" y="0"/>
                  </a:cubicBezTo>
                  <a:lnTo>
                    <a:pt x="4884369" y="0"/>
                  </a:lnTo>
                  <a:cubicBezTo>
                    <a:pt x="5008069" y="0"/>
                    <a:pt x="5108323" y="140081"/>
                    <a:pt x="5108323" y="312928"/>
                  </a:cubicBezTo>
                  <a:lnTo>
                    <a:pt x="5108323" y="4903216"/>
                  </a:lnTo>
                  <a:cubicBezTo>
                    <a:pt x="5108323" y="5076063"/>
                    <a:pt x="5008069" y="5216144"/>
                    <a:pt x="4884369" y="5216144"/>
                  </a:cubicBezTo>
                  <a:lnTo>
                    <a:pt x="223950" y="5216144"/>
                  </a:lnTo>
                  <a:cubicBezTo>
                    <a:pt x="100250" y="5216144"/>
                    <a:pt x="0" y="5076063"/>
                    <a:pt x="0" y="4903216"/>
                  </a:cubicBezTo>
                  <a:close/>
                </a:path>
              </a:pathLst>
            </a:custGeom>
            <a:solidFill>
              <a:srgbClr val="F0EFEC"/>
            </a:solidFill>
          </p:spPr>
        </p:sp>
      </p:grpSp>
      <p:grpSp>
        <p:nvGrpSpPr>
          <p:cNvPr name="Group 9" id="9"/>
          <p:cNvGrpSpPr/>
          <p:nvPr/>
        </p:nvGrpSpPr>
        <p:grpSpPr>
          <a:xfrm rot="0">
            <a:off x="1169324" y="2847043"/>
            <a:ext cx="68767" cy="686333"/>
            <a:chOff x="0" y="0"/>
            <a:chExt cx="91689" cy="915111"/>
          </a:xfrm>
        </p:grpSpPr>
        <p:sp>
          <p:nvSpPr>
            <p:cNvPr name="Freeform 10" id="10"/>
            <p:cNvSpPr/>
            <p:nvPr/>
          </p:nvSpPr>
          <p:spPr>
            <a:xfrm flipH="false" flipV="false" rot="0">
              <a:off x="0" y="0"/>
              <a:ext cx="91714" cy="915162"/>
            </a:xfrm>
            <a:custGeom>
              <a:avLst/>
              <a:gdLst/>
              <a:ahLst/>
              <a:cxnLst/>
              <a:rect r="r" b="b" t="t" l="l"/>
              <a:pathLst>
                <a:path h="915162" w="91714">
                  <a:moveTo>
                    <a:pt x="0" y="0"/>
                  </a:moveTo>
                  <a:lnTo>
                    <a:pt x="91714" y="0"/>
                  </a:lnTo>
                  <a:lnTo>
                    <a:pt x="91714" y="915162"/>
                  </a:lnTo>
                  <a:lnTo>
                    <a:pt x="0" y="915162"/>
                  </a:lnTo>
                  <a:close/>
                </a:path>
              </a:pathLst>
            </a:custGeom>
            <a:solidFill>
              <a:srgbClr val="2A78D6"/>
            </a:solidFill>
          </p:spPr>
        </p:sp>
      </p:grpSp>
      <p:sp>
        <p:nvSpPr>
          <p:cNvPr name="TextBox 11" id="11"/>
          <p:cNvSpPr txBox="true"/>
          <p:nvPr/>
        </p:nvSpPr>
        <p:spPr>
          <a:xfrm rot="0">
            <a:off x="1464029" y="2958388"/>
            <a:ext cx="3340051" cy="435070"/>
          </a:xfrm>
          <a:prstGeom prst="rect">
            <a:avLst/>
          </a:prstGeom>
        </p:spPr>
        <p:txBody>
          <a:bodyPr anchor="t" rtlCol="false" tIns="0" lIns="0" bIns="0" rIns="0">
            <a:spAutoFit/>
          </a:bodyPr>
          <a:lstStyle/>
          <a:p>
            <a:pPr algn="l">
              <a:lnSpc>
                <a:spcPts val="3566"/>
              </a:lnSpc>
            </a:pPr>
            <a:r>
              <a:rPr lang="en-US" sz="2702" b="true">
                <a:solidFill>
                  <a:srgbClr val="1F1F1D"/>
                </a:solidFill>
                <a:latin typeface="Inter Bold"/>
                <a:ea typeface="Inter Bold"/>
                <a:cs typeface="Inter Bold"/>
                <a:sym typeface="Inter Bold"/>
              </a:rPr>
              <a:t>Modelos tabulares</a:t>
            </a:r>
          </a:p>
        </p:txBody>
      </p:sp>
      <p:sp>
        <p:nvSpPr>
          <p:cNvPr name="TextBox 12" id="12"/>
          <p:cNvSpPr txBox="true"/>
          <p:nvPr/>
        </p:nvSpPr>
        <p:spPr>
          <a:xfrm rot="0">
            <a:off x="1464029" y="3760291"/>
            <a:ext cx="3340051" cy="2339300"/>
          </a:xfrm>
          <a:prstGeom prst="rect">
            <a:avLst/>
          </a:prstGeom>
        </p:spPr>
        <p:txBody>
          <a:bodyPr anchor="t" rtlCol="false" tIns="0" lIns="0" bIns="0" rIns="0">
            <a:spAutoFit/>
          </a:bodyPr>
          <a:lstStyle/>
          <a:p>
            <a:pPr algn="l">
              <a:lnSpc>
                <a:spcPts val="3107"/>
              </a:lnSpc>
            </a:pPr>
            <a:r>
              <a:rPr lang="en-US" sz="2251">
                <a:solidFill>
                  <a:srgbClr val="6B6A66"/>
                </a:solidFill>
                <a:latin typeface="Inter"/>
                <a:ea typeface="Inter"/>
                <a:cs typeface="Inter"/>
                <a:sym typeface="Inter"/>
              </a:rPr>
              <a:t>XGBoost fue el mejor: F1 macro 0.351 en validación por partido, tras quitar la duración del clip, que delataba la clase.</a:t>
            </a:r>
          </a:p>
        </p:txBody>
      </p:sp>
      <p:grpSp>
        <p:nvGrpSpPr>
          <p:cNvPr name="Group 13" id="13"/>
          <p:cNvGrpSpPr/>
          <p:nvPr/>
        </p:nvGrpSpPr>
        <p:grpSpPr>
          <a:xfrm rot="0">
            <a:off x="5197026" y="2503877"/>
            <a:ext cx="3831232" cy="3912118"/>
            <a:chOff x="0" y="0"/>
            <a:chExt cx="5108310" cy="5216157"/>
          </a:xfrm>
        </p:grpSpPr>
        <p:sp>
          <p:nvSpPr>
            <p:cNvPr name="Freeform 14" id="14"/>
            <p:cNvSpPr/>
            <p:nvPr/>
          </p:nvSpPr>
          <p:spPr>
            <a:xfrm flipH="false" flipV="false" rot="0">
              <a:off x="0" y="0"/>
              <a:ext cx="5108323" cy="5216144"/>
            </a:xfrm>
            <a:custGeom>
              <a:avLst/>
              <a:gdLst/>
              <a:ahLst/>
              <a:cxnLst/>
              <a:rect r="r" b="b" t="t" l="l"/>
              <a:pathLst>
                <a:path h="5216144" w="5108323">
                  <a:moveTo>
                    <a:pt x="0" y="312928"/>
                  </a:moveTo>
                  <a:cubicBezTo>
                    <a:pt x="0" y="140081"/>
                    <a:pt x="100250" y="0"/>
                    <a:pt x="223950" y="0"/>
                  </a:cubicBezTo>
                  <a:lnTo>
                    <a:pt x="4884369" y="0"/>
                  </a:lnTo>
                  <a:cubicBezTo>
                    <a:pt x="5008069" y="0"/>
                    <a:pt x="5108323" y="140081"/>
                    <a:pt x="5108323" y="312928"/>
                  </a:cubicBezTo>
                  <a:lnTo>
                    <a:pt x="5108323" y="4903216"/>
                  </a:lnTo>
                  <a:cubicBezTo>
                    <a:pt x="5108323" y="5076063"/>
                    <a:pt x="5008069" y="5216144"/>
                    <a:pt x="4884369" y="5216144"/>
                  </a:cubicBezTo>
                  <a:lnTo>
                    <a:pt x="223950" y="5216144"/>
                  </a:lnTo>
                  <a:cubicBezTo>
                    <a:pt x="100250" y="5216144"/>
                    <a:pt x="0" y="5076063"/>
                    <a:pt x="0" y="4903216"/>
                  </a:cubicBezTo>
                  <a:close/>
                </a:path>
              </a:pathLst>
            </a:custGeom>
            <a:solidFill>
              <a:srgbClr val="F0EFEC"/>
            </a:solidFill>
          </p:spPr>
        </p:sp>
      </p:grpSp>
      <p:grpSp>
        <p:nvGrpSpPr>
          <p:cNvPr name="Group 15" id="15"/>
          <p:cNvGrpSpPr/>
          <p:nvPr/>
        </p:nvGrpSpPr>
        <p:grpSpPr>
          <a:xfrm rot="0">
            <a:off x="5197026" y="2847043"/>
            <a:ext cx="68767" cy="686333"/>
            <a:chOff x="0" y="0"/>
            <a:chExt cx="91689" cy="915111"/>
          </a:xfrm>
        </p:grpSpPr>
        <p:sp>
          <p:nvSpPr>
            <p:cNvPr name="Freeform 16" id="16"/>
            <p:cNvSpPr/>
            <p:nvPr/>
          </p:nvSpPr>
          <p:spPr>
            <a:xfrm flipH="false" flipV="false" rot="0">
              <a:off x="0" y="0"/>
              <a:ext cx="91714" cy="915162"/>
            </a:xfrm>
            <a:custGeom>
              <a:avLst/>
              <a:gdLst/>
              <a:ahLst/>
              <a:cxnLst/>
              <a:rect r="r" b="b" t="t" l="l"/>
              <a:pathLst>
                <a:path h="915162" w="91714">
                  <a:moveTo>
                    <a:pt x="0" y="0"/>
                  </a:moveTo>
                  <a:lnTo>
                    <a:pt x="91714" y="0"/>
                  </a:lnTo>
                  <a:lnTo>
                    <a:pt x="91714" y="915162"/>
                  </a:lnTo>
                  <a:lnTo>
                    <a:pt x="0" y="915162"/>
                  </a:lnTo>
                  <a:close/>
                </a:path>
              </a:pathLst>
            </a:custGeom>
            <a:solidFill>
              <a:srgbClr val="2A78D6"/>
            </a:solidFill>
          </p:spPr>
        </p:sp>
      </p:grpSp>
      <p:sp>
        <p:nvSpPr>
          <p:cNvPr name="TextBox 17" id="17"/>
          <p:cNvSpPr txBox="true"/>
          <p:nvPr/>
        </p:nvSpPr>
        <p:spPr>
          <a:xfrm rot="0">
            <a:off x="5491738" y="2958388"/>
            <a:ext cx="3340051" cy="435070"/>
          </a:xfrm>
          <a:prstGeom prst="rect">
            <a:avLst/>
          </a:prstGeom>
        </p:spPr>
        <p:txBody>
          <a:bodyPr anchor="t" rtlCol="false" tIns="0" lIns="0" bIns="0" rIns="0">
            <a:spAutoFit/>
          </a:bodyPr>
          <a:lstStyle/>
          <a:p>
            <a:pPr algn="l">
              <a:lnSpc>
                <a:spcPts val="3566"/>
              </a:lnSpc>
            </a:pPr>
            <a:r>
              <a:rPr lang="en-US" sz="2702" b="true">
                <a:solidFill>
                  <a:srgbClr val="1F1F1D"/>
                </a:solidFill>
                <a:latin typeface="Inter Bold"/>
                <a:ea typeface="Inter Bold"/>
                <a:cs typeface="Inter Bold"/>
                <a:sym typeface="Inter Bold"/>
              </a:rPr>
              <a:t>Modelo temporal</a:t>
            </a:r>
          </a:p>
        </p:txBody>
      </p:sp>
      <p:sp>
        <p:nvSpPr>
          <p:cNvPr name="TextBox 18" id="18"/>
          <p:cNvSpPr txBox="true"/>
          <p:nvPr/>
        </p:nvSpPr>
        <p:spPr>
          <a:xfrm rot="0">
            <a:off x="5491738" y="3760291"/>
            <a:ext cx="3340051" cy="2339300"/>
          </a:xfrm>
          <a:prstGeom prst="rect">
            <a:avLst/>
          </a:prstGeom>
        </p:spPr>
        <p:txBody>
          <a:bodyPr anchor="t" rtlCol="false" tIns="0" lIns="0" bIns="0" rIns="0">
            <a:spAutoFit/>
          </a:bodyPr>
          <a:lstStyle/>
          <a:p>
            <a:pPr algn="l">
              <a:lnSpc>
                <a:spcPts val="3107"/>
              </a:lnSpc>
            </a:pPr>
            <a:r>
              <a:rPr lang="en-US" sz="2251">
                <a:solidFill>
                  <a:srgbClr val="6B6A66"/>
                </a:solidFill>
                <a:latin typeface="Inter"/>
                <a:ea typeface="Inter"/>
                <a:cs typeface="Inter"/>
                <a:sym typeface="Inter"/>
              </a:rPr>
              <a:t>La GRU</a:t>
            </a:r>
            <a:r>
              <a:rPr lang="en-US" sz="2251">
                <a:solidFill>
                  <a:srgbClr val="6B6A66"/>
                </a:solidFill>
                <a:latin typeface="Inter"/>
                <a:ea typeface="Inter"/>
                <a:cs typeface="Inter"/>
                <a:sym typeface="Inter"/>
              </a:rPr>
              <a:t> igualó en validación (0.316) pero cayó a 0.114 en el partido nuevo: aprendió el aspecto del partido, no la acción.</a:t>
            </a:r>
          </a:p>
        </p:txBody>
      </p:sp>
      <p:grpSp>
        <p:nvGrpSpPr>
          <p:cNvPr name="Group 19" id="19"/>
          <p:cNvGrpSpPr/>
          <p:nvPr/>
        </p:nvGrpSpPr>
        <p:grpSpPr>
          <a:xfrm rot="0">
            <a:off x="9224735" y="2503877"/>
            <a:ext cx="3831232" cy="3912118"/>
            <a:chOff x="0" y="0"/>
            <a:chExt cx="5108310" cy="5216157"/>
          </a:xfrm>
        </p:grpSpPr>
        <p:sp>
          <p:nvSpPr>
            <p:cNvPr name="Freeform 20" id="20"/>
            <p:cNvSpPr/>
            <p:nvPr/>
          </p:nvSpPr>
          <p:spPr>
            <a:xfrm flipH="false" flipV="false" rot="0">
              <a:off x="0" y="0"/>
              <a:ext cx="5108323" cy="5216144"/>
            </a:xfrm>
            <a:custGeom>
              <a:avLst/>
              <a:gdLst/>
              <a:ahLst/>
              <a:cxnLst/>
              <a:rect r="r" b="b" t="t" l="l"/>
              <a:pathLst>
                <a:path h="5216144" w="5108323">
                  <a:moveTo>
                    <a:pt x="0" y="312928"/>
                  </a:moveTo>
                  <a:cubicBezTo>
                    <a:pt x="0" y="140081"/>
                    <a:pt x="100250" y="0"/>
                    <a:pt x="223950" y="0"/>
                  </a:cubicBezTo>
                  <a:lnTo>
                    <a:pt x="4884369" y="0"/>
                  </a:lnTo>
                  <a:cubicBezTo>
                    <a:pt x="5008069" y="0"/>
                    <a:pt x="5108323" y="140081"/>
                    <a:pt x="5108323" y="312928"/>
                  </a:cubicBezTo>
                  <a:lnTo>
                    <a:pt x="5108323" y="4903216"/>
                  </a:lnTo>
                  <a:cubicBezTo>
                    <a:pt x="5108323" y="5076063"/>
                    <a:pt x="5008069" y="5216144"/>
                    <a:pt x="4884369" y="5216144"/>
                  </a:cubicBezTo>
                  <a:lnTo>
                    <a:pt x="223950" y="5216144"/>
                  </a:lnTo>
                  <a:cubicBezTo>
                    <a:pt x="100250" y="5216144"/>
                    <a:pt x="0" y="5076063"/>
                    <a:pt x="0" y="4903216"/>
                  </a:cubicBezTo>
                  <a:close/>
                </a:path>
              </a:pathLst>
            </a:custGeom>
            <a:solidFill>
              <a:srgbClr val="F0EFEC"/>
            </a:solidFill>
          </p:spPr>
        </p:sp>
      </p:grpSp>
      <p:grpSp>
        <p:nvGrpSpPr>
          <p:cNvPr name="Group 21" id="21"/>
          <p:cNvGrpSpPr/>
          <p:nvPr/>
        </p:nvGrpSpPr>
        <p:grpSpPr>
          <a:xfrm rot="0">
            <a:off x="9224735" y="2847043"/>
            <a:ext cx="68767" cy="686333"/>
            <a:chOff x="0" y="0"/>
            <a:chExt cx="91689" cy="915111"/>
          </a:xfrm>
        </p:grpSpPr>
        <p:sp>
          <p:nvSpPr>
            <p:cNvPr name="Freeform 22" id="22"/>
            <p:cNvSpPr/>
            <p:nvPr/>
          </p:nvSpPr>
          <p:spPr>
            <a:xfrm flipH="false" flipV="false" rot="0">
              <a:off x="0" y="0"/>
              <a:ext cx="91714" cy="915162"/>
            </a:xfrm>
            <a:custGeom>
              <a:avLst/>
              <a:gdLst/>
              <a:ahLst/>
              <a:cxnLst/>
              <a:rect r="r" b="b" t="t" l="l"/>
              <a:pathLst>
                <a:path h="915162" w="91714">
                  <a:moveTo>
                    <a:pt x="0" y="0"/>
                  </a:moveTo>
                  <a:lnTo>
                    <a:pt x="91714" y="0"/>
                  </a:lnTo>
                  <a:lnTo>
                    <a:pt x="91714" y="915162"/>
                  </a:lnTo>
                  <a:lnTo>
                    <a:pt x="0" y="915162"/>
                  </a:lnTo>
                  <a:close/>
                </a:path>
              </a:pathLst>
            </a:custGeom>
            <a:solidFill>
              <a:srgbClr val="2A78D6"/>
            </a:solidFill>
          </p:spPr>
        </p:sp>
      </p:grpSp>
      <p:sp>
        <p:nvSpPr>
          <p:cNvPr name="TextBox 23" id="23"/>
          <p:cNvSpPr txBox="true"/>
          <p:nvPr/>
        </p:nvSpPr>
        <p:spPr>
          <a:xfrm rot="0">
            <a:off x="9519447" y="2958388"/>
            <a:ext cx="3340051" cy="435070"/>
          </a:xfrm>
          <a:prstGeom prst="rect">
            <a:avLst/>
          </a:prstGeom>
        </p:spPr>
        <p:txBody>
          <a:bodyPr anchor="t" rtlCol="false" tIns="0" lIns="0" bIns="0" rIns="0">
            <a:spAutoFit/>
          </a:bodyPr>
          <a:lstStyle/>
          <a:p>
            <a:pPr algn="l">
              <a:lnSpc>
                <a:spcPts val="3566"/>
              </a:lnSpc>
            </a:pPr>
            <a:r>
              <a:rPr lang="en-US" sz="2702" b="true">
                <a:solidFill>
                  <a:srgbClr val="1F1F1D"/>
                </a:solidFill>
                <a:latin typeface="Inter Bold"/>
                <a:ea typeface="Inter Bold"/>
                <a:cs typeface="Inter Bold"/>
                <a:sym typeface="Inter Bold"/>
              </a:rPr>
              <a:t>Partido no visto</a:t>
            </a:r>
          </a:p>
        </p:txBody>
      </p:sp>
      <p:sp>
        <p:nvSpPr>
          <p:cNvPr name="TextBox 24" id="24"/>
          <p:cNvSpPr txBox="true"/>
          <p:nvPr/>
        </p:nvSpPr>
        <p:spPr>
          <a:xfrm rot="0">
            <a:off x="9519440" y="3760291"/>
            <a:ext cx="3340051" cy="1948775"/>
          </a:xfrm>
          <a:prstGeom prst="rect">
            <a:avLst/>
          </a:prstGeom>
        </p:spPr>
        <p:txBody>
          <a:bodyPr anchor="t" rtlCol="false" tIns="0" lIns="0" bIns="0" rIns="0">
            <a:spAutoFit/>
          </a:bodyPr>
          <a:lstStyle/>
          <a:p>
            <a:pPr algn="l">
              <a:lnSpc>
                <a:spcPts val="3107"/>
              </a:lnSpc>
            </a:pPr>
            <a:r>
              <a:rPr lang="en-US" sz="2251">
                <a:solidFill>
                  <a:srgbClr val="6B6A66"/>
                </a:solidFill>
                <a:latin typeface="Inter"/>
                <a:ea typeface="Inter"/>
                <a:cs typeface="Inter"/>
                <a:sym typeface="Inter"/>
              </a:rPr>
              <a:t>XGBo</a:t>
            </a:r>
            <a:r>
              <a:rPr lang="en-US" sz="2251">
                <a:solidFill>
                  <a:srgbClr val="6B6A66"/>
                </a:solidFill>
                <a:latin typeface="Inter"/>
                <a:ea typeface="Inter"/>
                <a:cs typeface="Inter"/>
                <a:sym typeface="Inter"/>
              </a:rPr>
              <a:t>ost supera el azar: 0.347 frente a 0.25. Pase 0.45 y saque 0.44; la disputa no se distingue (0.12).</a:t>
            </a:r>
          </a:p>
        </p:txBody>
      </p:sp>
      <p:sp>
        <p:nvSpPr>
          <p:cNvPr name="TextBox 25" id="25"/>
          <p:cNvSpPr txBox="true"/>
          <p:nvPr/>
        </p:nvSpPr>
        <p:spPr>
          <a:xfrm rot="0">
            <a:off x="823608" y="7065987"/>
            <a:ext cx="5490686" cy="577644"/>
          </a:xfrm>
          <a:prstGeom prst="rect">
            <a:avLst/>
          </a:prstGeom>
        </p:spPr>
        <p:txBody>
          <a:bodyPr anchor="t" rtlCol="false" tIns="0" lIns="0" bIns="0" rIns="0">
            <a:spAutoFit/>
          </a:bodyPr>
          <a:lstStyle/>
          <a:p>
            <a:pPr algn="l">
              <a:lnSpc>
                <a:spcPts val="3566"/>
              </a:lnSpc>
            </a:pPr>
            <a:r>
              <a:rPr lang="en-US" sz="2702" b="true">
                <a:solidFill>
                  <a:srgbClr val="1F1F1D"/>
                </a:solidFill>
                <a:latin typeface="Inter Bold"/>
                <a:ea typeface="Inter Bold"/>
                <a:cs typeface="Inter Bold"/>
                <a:sym typeface="Inter Bold"/>
              </a:rPr>
              <a:t>Trabajo futuro</a:t>
            </a:r>
          </a:p>
        </p:txBody>
      </p:sp>
      <p:grpSp>
        <p:nvGrpSpPr>
          <p:cNvPr name="Group 26" id="26"/>
          <p:cNvGrpSpPr/>
          <p:nvPr/>
        </p:nvGrpSpPr>
        <p:grpSpPr>
          <a:xfrm rot="0">
            <a:off x="823608" y="7849532"/>
            <a:ext cx="4115276" cy="686333"/>
            <a:chOff x="0" y="0"/>
            <a:chExt cx="5487035" cy="915111"/>
          </a:xfrm>
        </p:grpSpPr>
        <p:sp>
          <p:nvSpPr>
            <p:cNvPr name="Freeform 27" id="27"/>
            <p:cNvSpPr/>
            <p:nvPr/>
          </p:nvSpPr>
          <p:spPr>
            <a:xfrm flipH="false" flipV="false" rot="0">
              <a:off x="0" y="0"/>
              <a:ext cx="5487035" cy="915162"/>
            </a:xfrm>
            <a:custGeom>
              <a:avLst/>
              <a:gdLst/>
              <a:ahLst/>
              <a:cxnLst/>
              <a:rect r="r" b="b" t="t" l="l"/>
              <a:pathLst>
                <a:path h="915162" w="5487035">
                  <a:moveTo>
                    <a:pt x="0" y="457581"/>
                  </a:moveTo>
                  <a:cubicBezTo>
                    <a:pt x="0" y="204851"/>
                    <a:pt x="204851" y="0"/>
                    <a:pt x="457581" y="0"/>
                  </a:cubicBezTo>
                  <a:lnTo>
                    <a:pt x="5029454" y="0"/>
                  </a:lnTo>
                  <a:cubicBezTo>
                    <a:pt x="5282184" y="0"/>
                    <a:pt x="5487035" y="204851"/>
                    <a:pt x="5487035" y="457581"/>
                  </a:cubicBezTo>
                  <a:cubicBezTo>
                    <a:pt x="5487035" y="710311"/>
                    <a:pt x="5282184" y="915162"/>
                    <a:pt x="5029454" y="915162"/>
                  </a:cubicBezTo>
                  <a:lnTo>
                    <a:pt x="457581" y="915162"/>
                  </a:lnTo>
                  <a:cubicBezTo>
                    <a:pt x="204851" y="915162"/>
                    <a:pt x="0" y="710311"/>
                    <a:pt x="0" y="457581"/>
                  </a:cubicBezTo>
                  <a:close/>
                </a:path>
              </a:pathLst>
            </a:custGeom>
            <a:solidFill>
              <a:srgbClr val="E8F1FC"/>
            </a:solidFill>
          </p:spPr>
        </p:sp>
      </p:grpSp>
      <p:grpSp>
        <p:nvGrpSpPr>
          <p:cNvPr name="Group 28" id="28"/>
          <p:cNvGrpSpPr/>
          <p:nvPr/>
        </p:nvGrpSpPr>
        <p:grpSpPr>
          <a:xfrm rot="0">
            <a:off x="823608" y="7849532"/>
            <a:ext cx="4115276" cy="686333"/>
            <a:chOff x="0" y="0"/>
            <a:chExt cx="5487035" cy="915111"/>
          </a:xfrm>
        </p:grpSpPr>
        <p:sp>
          <p:nvSpPr>
            <p:cNvPr name="Freeform 29" id="29"/>
            <p:cNvSpPr/>
            <p:nvPr/>
          </p:nvSpPr>
          <p:spPr>
            <a:xfrm flipH="false" flipV="false" rot="0">
              <a:off x="0" y="0"/>
              <a:ext cx="5487029" cy="915115"/>
            </a:xfrm>
            <a:custGeom>
              <a:avLst/>
              <a:gdLst/>
              <a:ahLst/>
              <a:cxnLst/>
              <a:rect r="r" b="b" t="t" l="l"/>
              <a:pathLst>
                <a:path h="915115" w="5487029">
                  <a:moveTo>
                    <a:pt x="0" y="0"/>
                  </a:moveTo>
                  <a:lnTo>
                    <a:pt x="5487029" y="0"/>
                  </a:lnTo>
                  <a:lnTo>
                    <a:pt x="5487029" y="915115"/>
                  </a:lnTo>
                  <a:lnTo>
                    <a:pt x="0" y="915115"/>
                  </a:lnTo>
                  <a:close/>
                </a:path>
              </a:pathLst>
            </a:custGeom>
            <a:blipFill>
              <a:blip r:embed="rId3">
                <a:alphaModFix amt="0"/>
              </a:blip>
              <a:stretch>
                <a:fillRect l="0" t="-66832" r="0" b="-66832"/>
              </a:stretch>
            </a:blipFill>
          </p:spPr>
        </p:sp>
        <p:sp>
          <p:nvSpPr>
            <p:cNvPr name="TextBox 30" id="30"/>
            <p:cNvSpPr txBox="true"/>
            <p:nvPr/>
          </p:nvSpPr>
          <p:spPr>
            <a:xfrm>
              <a:off x="0" y="-28575"/>
              <a:ext cx="5487035" cy="943686"/>
            </a:xfrm>
            <a:prstGeom prst="rect">
              <a:avLst/>
            </a:prstGeom>
          </p:spPr>
          <p:txBody>
            <a:bodyPr anchor="ctr" rtlCol="false" tIns="0" lIns="0" bIns="0" rIns="0"/>
            <a:lstStyle/>
            <a:p>
              <a:pPr algn="ctr">
                <a:lnSpc>
                  <a:spcPts val="2576"/>
                </a:lnSpc>
              </a:pPr>
              <a:r>
                <a:rPr lang="en-US" sz="1951" b="true">
                  <a:solidFill>
                    <a:srgbClr val="174A8B"/>
                  </a:solidFill>
                  <a:latin typeface="Inter Bold"/>
                  <a:ea typeface="Inter Bold"/>
                  <a:cs typeface="Inter Bold"/>
                  <a:sym typeface="Inter Bold"/>
                </a:rPr>
                <a:t>Más partidos para entrenar</a:t>
              </a:r>
            </a:p>
          </p:txBody>
        </p:sp>
      </p:grpSp>
      <p:grpSp>
        <p:nvGrpSpPr>
          <p:cNvPr name="Group 31" id="31"/>
          <p:cNvGrpSpPr/>
          <p:nvPr/>
        </p:nvGrpSpPr>
        <p:grpSpPr>
          <a:xfrm rot="0">
            <a:off x="5117325" y="7849532"/>
            <a:ext cx="2635529" cy="686333"/>
            <a:chOff x="0" y="0"/>
            <a:chExt cx="3514039" cy="915111"/>
          </a:xfrm>
        </p:grpSpPr>
        <p:sp>
          <p:nvSpPr>
            <p:cNvPr name="Freeform 32" id="32"/>
            <p:cNvSpPr/>
            <p:nvPr/>
          </p:nvSpPr>
          <p:spPr>
            <a:xfrm flipH="false" flipV="false" rot="0">
              <a:off x="0" y="0"/>
              <a:ext cx="3514090" cy="915162"/>
            </a:xfrm>
            <a:custGeom>
              <a:avLst/>
              <a:gdLst/>
              <a:ahLst/>
              <a:cxnLst/>
              <a:rect r="r" b="b" t="t" l="l"/>
              <a:pathLst>
                <a:path h="915162" w="3514090">
                  <a:moveTo>
                    <a:pt x="0" y="457581"/>
                  </a:moveTo>
                  <a:cubicBezTo>
                    <a:pt x="0" y="204851"/>
                    <a:pt x="204851" y="0"/>
                    <a:pt x="457581" y="0"/>
                  </a:cubicBezTo>
                  <a:lnTo>
                    <a:pt x="3056509" y="0"/>
                  </a:lnTo>
                  <a:cubicBezTo>
                    <a:pt x="3309239" y="0"/>
                    <a:pt x="3514090" y="204851"/>
                    <a:pt x="3514090" y="457581"/>
                  </a:cubicBezTo>
                  <a:cubicBezTo>
                    <a:pt x="3514090" y="710311"/>
                    <a:pt x="3309239" y="915162"/>
                    <a:pt x="3056509" y="915162"/>
                  </a:cubicBezTo>
                  <a:lnTo>
                    <a:pt x="457581" y="915162"/>
                  </a:lnTo>
                  <a:cubicBezTo>
                    <a:pt x="204851" y="915162"/>
                    <a:pt x="0" y="710311"/>
                    <a:pt x="0" y="457581"/>
                  </a:cubicBezTo>
                  <a:close/>
                </a:path>
              </a:pathLst>
            </a:custGeom>
            <a:solidFill>
              <a:srgbClr val="E8F1FC"/>
            </a:solidFill>
          </p:spPr>
        </p:sp>
      </p:grpSp>
      <p:grpSp>
        <p:nvGrpSpPr>
          <p:cNvPr name="Group 33" id="33"/>
          <p:cNvGrpSpPr/>
          <p:nvPr/>
        </p:nvGrpSpPr>
        <p:grpSpPr>
          <a:xfrm rot="0">
            <a:off x="5117325" y="7849532"/>
            <a:ext cx="2635529" cy="686333"/>
            <a:chOff x="0" y="0"/>
            <a:chExt cx="3514039" cy="915111"/>
          </a:xfrm>
        </p:grpSpPr>
        <p:sp>
          <p:nvSpPr>
            <p:cNvPr name="Freeform 34" id="34"/>
            <p:cNvSpPr/>
            <p:nvPr/>
          </p:nvSpPr>
          <p:spPr>
            <a:xfrm flipH="false" flipV="false" rot="0">
              <a:off x="0" y="0"/>
              <a:ext cx="3514041" cy="915115"/>
            </a:xfrm>
            <a:custGeom>
              <a:avLst/>
              <a:gdLst/>
              <a:ahLst/>
              <a:cxnLst/>
              <a:rect r="r" b="b" t="t" l="l"/>
              <a:pathLst>
                <a:path h="915115" w="3514041">
                  <a:moveTo>
                    <a:pt x="0" y="0"/>
                  </a:moveTo>
                  <a:lnTo>
                    <a:pt x="3514041" y="0"/>
                  </a:lnTo>
                  <a:lnTo>
                    <a:pt x="3514041" y="915115"/>
                  </a:lnTo>
                  <a:lnTo>
                    <a:pt x="0" y="915115"/>
                  </a:lnTo>
                  <a:close/>
                </a:path>
              </a:pathLst>
            </a:custGeom>
            <a:blipFill>
              <a:blip r:embed="rId3">
                <a:alphaModFix amt="0"/>
              </a:blip>
              <a:stretch>
                <a:fillRect l="0" t="-24822" r="0" b="-24822"/>
              </a:stretch>
            </a:blipFill>
          </p:spPr>
        </p:sp>
        <p:sp>
          <p:nvSpPr>
            <p:cNvPr name="TextBox 35" id="35"/>
            <p:cNvSpPr txBox="true"/>
            <p:nvPr/>
          </p:nvSpPr>
          <p:spPr>
            <a:xfrm>
              <a:off x="0" y="-28575"/>
              <a:ext cx="3514039" cy="943686"/>
            </a:xfrm>
            <a:prstGeom prst="rect">
              <a:avLst/>
            </a:prstGeom>
          </p:spPr>
          <p:txBody>
            <a:bodyPr anchor="ctr" rtlCol="false" tIns="0" lIns="0" bIns="0" rIns="0"/>
            <a:lstStyle/>
            <a:p>
              <a:pPr algn="ctr">
                <a:lnSpc>
                  <a:spcPts val="2576"/>
                </a:lnSpc>
              </a:pPr>
              <a:r>
                <a:rPr lang="en-US" sz="1951" b="true">
                  <a:solidFill>
                    <a:srgbClr val="174A8B"/>
                  </a:solidFill>
                  <a:latin typeface="Inter Bold"/>
                  <a:ea typeface="Inter Bold"/>
                  <a:cs typeface="Inter Bold"/>
                  <a:sym typeface="Inter Bold"/>
                </a:rPr>
                <a:t>Seguir el balón</a:t>
              </a:r>
            </a:p>
          </p:txBody>
        </p:sp>
      </p:grpSp>
      <p:grpSp>
        <p:nvGrpSpPr>
          <p:cNvPr name="Group 36" id="36"/>
          <p:cNvGrpSpPr/>
          <p:nvPr/>
        </p:nvGrpSpPr>
        <p:grpSpPr>
          <a:xfrm rot="0">
            <a:off x="7931306" y="7849532"/>
            <a:ext cx="4249798" cy="686333"/>
            <a:chOff x="0" y="0"/>
            <a:chExt cx="5666397" cy="915111"/>
          </a:xfrm>
        </p:grpSpPr>
        <p:sp>
          <p:nvSpPr>
            <p:cNvPr name="Freeform 37" id="37"/>
            <p:cNvSpPr/>
            <p:nvPr/>
          </p:nvSpPr>
          <p:spPr>
            <a:xfrm flipH="false" flipV="false" rot="0">
              <a:off x="0" y="0"/>
              <a:ext cx="5666359" cy="915162"/>
            </a:xfrm>
            <a:custGeom>
              <a:avLst/>
              <a:gdLst/>
              <a:ahLst/>
              <a:cxnLst/>
              <a:rect r="r" b="b" t="t" l="l"/>
              <a:pathLst>
                <a:path h="915162" w="5666359">
                  <a:moveTo>
                    <a:pt x="0" y="457581"/>
                  </a:moveTo>
                  <a:cubicBezTo>
                    <a:pt x="0" y="204851"/>
                    <a:pt x="204851" y="0"/>
                    <a:pt x="457581" y="0"/>
                  </a:cubicBezTo>
                  <a:lnTo>
                    <a:pt x="5208778" y="0"/>
                  </a:lnTo>
                  <a:cubicBezTo>
                    <a:pt x="5461508" y="0"/>
                    <a:pt x="5666359" y="204851"/>
                    <a:pt x="5666359" y="457581"/>
                  </a:cubicBezTo>
                  <a:cubicBezTo>
                    <a:pt x="5666359" y="710311"/>
                    <a:pt x="5461508" y="915162"/>
                    <a:pt x="5208778" y="915162"/>
                  </a:cubicBezTo>
                  <a:lnTo>
                    <a:pt x="457581" y="915162"/>
                  </a:lnTo>
                  <a:cubicBezTo>
                    <a:pt x="204851" y="915162"/>
                    <a:pt x="0" y="710311"/>
                    <a:pt x="0" y="457581"/>
                  </a:cubicBezTo>
                  <a:close/>
                </a:path>
              </a:pathLst>
            </a:custGeom>
            <a:solidFill>
              <a:srgbClr val="E8F1FC"/>
            </a:solidFill>
          </p:spPr>
        </p:sp>
      </p:grpSp>
      <p:grpSp>
        <p:nvGrpSpPr>
          <p:cNvPr name="Group 38" id="38"/>
          <p:cNvGrpSpPr/>
          <p:nvPr/>
        </p:nvGrpSpPr>
        <p:grpSpPr>
          <a:xfrm rot="0">
            <a:off x="7931306" y="7849532"/>
            <a:ext cx="4249798" cy="686333"/>
            <a:chOff x="0" y="0"/>
            <a:chExt cx="5666397" cy="915111"/>
          </a:xfrm>
        </p:grpSpPr>
        <p:sp>
          <p:nvSpPr>
            <p:cNvPr name="Freeform 39" id="39"/>
            <p:cNvSpPr/>
            <p:nvPr/>
          </p:nvSpPr>
          <p:spPr>
            <a:xfrm flipH="false" flipV="false" rot="0">
              <a:off x="0" y="0"/>
              <a:ext cx="5666391" cy="915115"/>
            </a:xfrm>
            <a:custGeom>
              <a:avLst/>
              <a:gdLst/>
              <a:ahLst/>
              <a:cxnLst/>
              <a:rect r="r" b="b" t="t" l="l"/>
              <a:pathLst>
                <a:path h="915115" w="5666391">
                  <a:moveTo>
                    <a:pt x="0" y="0"/>
                  </a:moveTo>
                  <a:lnTo>
                    <a:pt x="5666391" y="0"/>
                  </a:lnTo>
                  <a:lnTo>
                    <a:pt x="5666391" y="915115"/>
                  </a:lnTo>
                  <a:lnTo>
                    <a:pt x="0" y="915115"/>
                  </a:lnTo>
                  <a:close/>
                </a:path>
              </a:pathLst>
            </a:custGeom>
            <a:blipFill>
              <a:blip r:embed="rId3">
                <a:alphaModFix amt="0"/>
              </a:blip>
              <a:stretch>
                <a:fillRect l="0" t="-70651" r="0" b="-70651"/>
              </a:stretch>
            </a:blipFill>
          </p:spPr>
        </p:sp>
        <p:sp>
          <p:nvSpPr>
            <p:cNvPr name="TextBox 40" id="40"/>
            <p:cNvSpPr txBox="true"/>
            <p:nvPr/>
          </p:nvSpPr>
          <p:spPr>
            <a:xfrm>
              <a:off x="0" y="-28575"/>
              <a:ext cx="5666397" cy="943686"/>
            </a:xfrm>
            <a:prstGeom prst="rect">
              <a:avLst/>
            </a:prstGeom>
          </p:spPr>
          <p:txBody>
            <a:bodyPr anchor="ctr" rtlCol="false" tIns="0" lIns="0" bIns="0" rIns="0"/>
            <a:lstStyle/>
            <a:p>
              <a:pPr algn="ctr">
                <a:lnSpc>
                  <a:spcPts val="2576"/>
                </a:lnSpc>
              </a:pPr>
              <a:r>
                <a:rPr lang="en-US" sz="1951" b="true">
                  <a:solidFill>
                    <a:srgbClr val="174A8B"/>
                  </a:solidFill>
                  <a:latin typeface="Inter Bold"/>
                  <a:ea typeface="Inter Bold"/>
                  <a:cs typeface="Inter Bold"/>
                  <a:sym typeface="Inter Bold"/>
                </a:rPr>
                <a:t>Contexto después del evento</a:t>
              </a:r>
            </a:p>
          </p:txBody>
        </p:sp>
      </p:grpSp>
      <p:grpSp>
        <p:nvGrpSpPr>
          <p:cNvPr name="Group 41" id="41"/>
          <p:cNvGrpSpPr/>
          <p:nvPr/>
        </p:nvGrpSpPr>
        <p:grpSpPr>
          <a:xfrm rot="0">
            <a:off x="12359545" y="7849532"/>
            <a:ext cx="3442659" cy="686333"/>
            <a:chOff x="0" y="0"/>
            <a:chExt cx="4590212" cy="915111"/>
          </a:xfrm>
        </p:grpSpPr>
        <p:sp>
          <p:nvSpPr>
            <p:cNvPr name="Freeform 42" id="42"/>
            <p:cNvSpPr/>
            <p:nvPr/>
          </p:nvSpPr>
          <p:spPr>
            <a:xfrm flipH="false" flipV="false" rot="0">
              <a:off x="0" y="0"/>
              <a:ext cx="4590288" cy="915162"/>
            </a:xfrm>
            <a:custGeom>
              <a:avLst/>
              <a:gdLst/>
              <a:ahLst/>
              <a:cxnLst/>
              <a:rect r="r" b="b" t="t" l="l"/>
              <a:pathLst>
                <a:path h="915162" w="4590288">
                  <a:moveTo>
                    <a:pt x="0" y="457581"/>
                  </a:moveTo>
                  <a:cubicBezTo>
                    <a:pt x="0" y="204851"/>
                    <a:pt x="204851" y="0"/>
                    <a:pt x="457581" y="0"/>
                  </a:cubicBezTo>
                  <a:lnTo>
                    <a:pt x="4132707" y="0"/>
                  </a:lnTo>
                  <a:cubicBezTo>
                    <a:pt x="4385437" y="0"/>
                    <a:pt x="4590288" y="204851"/>
                    <a:pt x="4590288" y="457581"/>
                  </a:cubicBezTo>
                  <a:cubicBezTo>
                    <a:pt x="4590288" y="710311"/>
                    <a:pt x="4385310" y="915162"/>
                    <a:pt x="4132707" y="915162"/>
                  </a:cubicBezTo>
                  <a:lnTo>
                    <a:pt x="457581" y="915162"/>
                  </a:lnTo>
                  <a:cubicBezTo>
                    <a:pt x="204851" y="915162"/>
                    <a:pt x="0" y="710311"/>
                    <a:pt x="0" y="457581"/>
                  </a:cubicBezTo>
                  <a:close/>
                </a:path>
              </a:pathLst>
            </a:custGeom>
            <a:solidFill>
              <a:srgbClr val="E8F1FC"/>
            </a:solidFill>
          </p:spPr>
        </p:sp>
      </p:grpSp>
      <p:grpSp>
        <p:nvGrpSpPr>
          <p:cNvPr name="Group 43" id="43"/>
          <p:cNvGrpSpPr/>
          <p:nvPr/>
        </p:nvGrpSpPr>
        <p:grpSpPr>
          <a:xfrm rot="0">
            <a:off x="12359545" y="7849532"/>
            <a:ext cx="3442659" cy="686333"/>
            <a:chOff x="0" y="0"/>
            <a:chExt cx="4590212" cy="915111"/>
          </a:xfrm>
        </p:grpSpPr>
        <p:sp>
          <p:nvSpPr>
            <p:cNvPr name="Freeform 44" id="44"/>
            <p:cNvSpPr/>
            <p:nvPr/>
          </p:nvSpPr>
          <p:spPr>
            <a:xfrm flipH="false" flipV="false" rot="0">
              <a:off x="0" y="0"/>
              <a:ext cx="4590216" cy="915115"/>
            </a:xfrm>
            <a:custGeom>
              <a:avLst/>
              <a:gdLst/>
              <a:ahLst/>
              <a:cxnLst/>
              <a:rect r="r" b="b" t="t" l="l"/>
              <a:pathLst>
                <a:path h="915115" w="4590216">
                  <a:moveTo>
                    <a:pt x="0" y="0"/>
                  </a:moveTo>
                  <a:lnTo>
                    <a:pt x="4590216" y="0"/>
                  </a:lnTo>
                  <a:lnTo>
                    <a:pt x="4590216" y="915115"/>
                  </a:lnTo>
                  <a:lnTo>
                    <a:pt x="0" y="915115"/>
                  </a:lnTo>
                  <a:close/>
                </a:path>
              </a:pathLst>
            </a:custGeom>
            <a:blipFill>
              <a:blip r:embed="rId3">
                <a:alphaModFix amt="0"/>
              </a:blip>
              <a:stretch>
                <a:fillRect l="0" t="-47737" r="0" b="-47736"/>
              </a:stretch>
            </a:blipFill>
          </p:spPr>
        </p:sp>
        <p:sp>
          <p:nvSpPr>
            <p:cNvPr name="TextBox 45" id="45"/>
            <p:cNvSpPr txBox="true"/>
            <p:nvPr/>
          </p:nvSpPr>
          <p:spPr>
            <a:xfrm>
              <a:off x="0" y="-28575"/>
              <a:ext cx="4590212" cy="943686"/>
            </a:xfrm>
            <a:prstGeom prst="rect">
              <a:avLst/>
            </a:prstGeom>
          </p:spPr>
          <p:txBody>
            <a:bodyPr anchor="ctr" rtlCol="false" tIns="0" lIns="0" bIns="0" rIns="0"/>
            <a:lstStyle/>
            <a:p>
              <a:pPr algn="ctr">
                <a:lnSpc>
                  <a:spcPts val="2576"/>
                </a:lnSpc>
              </a:pPr>
              <a:r>
                <a:rPr lang="en-US" sz="1951" b="true">
                  <a:solidFill>
                    <a:srgbClr val="174A8B"/>
                  </a:solidFill>
                  <a:latin typeface="Inter Bold"/>
                  <a:ea typeface="Inter Bold"/>
                  <a:cs typeface="Inter Bold"/>
                  <a:sym typeface="Inter Bold"/>
                </a:rPr>
                <a:t>Red de video ajustada</a:t>
              </a:r>
            </a:p>
          </p:txBody>
        </p:sp>
      </p:grpSp>
      <p:grpSp>
        <p:nvGrpSpPr>
          <p:cNvPr name="Group 46" id="46"/>
          <p:cNvGrpSpPr/>
          <p:nvPr/>
        </p:nvGrpSpPr>
        <p:grpSpPr>
          <a:xfrm rot="0">
            <a:off x="13255992" y="2503877"/>
            <a:ext cx="3831232" cy="3912118"/>
            <a:chOff x="0" y="0"/>
            <a:chExt cx="5108310" cy="5216157"/>
          </a:xfrm>
        </p:grpSpPr>
        <p:sp>
          <p:nvSpPr>
            <p:cNvPr name="Freeform 47" id="47"/>
            <p:cNvSpPr/>
            <p:nvPr/>
          </p:nvSpPr>
          <p:spPr>
            <a:xfrm flipH="false" flipV="false" rot="0">
              <a:off x="0" y="0"/>
              <a:ext cx="5108323" cy="5216144"/>
            </a:xfrm>
            <a:custGeom>
              <a:avLst/>
              <a:gdLst/>
              <a:ahLst/>
              <a:cxnLst/>
              <a:rect r="r" b="b" t="t" l="l"/>
              <a:pathLst>
                <a:path h="5216144" w="5108323">
                  <a:moveTo>
                    <a:pt x="0" y="312928"/>
                  </a:moveTo>
                  <a:cubicBezTo>
                    <a:pt x="0" y="140081"/>
                    <a:pt x="100250" y="0"/>
                    <a:pt x="223950" y="0"/>
                  </a:cubicBezTo>
                  <a:lnTo>
                    <a:pt x="4884369" y="0"/>
                  </a:lnTo>
                  <a:cubicBezTo>
                    <a:pt x="5008069" y="0"/>
                    <a:pt x="5108323" y="140081"/>
                    <a:pt x="5108323" y="312928"/>
                  </a:cubicBezTo>
                  <a:lnTo>
                    <a:pt x="5108323" y="4903216"/>
                  </a:lnTo>
                  <a:cubicBezTo>
                    <a:pt x="5108323" y="5076063"/>
                    <a:pt x="5008069" y="5216144"/>
                    <a:pt x="4884369" y="5216144"/>
                  </a:cubicBezTo>
                  <a:lnTo>
                    <a:pt x="223950" y="5216144"/>
                  </a:lnTo>
                  <a:cubicBezTo>
                    <a:pt x="100250" y="5216144"/>
                    <a:pt x="0" y="5076063"/>
                    <a:pt x="0" y="4903216"/>
                  </a:cubicBezTo>
                  <a:close/>
                </a:path>
              </a:pathLst>
            </a:custGeom>
            <a:solidFill>
              <a:srgbClr val="F0EFEC"/>
            </a:solidFill>
          </p:spPr>
        </p:sp>
      </p:grpSp>
      <p:grpSp>
        <p:nvGrpSpPr>
          <p:cNvPr name="Group 48" id="48"/>
          <p:cNvGrpSpPr/>
          <p:nvPr/>
        </p:nvGrpSpPr>
        <p:grpSpPr>
          <a:xfrm rot="0">
            <a:off x="13255992" y="2847043"/>
            <a:ext cx="68767" cy="686333"/>
            <a:chOff x="0" y="0"/>
            <a:chExt cx="91689" cy="915111"/>
          </a:xfrm>
        </p:grpSpPr>
        <p:sp>
          <p:nvSpPr>
            <p:cNvPr name="Freeform 49" id="49"/>
            <p:cNvSpPr/>
            <p:nvPr/>
          </p:nvSpPr>
          <p:spPr>
            <a:xfrm flipH="false" flipV="false" rot="0">
              <a:off x="0" y="0"/>
              <a:ext cx="91714" cy="915162"/>
            </a:xfrm>
            <a:custGeom>
              <a:avLst/>
              <a:gdLst/>
              <a:ahLst/>
              <a:cxnLst/>
              <a:rect r="r" b="b" t="t" l="l"/>
              <a:pathLst>
                <a:path h="915162" w="91714">
                  <a:moveTo>
                    <a:pt x="0" y="0"/>
                  </a:moveTo>
                  <a:lnTo>
                    <a:pt x="91714" y="0"/>
                  </a:lnTo>
                  <a:lnTo>
                    <a:pt x="91714" y="915162"/>
                  </a:lnTo>
                  <a:lnTo>
                    <a:pt x="0" y="915162"/>
                  </a:lnTo>
                  <a:close/>
                </a:path>
              </a:pathLst>
            </a:custGeom>
            <a:solidFill>
              <a:srgbClr val="2A78D6"/>
            </a:solidFill>
          </p:spPr>
        </p:sp>
      </p:grpSp>
      <p:sp>
        <p:nvSpPr>
          <p:cNvPr name="TextBox 50" id="50"/>
          <p:cNvSpPr txBox="true"/>
          <p:nvPr/>
        </p:nvSpPr>
        <p:spPr>
          <a:xfrm rot="0">
            <a:off x="13550704" y="2958388"/>
            <a:ext cx="3340051" cy="435070"/>
          </a:xfrm>
          <a:prstGeom prst="rect">
            <a:avLst/>
          </a:prstGeom>
        </p:spPr>
        <p:txBody>
          <a:bodyPr anchor="t" rtlCol="false" tIns="0" lIns="0" bIns="0" rIns="0">
            <a:spAutoFit/>
          </a:bodyPr>
          <a:lstStyle/>
          <a:p>
            <a:pPr algn="l">
              <a:lnSpc>
                <a:spcPts val="3566"/>
              </a:lnSpc>
            </a:pPr>
            <a:r>
              <a:rPr lang="en-US" sz="2702" b="true">
                <a:solidFill>
                  <a:srgbClr val="1F1F1D"/>
                </a:solidFill>
                <a:latin typeface="Inter Bold"/>
                <a:ea typeface="Inter Bold"/>
                <a:cs typeface="Inter Bold"/>
                <a:sym typeface="Inter Bold"/>
              </a:rPr>
              <a:t>Aplicación</a:t>
            </a:r>
          </a:p>
        </p:txBody>
      </p:sp>
      <p:sp>
        <p:nvSpPr>
          <p:cNvPr name="TextBox 51" id="51"/>
          <p:cNvSpPr txBox="true"/>
          <p:nvPr/>
        </p:nvSpPr>
        <p:spPr>
          <a:xfrm rot="0">
            <a:off x="13550697" y="3760291"/>
            <a:ext cx="3340051" cy="1948775"/>
          </a:xfrm>
          <a:prstGeom prst="rect">
            <a:avLst/>
          </a:prstGeom>
        </p:spPr>
        <p:txBody>
          <a:bodyPr anchor="t" rtlCol="false" tIns="0" lIns="0" bIns="0" rIns="0">
            <a:spAutoFit/>
          </a:bodyPr>
          <a:lstStyle/>
          <a:p>
            <a:pPr algn="l">
              <a:lnSpc>
                <a:spcPts val="3107"/>
              </a:lnSpc>
            </a:pPr>
            <a:r>
              <a:rPr lang="en-US" sz="2251">
                <a:solidFill>
                  <a:srgbClr val="6B6A66"/>
                </a:solidFill>
                <a:latin typeface="Inter"/>
                <a:ea typeface="Inter"/>
                <a:cs typeface="Inter"/>
                <a:sym typeface="Inter"/>
              </a:rPr>
              <a:t>La app en Streamlit clasifica video nuevo con el mismo preprocesamiento que el entrenamiento.</a:t>
            </a:r>
          </a:p>
        </p:txBody>
      </p:sp>
      <p:grpSp>
        <p:nvGrpSpPr>
          <p:cNvPr name="Group 52" id="52"/>
          <p:cNvGrpSpPr/>
          <p:nvPr/>
        </p:nvGrpSpPr>
        <p:grpSpPr>
          <a:xfrm rot="0">
            <a:off x="1169324" y="6503350"/>
            <a:ext cx="15917901" cy="505487"/>
            <a:chOff x="0" y="0"/>
            <a:chExt cx="17211395" cy="546563"/>
          </a:xfrm>
        </p:grpSpPr>
        <p:sp>
          <p:nvSpPr>
            <p:cNvPr name="Freeform 53" id="53"/>
            <p:cNvSpPr/>
            <p:nvPr/>
          </p:nvSpPr>
          <p:spPr>
            <a:xfrm flipH="false" flipV="false" rot="0">
              <a:off x="0" y="0"/>
              <a:ext cx="17211397" cy="546560"/>
            </a:xfrm>
            <a:custGeom>
              <a:avLst/>
              <a:gdLst/>
              <a:ahLst/>
              <a:cxnLst/>
              <a:rect r="r" b="b" t="t" l="l"/>
              <a:pathLst>
                <a:path h="546560" w="17211397">
                  <a:moveTo>
                    <a:pt x="0" y="0"/>
                  </a:moveTo>
                  <a:lnTo>
                    <a:pt x="17211397" y="0"/>
                  </a:lnTo>
                  <a:lnTo>
                    <a:pt x="17211397" y="546560"/>
                  </a:lnTo>
                  <a:lnTo>
                    <a:pt x="0" y="546560"/>
                  </a:lnTo>
                  <a:close/>
                </a:path>
              </a:pathLst>
            </a:custGeom>
            <a:blipFill>
              <a:blip r:embed="rId3">
                <a:alphaModFix amt="0"/>
              </a:blip>
              <a:stretch>
                <a:fillRect l="0" t="-231322" r="50021" b="-282011"/>
              </a:stretch>
            </a:blipFill>
          </p:spPr>
        </p:sp>
        <p:sp>
          <p:nvSpPr>
            <p:cNvPr name="TextBox 54" id="54"/>
            <p:cNvSpPr txBox="true"/>
            <p:nvPr/>
          </p:nvSpPr>
          <p:spPr>
            <a:xfrm>
              <a:off x="0" y="-28575"/>
              <a:ext cx="17211395" cy="575138"/>
            </a:xfrm>
            <a:prstGeom prst="rect">
              <a:avLst/>
            </a:prstGeom>
          </p:spPr>
          <p:txBody>
            <a:bodyPr anchor="ctr" rtlCol="false" tIns="0" lIns="0" bIns="0" rIns="0"/>
            <a:lstStyle/>
            <a:p>
              <a:pPr algn="ctr">
                <a:lnSpc>
                  <a:spcPts val="2576"/>
                </a:lnSpc>
              </a:pPr>
              <a:r>
                <a:rPr lang="en-US" sz="1951">
                  <a:solidFill>
                    <a:srgbClr val="6B6A66"/>
                  </a:solidFill>
                  <a:latin typeface="Inter"/>
                  <a:ea typeface="Inter"/>
                  <a:cs typeface="Inter"/>
                  <a:sym typeface="Inter"/>
                </a:rPr>
                <a:t>Lo que nos limito fueron los clips que terminan justo en el evento, el balón casi no se detecta y solo hubieron 7 partidos.</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CFCFB"/>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ortada.jp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0471" t="0" r="-10472"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D1B2E">
                <a:alpha val="63922"/>
              </a:srgbClr>
            </a:solidFill>
          </p:spPr>
        </p:sp>
      </p:grpSp>
      <p:sp>
        <p:nvSpPr>
          <p:cNvPr name="TextBox 6" id="6"/>
          <p:cNvSpPr txBox="true"/>
          <p:nvPr/>
        </p:nvSpPr>
        <p:spPr>
          <a:xfrm rot="0">
            <a:off x="0" y="3473701"/>
            <a:ext cx="18301840" cy="1742456"/>
          </a:xfrm>
          <a:prstGeom prst="rect">
            <a:avLst/>
          </a:prstGeom>
        </p:spPr>
        <p:txBody>
          <a:bodyPr anchor="t" rtlCol="false" tIns="0" lIns="0" bIns="0" rIns="0">
            <a:spAutoFit/>
          </a:bodyPr>
          <a:lstStyle/>
          <a:p>
            <a:pPr algn="ctr">
              <a:lnSpc>
                <a:spcPts val="11889"/>
              </a:lnSpc>
            </a:pPr>
            <a:r>
              <a:rPr lang="en-US" sz="9007" b="true">
                <a:solidFill>
                  <a:srgbClr val="FFFFFF"/>
                </a:solidFill>
                <a:latin typeface="Inter Bold"/>
                <a:ea typeface="Inter Bold"/>
                <a:cs typeface="Inter Bold"/>
                <a:sym typeface="Inter Bold"/>
              </a:rPr>
              <a:t>¿Preguntas?</a:t>
            </a:r>
          </a:p>
        </p:txBody>
      </p:sp>
      <p:sp>
        <p:nvSpPr>
          <p:cNvPr name="TextBox 7" id="7"/>
          <p:cNvSpPr txBox="true"/>
          <p:nvPr/>
        </p:nvSpPr>
        <p:spPr>
          <a:xfrm rot="0">
            <a:off x="0" y="5324846"/>
            <a:ext cx="18301840" cy="435070"/>
          </a:xfrm>
          <a:prstGeom prst="rect">
            <a:avLst/>
          </a:prstGeom>
        </p:spPr>
        <p:txBody>
          <a:bodyPr anchor="t" rtlCol="false" tIns="0" lIns="0" bIns="0" rIns="0">
            <a:spAutoFit/>
          </a:bodyPr>
          <a:lstStyle/>
          <a:p>
            <a:pPr algn="ctr">
              <a:lnSpc>
                <a:spcPts val="3566"/>
              </a:lnSpc>
            </a:pPr>
            <a:r>
              <a:rPr lang="en-US" sz="2702">
                <a:solidFill>
                  <a:srgbClr val="9EC5F4"/>
                </a:solidFill>
                <a:latin typeface="Inter"/>
                <a:ea typeface="Inter"/>
                <a:cs typeface="Inter"/>
                <a:sym typeface="Inter"/>
              </a:rPr>
              <a:t>github.com/nicoCT04/Proyecto2-DataScience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DAHYZi7KeHc</dc:identifier>
  <dcterms:modified xsi:type="dcterms:W3CDTF">2011-08-01T06:04:30Z</dcterms:modified>
  <cp:revision>1</cp:revision>
  <dc:title>Presentacion_Proyecto2_Resultados.pptx</dc:title>
</cp:coreProperties>
</file>